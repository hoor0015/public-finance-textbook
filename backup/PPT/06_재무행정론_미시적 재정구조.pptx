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89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9" r:id="rId15"/>
    <p:sldId id="330" r:id="rId16"/>
    <p:sldId id="331" r:id="rId17"/>
    <p:sldId id="332" r:id="rId18"/>
    <p:sldId id="334" r:id="rId19"/>
    <p:sldId id="335" r:id="rId20"/>
    <p:sldId id="258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penfiscaldata.go.kr/op/ko/sd/UOPKOSDA0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분류와 과목 체계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미시적 재정구조는 예산의 세부 내용에 해당하는 것으로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올해 사회복지에 배정된 예산액이 얼마인지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중 노인복지 예산이 얼마인지가 적혀 있는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예산서의 구조를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  <a:hlinkClick r:id="rId2"/>
              </a:rPr>
              <a:t>https://www.openfiscaldata.go.kr/op/ko/sd/UOPKOSDA01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총액은 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 모두 단일금액으로 표시되지만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내용은 용도에 따라서 다양하게 표현됨 → 따라서 예산의 분류는 필요한 예산 정보를 창출하는 것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분류체계가 갖춰야 할 원칙은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포괄성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모든 정부기관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단일성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내적 일관성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동일 기준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원칙이 제시되고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(Jacobs et al., 2009)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6DCE-5B17-7692-E487-9F487B33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67C3D3-C46B-B29E-8376-E1F5EBC855D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7663417-A08D-B401-120A-585BAFE5FE37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97CD0-A136-79D7-2015-833F5A8485A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552B17-8736-D051-C413-FDFBDC634333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분류와 과목 체계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6E2CAA-2936-3DCA-A3DD-445D445976A9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예산분류의 목적은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재정정책 사업계획의 수립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3)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4)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국민이 정부의 활동을 이해하기 위함 등임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분류가 중요한 것은 예산 운영의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목표에 영향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미치기 때문임 → 예를 들어 품목별 분류는 정부의 물품 구입에 초점을 맞추게 하기 때문에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서비스 수준에 관한 정책 이슈와 무관한 방식으로 지출유형을 변경하도록 만드는 영향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분류 방식은 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세출이 다르고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시대에 따라서도 다른 특징이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B51FF19-B52E-D5EC-C0C9-DBF96688B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664D4A2-92FB-5120-1827-B238ADECA551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03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F998-56BC-4964-CC12-670174490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A11C5C6-90F5-6099-65E5-FDF49C9335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1813AA-04C0-A509-6DEF-54A1D543F00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0C346B-53A3-C5DB-C015-E82EE3B3203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7A97C2-5BFA-1EBE-F4E9-50F7EFCF6CAD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분류와 과목 체계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799DF5C-8AF9-F6B8-2F65-3F10D9A7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FA05886-A763-4859-7F4E-2382F91FE7A9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5B105BC-ADFA-1575-1BAE-3B85AF0B6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92709"/>
              </p:ext>
            </p:extLst>
          </p:nvPr>
        </p:nvGraphicFramePr>
        <p:xfrm>
          <a:off x="1494630" y="1632202"/>
          <a:ext cx="9017252" cy="26380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362145">
                  <a:extLst>
                    <a:ext uri="{9D8B030D-6E8A-4147-A177-3AD203B41FA5}">
                      <a16:colId xmlns:a16="http://schemas.microsoft.com/office/drawing/2014/main" val="1323796718"/>
                    </a:ext>
                  </a:extLst>
                </a:gridCol>
                <a:gridCol w="6655107">
                  <a:extLst>
                    <a:ext uri="{9D8B030D-6E8A-4147-A177-3AD203B41FA5}">
                      <a16:colId xmlns:a16="http://schemas.microsoft.com/office/drawing/2014/main" val="2152525454"/>
                    </a:ext>
                  </a:extLst>
                </a:gridCol>
              </a:tblGrid>
              <a:tr h="4343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세출</a:t>
                      </a:r>
                      <a:r>
                        <a:rPr lang="en-US" altLang="ko-KR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 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분류 방식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초 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558505053"/>
                  </a:ext>
                </a:extLst>
              </a:tr>
              <a:tr h="43433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기능별 분류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정부가 무슨 일을 하는 데 얼마를 쓰느냐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536381671"/>
                  </a:ext>
                </a:extLst>
              </a:tr>
              <a:tr h="43433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사업별 분류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정부가 구체적인 사업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프로그램 구조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에 얼마를 쓰느냐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901978852"/>
                  </a:ext>
                </a:extLst>
              </a:tr>
              <a:tr h="43433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조직별 분류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누가 얼마를 쓰느냐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139541786"/>
                  </a:ext>
                </a:extLst>
              </a:tr>
              <a:tr h="43433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품목별 분류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정부가 무엇을 구입하는 데 얼마를 쓰느냐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136014051"/>
                  </a:ext>
                </a:extLst>
              </a:tr>
              <a:tr h="434330"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경제 </a:t>
                      </a:r>
                      <a:r>
                        <a:rPr lang="ko-KR" altLang="en-US" sz="2000" b="1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성질별</a:t>
                      </a: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분류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국민 경제에 미치는 총체적인 효과가 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어떠한가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4301960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8C5696-D08B-E2CE-04BB-19CB6ABAC4BD}"/>
              </a:ext>
            </a:extLst>
          </p:cNvPr>
          <p:cNvSpPr txBox="1"/>
          <p:nvPr/>
        </p:nvSpPr>
        <p:spPr>
          <a:xfrm>
            <a:off x="1080000" y="4391823"/>
            <a:ext cx="9856067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예산정보 차원에서는 품목별 예산제도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성과주의 예산제도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계획 예산제도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영기준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예산제도 등으로 분류할 수 있음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목적 차원에서는 조세지출 예산제도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완전고용 예산제도</a:t>
            </a:r>
            <a:r>
              <a:rPr lang="en-US" altLang="ko-KR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0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성인지 예산제도 등으로 분류</a:t>
            </a:r>
            <a:endParaRPr lang="en-US" altLang="ko-KR" sz="20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836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221A9-E2A4-76B6-7F1F-96E17013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A3F279E-8759-36A0-4D53-B3354B4F649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3E7A9F-DC55-6128-3696-A64D640337A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A9205F-52D1-4320-B16C-EF4D0829C849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710AD2-5187-8B7F-4CE1-EA142133565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분류와 과목 체계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169298-ED30-E7EA-AE68-B4F545F717D8}"/>
              </a:ext>
            </a:extLst>
          </p:cNvPr>
          <p:cNvSpPr txBox="1"/>
          <p:nvPr/>
        </p:nvSpPr>
        <p:spPr>
          <a:xfrm>
            <a:off x="1080000" y="1671816"/>
            <a:ext cx="10408848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 과목은 예산의 내용을 명백히 하기 위해 일정한 기준에 따라 구분해 놓은 것 → 현재 우리나라는 소관별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사업별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품목별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성질별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분류에 따라 부호체계를 가지고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예산과목은 세입예산과목과 세출예산과목으로 구성되어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세입은 성질별로 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구분하고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세출예산은 기능별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성질별 또는 기관별로 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항으로 구분한다고 규정하고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AD218FE-32A7-F01C-3A2F-1E4F91C7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4FB77B9-43AF-8249-15D6-EB2A9DC5AD5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755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6BD51-7E2A-188E-8E41-12CAAAF5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5B7D385-0F98-EC49-C88E-FF25BECF427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397A0D-9803-0CCE-08A9-2452E0AE9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647E6E-2D64-5EB7-9946-5927653809E2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A4B054-F8CA-D399-4FC0-59A3CF1346D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세입예산과목의 분류체계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F4BBC0-F949-C867-C31E-5A0E3BE24611}"/>
              </a:ext>
            </a:extLst>
          </p:cNvPr>
          <p:cNvSpPr txBox="1"/>
          <p:nvPr/>
        </p:nvSpPr>
        <p:spPr>
          <a:xfrm>
            <a:off x="1235998" y="1464873"/>
            <a:ext cx="4831913" cy="453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세입예산과목은 중앙관서의 소관별로 구분한 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소관 내에서 일반회계와 특별회계로 구분한 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 내용을 성질별로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기재부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지방자치단체의 세입예산은 그 내용의 성질과 기능을 고려하여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장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행안부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CA42C26-A96C-8E72-6BDC-2D6020DD2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C58EADC-7EAF-5F7D-E5A0-D25CBA14BCD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43B2A643-DD98-D31F-B2D7-ABA722411C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53" t="13729" r="14687" b="52871"/>
          <a:stretch>
            <a:fillRect/>
          </a:stretch>
        </p:blipFill>
        <p:spPr>
          <a:xfrm>
            <a:off x="6067911" y="841578"/>
            <a:ext cx="6101226" cy="507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07467-B802-4A79-D78C-BABB3895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BA62A35-291A-5ADD-A52B-EA70BBCDCC6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A5ABEB-CC17-DEBB-6B51-9FBEC36F314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582C9-C3A5-E36C-C18E-7CCF475A3FC2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CFC630-75A7-CD4C-DF53-F532A14C850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세출예산과목의 분류체계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088019-06E6-760A-FBD9-3BAB2C014AB5}"/>
              </a:ext>
            </a:extLst>
          </p:cNvPr>
          <p:cNvSpPr txBox="1"/>
          <p:nvPr/>
        </p:nvSpPr>
        <p:spPr>
          <a:xfrm>
            <a:off x="1235998" y="1464873"/>
            <a:ext cx="9555733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세출예산과목은 중앙관서의 소관별로 구분한 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소관 내에서 일반회계와 특별회계로 구분한 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성질별 또는 기관별로 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항으로 구분함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기획재정부 장관은 세출예산 및 계속비의 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세세항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목을 구분하여 운용하는데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이때 입법과목인 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항의 변경이나 신설은 원칙적으로 추가경정예산을 통해 해야함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행정과목인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세세항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목은 일정한 요건 하에 행정부 재량에 의해 운용됨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상 전용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예비비 지출결정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이월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F0028C5-40F7-5FCB-93E2-B83A5557C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C19AF9-4FDB-D7C7-E157-8D04FDA16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91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FFA45-F770-1855-230F-1915EFB62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963C0C0-9C02-082D-EAA4-57D9E6853F1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9AC223-AC62-9E85-AD31-4D0C5EE23E0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BDE0E3-859A-F1E7-7401-65250F6EADF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4FB1B3-586C-5F82-7C5F-862A2524346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세출예산과목의 분류체계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270410-9FCE-8A9B-9151-03B152D0F0D5}"/>
              </a:ext>
            </a:extLst>
          </p:cNvPr>
          <p:cNvSpPr txBox="1"/>
          <p:nvPr/>
        </p:nvSpPr>
        <p:spPr>
          <a:xfrm>
            <a:off x="1235998" y="1716223"/>
            <a:ext cx="9555733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과목 구분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지방자치단체의 세출예산은 그 내용의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기능별ㆍ사업별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또는 성질별로 주요항목 및 세부항목으로 구분한다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경우 주요항목은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분야ㆍ부문ㆍ정책사업으로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구분하고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세부항목은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단위사업ㆍ세부사업ㆍ목으로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구분한다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 및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항에 따른 각 과목의 구분과 설정 등 지방자치단체의 예산 과목 운용에 필요한 사항은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대통령령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정한다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102FD43-BB7A-3D82-1EEC-F855C56B3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7945B80-BE46-8530-59FF-71577F09D64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98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BC49C-0914-4D37-F318-5D7B48310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7E5D94-9023-F222-5283-7EE9D6024BA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D0EF66-E3AF-7F47-8256-C013E1902F5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950E34-95A5-66C6-0613-4804FB3FDFA7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C8701D-0AF2-E836-1590-680233EDCC3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세출예산과목의 분류체계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5CB5C6-D95B-1E81-04E9-A1092958F059}"/>
              </a:ext>
            </a:extLst>
          </p:cNvPr>
          <p:cNvSpPr txBox="1"/>
          <p:nvPr/>
        </p:nvSpPr>
        <p:spPr>
          <a:xfrm>
            <a:off x="1235998" y="1716223"/>
            <a:ext cx="9555733" cy="287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지방재정법 시행령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과목구분 및 설정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세출예산의 과목은 그 기능을 고려하여 일반공공행정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공공질서 및 안전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교육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문화 및 관광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환경보호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사회복지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농림해양수산 등으로 구분한다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③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세입예산 및 세출예산의 과목구분과 설정에 관한 세부사항은 행정안전부장관이 정한다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54CF81-01A5-2119-5A5F-608D04D39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4B2970B-6325-0411-0262-05AE99AE27E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17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386F1-59AE-92C5-5659-F2C2937D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15C4E80-18AC-724F-1443-2288F3FE0C2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2DD18-4412-D09B-F88F-F68B01C7335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6DE03B-0132-FDCD-7694-F78059C24931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A12003-61EC-027B-2522-099E0EE48ED0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세출예산과목의 분류체계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65F1FF-5979-694B-BF22-846298A5F4E3}"/>
              </a:ext>
            </a:extLst>
          </p:cNvPr>
          <p:cNvSpPr txBox="1"/>
          <p:nvPr/>
        </p:nvSpPr>
        <p:spPr>
          <a:xfrm>
            <a:off x="1235998" y="1716223"/>
            <a:ext cx="9555733" cy="342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지방자치단체 예산편성 운영기준 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 과목구분과 설정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분야ㆍ부문은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기능별로 별표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같이 세부적으로 분류하고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정책ㆍ단위ㆍ세부사업은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지방자치단체가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분야ㆍ부문의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기능에 맞게 별표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같이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설정ㆍ운영한다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세출예산의 성질별 분류는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목그룹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편성목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통계목으로 분류하며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세부분류 내용은 별표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 같다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BE9BB21-228F-D357-CD32-1CD750B6E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1CE09D4-5C44-096F-1DF3-F15E7AB85A3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96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269F4-C2D4-1370-4E81-70A39D8F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B9B862D-6C74-5092-0A55-5B7BEEE2E705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4CF9D83-B58A-C18C-D6AD-42949955B0A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A3B25-9F64-B9E7-BFD5-5929A27945D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5BC02C-049D-FEAB-90C3-2F00EA56310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세출예산과목의 분류체계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3C2D941-A3E6-7B7B-FBD2-7BE68299C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BB4312E5-F64F-A7A6-5241-60DAC0FEDE1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EBAB22E8-B333-B0F8-14A6-30DE2C2BD9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491" t="24537" r="17278" b="50060"/>
          <a:stretch>
            <a:fillRect/>
          </a:stretch>
        </p:blipFill>
        <p:spPr>
          <a:xfrm>
            <a:off x="923376" y="1841354"/>
            <a:ext cx="4550867" cy="30384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8D82BF-DBD6-1B22-4C0F-9FD3A7F8C2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590" t="35643" r="19283" b="42838"/>
          <a:stretch>
            <a:fillRect/>
          </a:stretch>
        </p:blipFill>
        <p:spPr>
          <a:xfrm>
            <a:off x="5474243" y="1523674"/>
            <a:ext cx="6324724" cy="387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4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420C6-9083-3ADD-C26F-A781D582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3742818-3E44-F3EB-FED1-3C8045B3996B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3341C8-63B8-6EBC-6887-638AB043C93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743687-5D93-7FEC-5323-8A86264CD6DD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C906BC-833C-5FD4-D25A-53F35DFFBCB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13EE5A6-2919-63C0-2769-7913E2F3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530BB8B-3E94-D810-44D2-E736687B7FA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CC7F2D8-9C0E-9E15-7C1F-51A631BB46DC}"/>
              </a:ext>
            </a:extLst>
          </p:cNvPr>
          <p:cNvSpPr txBox="1"/>
          <p:nvPr/>
        </p:nvSpPr>
        <p:spPr>
          <a:xfrm>
            <a:off x="1235998" y="1716223"/>
            <a:ext cx="9555733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예산제도는 중앙정부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2008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년부터 공식적으로 도입됨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양자를 구분하기 위해 지방정부는 사업예산제도라고 불림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예산제도는 프로그램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중심으로 예산을 편성하는 제도임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이란 동일한 정책을 수행하는 단위사업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(project)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묶음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기본 구조는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구조를 가짐 → 사업 중심의 성과 지향적 예산편성 및 운용이 가능해짐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1710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55730-02EE-AA6D-3B80-DF31FDB2A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74DC5BB-4D4C-A16C-1926-784C2A67A7B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030ED1D-FA97-80BA-BF3B-FA3D2A27010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3DAD2C-170E-E5C8-092D-427B7829CD7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9F90E6-A317-D197-8D26-D5B0FC2D54CF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4BEFD80-7D3D-F0D7-0ED4-9AB12F03D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C62A6A6-618F-D3D6-E7AC-A22175F415F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BEE1C1-C376-F783-6E14-75A898E83BAA}"/>
              </a:ext>
            </a:extLst>
          </p:cNvPr>
          <p:cNvSpPr txBox="1"/>
          <p:nvPr/>
        </p:nvSpPr>
        <p:spPr>
          <a:xfrm>
            <a:off x="1235999" y="1716222"/>
            <a:ext cx="5065214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조직별 임무에 근거하여 전략목표 및 성과목표를 수립한 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달성하기 위한 수단으로서 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 및 세부사업을 설정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조직별 임무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전략목표 및 성과목표는 목적을 의미하며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단위사업과 세부사업은 이를 실현하기 위한 수단임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B59C1F-4E0D-6BCC-F274-C925151833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199" t="47261" r="20431" b="30825"/>
          <a:stretch>
            <a:fillRect/>
          </a:stretch>
        </p:blipFill>
        <p:spPr>
          <a:xfrm>
            <a:off x="6480000" y="1903923"/>
            <a:ext cx="5149156" cy="336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08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E406A-2252-FD43-30B4-8B0A650DD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69EC6DB-DC9E-E517-088B-FC982F0AA1F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2A21AC-552D-58E0-0A2E-7D800CD00A9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39E50F-ECA7-1946-4F66-530A444AD6E1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FE7DA-CACA-5DBC-B3D6-6D164F9EF37E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079CB9-4AAD-426D-7198-4C149AA16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233EEDF-D4D0-D5BF-BC8C-1B28C9E342C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6766B5F0-AC64-7589-EDEE-C54D6E06F8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41" t="60594" r="20202" b="26205"/>
          <a:stretch>
            <a:fillRect/>
          </a:stretch>
        </p:blipFill>
        <p:spPr>
          <a:xfrm>
            <a:off x="1432833" y="1921444"/>
            <a:ext cx="9326333" cy="349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0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0BE3-5F38-2425-D701-F3EBAF0AF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A120D4D-42FB-0F3B-ABC0-17CE7A56014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927AF0-AE34-F0D7-FF1E-31DD5E67319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5F341-1F41-498B-A870-7C8689FA6DD9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19BADE-EABC-725A-8502-7CEEB6237B74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4D92017-38D7-63FA-2A8B-D8BA339F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AC3BE5-57FB-B83A-5D63-2D75A1E64F9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10ABCA3D-A327-D27B-01AC-CFEDB6AA55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989" t="24028" r="19405" b="44964"/>
          <a:stretch>
            <a:fillRect/>
          </a:stretch>
        </p:blipFill>
        <p:spPr>
          <a:xfrm>
            <a:off x="6759387" y="1382190"/>
            <a:ext cx="4829175" cy="43730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3D022C-5657-49B1-F210-04F0E17EBE9F}"/>
              </a:ext>
            </a:extLst>
          </p:cNvPr>
          <p:cNvSpPr txBox="1"/>
          <p:nvPr/>
        </p:nvSpPr>
        <p:spPr>
          <a:xfrm>
            <a:off x="1349111" y="1628614"/>
            <a:ext cx="5065214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자치단체 전체 재정을 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행정운영경비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재무활동으로 구분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통상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개의 정책사업에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4∼5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개의 단위사업으로 구성되도록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개를 넘지 않도록 유의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개의 단위사업에 속하는 세부사업 수를 고려하여 설정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행정운영경비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재무활동은 별도로 작성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3676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1B06-EBBA-7D07-D680-C4B9C424D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85E1FA7-6FE9-A648-07FD-BF01B69D5DE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1DF53E-9A28-4D85-0A41-161F3546BCB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3D91E8-1856-EEE4-6A01-FFAE3A7B6F25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D2AD2-74C9-3D81-1BA6-7304201369A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3DA601C-F71A-90B2-3332-558A40341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D22C154-15C3-D5DF-D7F7-523E8B8DCA7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EA543A-90D7-D866-5E24-93232E823669}"/>
              </a:ext>
            </a:extLst>
          </p:cNvPr>
          <p:cNvSpPr txBox="1"/>
          <p:nvPr/>
        </p:nvSpPr>
        <p:spPr>
          <a:xfrm>
            <a:off x="1412485" y="4011736"/>
            <a:ext cx="9777598" cy="1486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예산제도에서 예산과목 체계는 기능별 분류인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분야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구조인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세부사업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’, 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품목별 분류인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편성비목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통계비목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연계되어 있는 구조임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673F49E-8D32-574E-C6B1-05A31D030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687026"/>
              </p:ext>
            </p:extLst>
          </p:nvPr>
        </p:nvGraphicFramePr>
        <p:xfrm>
          <a:off x="1639180" y="1811175"/>
          <a:ext cx="8913639" cy="20646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3377">
                  <a:extLst>
                    <a:ext uri="{9D8B030D-6E8A-4147-A177-3AD203B41FA5}">
                      <a16:colId xmlns:a16="http://schemas.microsoft.com/office/drawing/2014/main" val="499049287"/>
                    </a:ext>
                  </a:extLst>
                </a:gridCol>
                <a:gridCol w="1273377">
                  <a:extLst>
                    <a:ext uri="{9D8B030D-6E8A-4147-A177-3AD203B41FA5}">
                      <a16:colId xmlns:a16="http://schemas.microsoft.com/office/drawing/2014/main" val="1591938427"/>
                    </a:ext>
                  </a:extLst>
                </a:gridCol>
                <a:gridCol w="1273377">
                  <a:extLst>
                    <a:ext uri="{9D8B030D-6E8A-4147-A177-3AD203B41FA5}">
                      <a16:colId xmlns:a16="http://schemas.microsoft.com/office/drawing/2014/main" val="3360418601"/>
                    </a:ext>
                  </a:extLst>
                </a:gridCol>
                <a:gridCol w="1273377">
                  <a:extLst>
                    <a:ext uri="{9D8B030D-6E8A-4147-A177-3AD203B41FA5}">
                      <a16:colId xmlns:a16="http://schemas.microsoft.com/office/drawing/2014/main" val="2144173243"/>
                    </a:ext>
                  </a:extLst>
                </a:gridCol>
                <a:gridCol w="1273377">
                  <a:extLst>
                    <a:ext uri="{9D8B030D-6E8A-4147-A177-3AD203B41FA5}">
                      <a16:colId xmlns:a16="http://schemas.microsoft.com/office/drawing/2014/main" val="2036874240"/>
                    </a:ext>
                  </a:extLst>
                </a:gridCol>
                <a:gridCol w="1273377">
                  <a:extLst>
                    <a:ext uri="{9D8B030D-6E8A-4147-A177-3AD203B41FA5}">
                      <a16:colId xmlns:a16="http://schemas.microsoft.com/office/drawing/2014/main" val="1100311255"/>
                    </a:ext>
                  </a:extLst>
                </a:gridCol>
                <a:gridCol w="1273377">
                  <a:extLst>
                    <a:ext uri="{9D8B030D-6E8A-4147-A177-3AD203B41FA5}">
                      <a16:colId xmlns:a16="http://schemas.microsoft.com/office/drawing/2014/main" val="3944059760"/>
                    </a:ext>
                  </a:extLst>
                </a:gridCol>
              </a:tblGrid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세항</a:t>
                      </a:r>
                      <a:endParaRPr lang="ko-KR" altLang="en-US" sz="24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세세항</a:t>
                      </a:r>
                      <a:endParaRPr lang="ko-KR" altLang="en-US" sz="24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682093"/>
                  </a:ext>
                </a:extLst>
              </a:tr>
              <a:tr h="6882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분야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부문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정책사업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단위사업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세부사업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편성비목</a:t>
                      </a:r>
                      <a:endParaRPr lang="ko-KR" altLang="en-US" sz="24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통계비목</a:t>
                      </a:r>
                      <a:endParaRPr lang="ko-KR" altLang="en-US" sz="2400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117705"/>
                  </a:ext>
                </a:extLst>
              </a:tr>
              <a:tr h="6882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기능별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프로그램별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2400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품목별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7211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7898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D3002-1A8B-B075-7649-2B01898D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4509FC-D1FD-FA1C-F4DB-8168170645D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AEE65E-8DB0-A11B-C1A0-7C143224C511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FF34B-573F-EDAC-9323-86F487CCD6EA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1B8455-5397-496F-6668-F4BADE389E1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프로그램 예산제도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2E7BEE-1BC7-EF75-9513-749F8630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448C116-1869-B0DE-D30A-C3507D232BE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728ADB-4C3F-9EF1-3C51-335C14A01DB3}"/>
              </a:ext>
            </a:extLst>
          </p:cNvPr>
          <p:cNvSpPr txBox="1"/>
          <p:nvPr/>
        </p:nvSpPr>
        <p:spPr>
          <a:xfrm>
            <a:off x="1235998" y="1716223"/>
            <a:ext cx="9926925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프로그램 예산은 성과관리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발생주의회계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중기재정계획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총액배분 자율편성 등 제도와 연결되어 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제도의 중심점 또는 허브로서 역할을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예산운영의 규범 측면에서 자율성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투명성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성과지향성 등의 실현에 중심적인 역할을 수행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예산의  심의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결산 등 전 과정에서도 중심적인 역할을 수행하며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구조와도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밀접한 연관을 가지고 있음 → 기초 지자체에서는 정책사업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단위사업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사실상 운영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6022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F585-D6E5-9E2E-0C49-93BD7CF3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536F47E-E8C4-E04D-D21B-01566434977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3B3EED-2FD3-901E-1882-4A699B1C62FA}"/>
              </a:ext>
            </a:extLst>
          </p:cNvPr>
          <p:cNvSpPr/>
          <p:nvPr/>
        </p:nvSpPr>
        <p:spPr>
          <a:xfrm>
            <a:off x="435954" y="119218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4CCD67-51C5-87FE-11DC-5BC0AEAAB04A}"/>
              </a:ext>
            </a:extLst>
          </p:cNvPr>
          <p:cNvSpPr txBox="1"/>
          <p:nvPr/>
        </p:nvSpPr>
        <p:spPr>
          <a:xfrm>
            <a:off x="435952" y="122043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17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DF3F5E-EC19-5C02-21E0-F806DD58676B}"/>
              </a:ext>
            </a:extLst>
          </p:cNvPr>
          <p:cNvSpPr txBox="1"/>
          <p:nvPr/>
        </p:nvSpPr>
        <p:spPr>
          <a:xfrm>
            <a:off x="1080000" y="132972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사업예산구조의 예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AA47483-11E2-A584-B6CF-B50C90C88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F6B0571-69D0-473F-D63B-279456BFF74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E31C157-4964-F5E9-30A1-895CAB064524}"/>
              </a:ext>
            </a:extLst>
          </p:cNvPr>
          <p:cNvSpPr txBox="1"/>
          <p:nvPr/>
        </p:nvSpPr>
        <p:spPr>
          <a:xfrm>
            <a:off x="116140" y="2852507"/>
            <a:ext cx="2239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2023</a:t>
            </a:r>
            <a:r>
              <a:rPr lang="ko-KR" altLang="en-US" dirty="0"/>
              <a:t>년 예산 </a:t>
            </a:r>
            <a:r>
              <a:rPr lang="en-US" altLang="ko-KR" dirty="0"/>
              <a:t>399</a:t>
            </a:r>
            <a:r>
              <a:rPr lang="ko-KR" altLang="en-US" dirty="0"/>
              <a:t>억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인구 </a:t>
            </a:r>
            <a:r>
              <a:rPr lang="en-US" altLang="ko-KR" dirty="0"/>
              <a:t>23</a:t>
            </a:r>
            <a:r>
              <a:rPr lang="ko-KR" altLang="en-US" dirty="0"/>
              <a:t>만</a:t>
            </a:r>
            <a:r>
              <a:rPr lang="en-US" altLang="ko-KR" dirty="0"/>
              <a:t>, 55t/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/>
              <a:t>팀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직원 </a:t>
            </a:r>
            <a:r>
              <a:rPr lang="en-US" altLang="ko-KR" dirty="0"/>
              <a:t>128</a:t>
            </a:r>
            <a:r>
              <a:rPr lang="ko-KR" altLang="en-US" dirty="0"/>
              <a:t>명 </a:t>
            </a:r>
            <a:endParaRPr lang="en-US" altLang="ko-KR" dirty="0"/>
          </a:p>
          <a:p>
            <a:r>
              <a:rPr lang="ko-KR" altLang="en-US" dirty="0"/>
              <a:t>복잡성은 </a:t>
            </a:r>
            <a:r>
              <a:rPr lang="en-US" altLang="ko-KR" dirty="0"/>
              <a:t>2.04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A6BA2-40DA-4E68-9C9E-C2CF8B12DBEB}"/>
              </a:ext>
            </a:extLst>
          </p:cNvPr>
          <p:cNvSpPr txBox="1"/>
          <p:nvPr/>
        </p:nvSpPr>
        <p:spPr>
          <a:xfrm>
            <a:off x="9809908" y="2787164"/>
            <a:ext cx="2239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2023</a:t>
            </a:r>
            <a:r>
              <a:rPr lang="ko-KR" altLang="en-US" dirty="0"/>
              <a:t>년 예산 </a:t>
            </a:r>
            <a:r>
              <a:rPr lang="en-US" altLang="ko-KR" dirty="0"/>
              <a:t>673</a:t>
            </a:r>
            <a:r>
              <a:rPr lang="ko-KR" altLang="en-US" dirty="0"/>
              <a:t>억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인구 </a:t>
            </a:r>
            <a:r>
              <a:rPr lang="en-US" altLang="ko-KR" dirty="0"/>
              <a:t>48</a:t>
            </a:r>
            <a:r>
              <a:rPr lang="ko-KR" altLang="en-US" dirty="0"/>
              <a:t>만</a:t>
            </a:r>
            <a:r>
              <a:rPr lang="en-US" altLang="ko-KR" dirty="0"/>
              <a:t>, 94t/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/>
              <a:t>팀 </a:t>
            </a:r>
            <a:r>
              <a:rPr lang="en-US" altLang="ko-KR" dirty="0"/>
              <a:t>4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직원 </a:t>
            </a:r>
            <a:r>
              <a:rPr lang="en-US" altLang="ko-KR" dirty="0"/>
              <a:t>81</a:t>
            </a:r>
            <a:r>
              <a:rPr lang="ko-KR" altLang="en-US" dirty="0"/>
              <a:t>명</a:t>
            </a:r>
            <a:endParaRPr lang="en-US" altLang="ko-KR" dirty="0"/>
          </a:p>
          <a:p>
            <a:r>
              <a:rPr lang="ko-KR" altLang="en-US" dirty="0"/>
              <a:t>복잡성은</a:t>
            </a:r>
            <a:r>
              <a:rPr lang="en-US" altLang="ko-KR" dirty="0"/>
              <a:t> 1.96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34A1BD0-4263-4E5B-9ECD-7E668FDBD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012" y="783804"/>
            <a:ext cx="7467600" cy="527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82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9A15F-B4A4-20AA-265A-2269BFD7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E2CA113-D29E-CFA7-45D0-DCBD4FF76FA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973F08-C2A6-09EA-7B58-68FDA7A3509E}"/>
              </a:ext>
            </a:extLst>
          </p:cNvPr>
          <p:cNvSpPr/>
          <p:nvPr/>
        </p:nvSpPr>
        <p:spPr>
          <a:xfrm>
            <a:off x="435952" y="141657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CEDDEB-ABB9-931C-F02A-B8109A0930ED}"/>
              </a:ext>
            </a:extLst>
          </p:cNvPr>
          <p:cNvSpPr txBox="1"/>
          <p:nvPr/>
        </p:nvSpPr>
        <p:spPr>
          <a:xfrm>
            <a:off x="435952" y="166004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18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A9E452-18E4-B7D3-46A8-A10DB9A1BA99}"/>
              </a:ext>
            </a:extLst>
          </p:cNvPr>
          <p:cNvSpPr txBox="1"/>
          <p:nvPr/>
        </p:nvSpPr>
        <p:spPr>
          <a:xfrm>
            <a:off x="1087252" y="157768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사업예산구조와 성과지표의 연계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389071-7C60-BB8C-A1F0-600AE6ACC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67" y="6335559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EF49C7E-A2AD-A3BE-2C09-A19792D8211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99DC4A7D-39A8-6289-D17C-8411B5EAB1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8297358"/>
              </p:ext>
            </p:extLst>
          </p:nvPr>
        </p:nvGraphicFramePr>
        <p:xfrm>
          <a:off x="1658622" y="835499"/>
          <a:ext cx="4437378" cy="5586086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199660">
                  <a:extLst>
                    <a:ext uri="{9D8B030D-6E8A-4147-A177-3AD203B41FA5}">
                      <a16:colId xmlns:a16="http://schemas.microsoft.com/office/drawing/2014/main" val="1962932107"/>
                    </a:ext>
                  </a:extLst>
                </a:gridCol>
                <a:gridCol w="974723">
                  <a:extLst>
                    <a:ext uri="{9D8B030D-6E8A-4147-A177-3AD203B41FA5}">
                      <a16:colId xmlns:a16="http://schemas.microsoft.com/office/drawing/2014/main" val="4087583745"/>
                    </a:ext>
                  </a:extLst>
                </a:gridCol>
                <a:gridCol w="2262995">
                  <a:extLst>
                    <a:ext uri="{9D8B030D-6E8A-4147-A177-3AD203B41FA5}">
                      <a16:colId xmlns:a16="http://schemas.microsoft.com/office/drawing/2014/main" val="2087302239"/>
                    </a:ext>
                  </a:extLst>
                </a:gridCol>
              </a:tblGrid>
              <a:tr h="16755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정책사업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단위사업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세부사업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2178715"/>
                  </a:ext>
                </a:extLst>
              </a:tr>
              <a:tr h="189648"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주민생활지원체계 구축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0.488+0.290=0.778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통합서비스 제공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(0.23)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주민생활지원 기획관리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61363344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사회복지의날 행사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27903832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복지대상자 조사관리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1653806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긴급복지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6675895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직원 복지플래너 양성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4531970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저소득가구 미세먼지 차단 방충망 설치 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5204510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서울형 긴급복지 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54396585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지역사회서비스 투자사업 관리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67392771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우리동네 이웃사촌사업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5434413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고독사 예방사업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4792333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우리동네 돌봄단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4586841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복지시설관리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(0.77)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사회복지관 운영지원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6206301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사회복지업무 인력지원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5412729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사회복무요원 보수지원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57353925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동작복지재단 출연금 지원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45136647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 err="1">
                          <a:effectLst/>
                        </a:rPr>
                        <a:t>푸드뱅크마켓</a:t>
                      </a:r>
                      <a:r>
                        <a:rPr lang="ko-KR" altLang="en-US" sz="800" u="none" strike="noStrike" dirty="0">
                          <a:effectLst/>
                        </a:rPr>
                        <a:t> 센터 운영지원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6162910"/>
                  </a:ext>
                </a:extLst>
              </a:tr>
              <a:tr h="189648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취약계층 복지증진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복지기반구축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지역사회보장협의체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22149505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 지역사회보장협의체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47702699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시군구 통합사계관리지원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034825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읍면동 찾아가는 보건복지통합서비스지원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32111536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법률홈닥터 운영지원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69017435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가족생애 설계 서비스지원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46992323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민관 통합사례관리 촉진사업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4685980"/>
                  </a:ext>
                </a:extLst>
              </a:tr>
              <a:tr h="18964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보훈관리및지원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보훈단체회관 관리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보훈회관 및 보훈단체 운영지원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9603078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보훈대상자 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28095434"/>
                  </a:ext>
                </a:extLst>
              </a:tr>
              <a:tr h="18964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행정운영경비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0.042+0.152=0.194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인력운영비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(0.97)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통합사례관리사 인건비지원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6452508"/>
                  </a:ext>
                </a:extLst>
              </a:tr>
              <a:tr h="189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기본경비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(0.03)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기본경비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7819586"/>
                  </a:ext>
                </a:extLst>
              </a:tr>
              <a:tr h="1896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재무활동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보전지출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국시비보조금 집행잔액 반환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1956293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57B1C07-46C1-77C8-8B66-0CBE05B2A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227490"/>
              </p:ext>
            </p:extLst>
          </p:nvPr>
        </p:nvGraphicFramePr>
        <p:xfrm>
          <a:off x="6228881" y="835499"/>
          <a:ext cx="3974709" cy="547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4576">
                  <a:extLst>
                    <a:ext uri="{9D8B030D-6E8A-4147-A177-3AD203B41FA5}">
                      <a16:colId xmlns:a16="http://schemas.microsoft.com/office/drawing/2014/main" val="1196890297"/>
                    </a:ext>
                  </a:extLst>
                </a:gridCol>
                <a:gridCol w="873093">
                  <a:extLst>
                    <a:ext uri="{9D8B030D-6E8A-4147-A177-3AD203B41FA5}">
                      <a16:colId xmlns:a16="http://schemas.microsoft.com/office/drawing/2014/main" val="3157080269"/>
                    </a:ext>
                  </a:extLst>
                </a:gridCol>
                <a:gridCol w="2027040">
                  <a:extLst>
                    <a:ext uri="{9D8B030D-6E8A-4147-A177-3AD203B41FA5}">
                      <a16:colId xmlns:a16="http://schemas.microsoft.com/office/drawing/2014/main" val="3005266944"/>
                    </a:ext>
                  </a:extLst>
                </a:gridCol>
              </a:tblGrid>
              <a:tr h="26233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정책사업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단위사업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u="none" strike="noStrike" dirty="0">
                          <a:effectLst/>
                        </a:rPr>
                        <a:t>세부사업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44231995"/>
                  </a:ext>
                </a:extLst>
              </a:tr>
              <a:tr h="133727">
                <a:tc rowSpan="36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주민과 함께 만들어가는 복지공동체 구현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0.387+0.514+0.509+0.389 = 1.799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복지기반 조성</a:t>
                      </a:r>
                      <a:br>
                        <a:rPr lang="en-US" altLang="ko-KR" sz="800" u="none" strike="noStrike" dirty="0">
                          <a:effectLst/>
                        </a:rPr>
                      </a:br>
                      <a:r>
                        <a:rPr lang="en-US" altLang="ko-KR" sz="800" u="none" strike="noStrike" dirty="0">
                          <a:effectLst/>
                        </a:rPr>
                        <a:t>(0.133)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 복지기능 강화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994906225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민관협력워크숍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20437915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찾아가는 복지플래너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92652523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지역사회보장계획 수립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953937397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사회복지의날 관악구 복지박람회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937909982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사회복지업무보조 사회복무요원 중식비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26427171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사회복무요원 인건비 지원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674158498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고독사예방 주민관계망형성사업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605133622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지역사회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복지서비스 지원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(0.465)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지역사회보장협의체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3424134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저소득층 보호 및 지원연계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61441752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관악 푸드뱅크마켓 운영지원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774009375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관악 푸드뱅크마켓 운영지원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자체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83851435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사회복지관 운영 지원</a:t>
                      </a:r>
                      <a:endParaRPr lang="ko-KR" altLang="en-US" sz="8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788770772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사회복지관 기능보강 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889192596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사회복지관 지도점검 강화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927399418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지역사회서비스 투자사업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영유아발달지원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968349530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우리동네 이웃사촌 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907667846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중년남성 사회적 관계망 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284254794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사회복지관 시설개방 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282641528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u="none" strike="noStrike">
                          <a:effectLst/>
                        </a:rPr>
                        <a:t>1</a:t>
                      </a:r>
                      <a:r>
                        <a:rPr lang="ko-KR" altLang="en-US" sz="800" u="none" strike="noStrike">
                          <a:effectLst/>
                        </a:rPr>
                        <a:t>인가구 사회적 관계망 구축사업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659291221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주민생활현장 공공서비스 연계 강화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667050634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사회적고립기구 청소정리 지원사업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319305474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맞춤형 복지서비스 제공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(0.268)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복지대상자 통합조사업무추진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631754130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구 통합사례관리사업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894322830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구 통합사례관리사업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인건비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085543081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동 통합사례관리 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83953373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희망발굴 복지상담사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17797080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통합사례관리 워크숍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905467283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우리동네 돌봄단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727910773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긴급복지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347124645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서울형 긴급복지 지원사업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385152877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민관 통합사례관리 촉진사업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969123484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위기가정 통합지원센터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046051149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보훈대상자 </a:t>
                      </a:r>
                      <a:br>
                        <a:rPr lang="ko-KR" altLang="en-US" sz="800" u="none" strike="noStrike" dirty="0">
                          <a:effectLst/>
                        </a:rPr>
                      </a:br>
                      <a:r>
                        <a:rPr lang="ko-KR" altLang="en-US" sz="800" u="none" strike="noStrike" dirty="0">
                          <a:effectLst/>
                        </a:rPr>
                        <a:t>예우 및 지원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(0.134)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보훈대상 및 단체 지원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240684620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보훈회관 신축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727086762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보훈회관 운영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076775856"/>
                  </a:ext>
                </a:extLst>
              </a:tr>
              <a:tr h="1337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행정운영경비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0.453+0.244 = 0.697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인력운영비</a:t>
                      </a:r>
                      <a:r>
                        <a:rPr lang="en-US" altLang="ko-KR" sz="800" u="none" strike="noStrike" dirty="0">
                          <a:effectLst/>
                        </a:rPr>
                        <a:t>(0.188)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인력운영비</a:t>
                      </a:r>
                      <a:r>
                        <a:rPr lang="en-US" altLang="ko-KR" sz="800" u="none" strike="noStrike">
                          <a:effectLst/>
                        </a:rPr>
                        <a:t>(</a:t>
                      </a:r>
                      <a:r>
                        <a:rPr lang="ko-KR" altLang="en-US" sz="800" u="none" strike="noStrike">
                          <a:effectLst/>
                        </a:rPr>
                        <a:t>통합사례관리사</a:t>
                      </a:r>
                      <a:r>
                        <a:rPr lang="en-US" altLang="ko-KR" sz="800" u="none" strike="noStrike">
                          <a:effectLst/>
                        </a:rPr>
                        <a:t>)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2220719341"/>
                  </a:ext>
                </a:extLst>
              </a:tr>
              <a:tr h="13372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기본경비</a:t>
                      </a:r>
                      <a:r>
                        <a:rPr lang="en-US" altLang="ko-KR" sz="800" u="none" strike="noStrike" dirty="0">
                          <a:effectLst/>
                        </a:rPr>
                        <a:t>(0.812)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</a:rPr>
                        <a:t>기본경비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472579628"/>
                  </a:ext>
                </a:extLst>
              </a:tr>
              <a:tr h="1337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재무활동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>
                          <a:effectLst/>
                        </a:rPr>
                        <a:t>보전지출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</a:rPr>
                        <a:t>국시비보조금반환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851" marR="4851" marT="4851" marB="0" anchor="ctr"/>
                </a:tc>
                <a:extLst>
                  <a:ext uri="{0D108BD9-81ED-4DB2-BD59-A6C34878D82A}">
                    <a16:rowId xmlns:a16="http://schemas.microsoft.com/office/drawing/2014/main" val="1024917865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C642D56B-1137-2CF3-1033-60DB6DFD3EF7}"/>
              </a:ext>
            </a:extLst>
          </p:cNvPr>
          <p:cNvSpPr/>
          <p:nvPr/>
        </p:nvSpPr>
        <p:spPr>
          <a:xfrm>
            <a:off x="1658622" y="2053087"/>
            <a:ext cx="1222601" cy="9144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EBE8EB-5919-09C0-0DC3-A626279A4363}"/>
              </a:ext>
            </a:extLst>
          </p:cNvPr>
          <p:cNvSpPr/>
          <p:nvPr/>
        </p:nvSpPr>
        <p:spPr>
          <a:xfrm>
            <a:off x="1658621" y="4237336"/>
            <a:ext cx="1222601" cy="9144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1F8DF70-B6C5-1CC7-4B18-34D2ECC647AA}"/>
              </a:ext>
            </a:extLst>
          </p:cNvPr>
          <p:cNvSpPr/>
          <p:nvPr/>
        </p:nvSpPr>
        <p:spPr>
          <a:xfrm>
            <a:off x="1658620" y="5357004"/>
            <a:ext cx="1222601" cy="42965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2C4704-B26E-83AF-61AF-41A25AD261AB}"/>
              </a:ext>
            </a:extLst>
          </p:cNvPr>
          <p:cNvSpPr/>
          <p:nvPr/>
        </p:nvSpPr>
        <p:spPr>
          <a:xfrm>
            <a:off x="6228881" y="2993381"/>
            <a:ext cx="1124418" cy="914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9D8B34C-3356-15DB-A41D-E228E0E3CE87}"/>
              </a:ext>
            </a:extLst>
          </p:cNvPr>
          <p:cNvCxnSpPr>
            <a:cxnSpLocks/>
          </p:cNvCxnSpPr>
          <p:nvPr/>
        </p:nvCxnSpPr>
        <p:spPr>
          <a:xfrm>
            <a:off x="7353299" y="3574344"/>
            <a:ext cx="2205891" cy="17826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0DFA75-3077-9000-0FAF-FD1FA7AFC4FD}"/>
              </a:ext>
            </a:extLst>
          </p:cNvPr>
          <p:cNvSpPr/>
          <p:nvPr/>
        </p:nvSpPr>
        <p:spPr>
          <a:xfrm>
            <a:off x="9559190" y="4970373"/>
            <a:ext cx="2537098" cy="13198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A34DF3-E0BA-8390-25B5-53AD9F361D7D}"/>
              </a:ext>
            </a:extLst>
          </p:cNvPr>
          <p:cNvSpPr txBox="1"/>
          <p:nvPr/>
        </p:nvSpPr>
        <p:spPr>
          <a:xfrm>
            <a:off x="9559190" y="5015717"/>
            <a:ext cx="24256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신규수급자 발굴실적</a:t>
            </a:r>
            <a:endParaRPr lang="en-US" altLang="ko-KR" dirty="0"/>
          </a:p>
          <a:p>
            <a:r>
              <a:rPr lang="ko-KR" altLang="en-US" dirty="0"/>
              <a:t>긴급지원 발굴실적</a:t>
            </a:r>
            <a:endParaRPr lang="en-US" altLang="ko-KR" dirty="0"/>
          </a:p>
          <a:p>
            <a:r>
              <a:rPr lang="ko-KR" altLang="en-US" dirty="0"/>
              <a:t>통합사례관리실적</a:t>
            </a:r>
            <a:endParaRPr lang="en-US" altLang="ko-KR" dirty="0"/>
          </a:p>
          <a:p>
            <a:r>
              <a:rPr lang="ko-KR" altLang="en-US" dirty="0"/>
              <a:t>보훈대상자 발굴실적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5753CE5-7B76-1543-52D2-801276E056C2}"/>
              </a:ext>
            </a:extLst>
          </p:cNvPr>
          <p:cNvCxnSpPr>
            <a:cxnSpLocks/>
          </p:cNvCxnSpPr>
          <p:nvPr/>
        </p:nvCxnSpPr>
        <p:spPr>
          <a:xfrm flipH="1" flipV="1">
            <a:off x="1443467" y="1770288"/>
            <a:ext cx="215153" cy="28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C11DA1C-20BC-CEE0-E650-0F14C4E09154}"/>
              </a:ext>
            </a:extLst>
          </p:cNvPr>
          <p:cNvCxnSpPr>
            <a:cxnSpLocks/>
            <a:endCxn id="37" idx="2"/>
          </p:cNvCxnSpPr>
          <p:nvPr/>
        </p:nvCxnSpPr>
        <p:spPr>
          <a:xfrm flipH="1" flipV="1">
            <a:off x="1087252" y="4034642"/>
            <a:ext cx="590779" cy="671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206AB76-665A-0700-1711-9C904E364BE3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1175461" y="5583838"/>
            <a:ext cx="472981" cy="527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CEA9663-7066-3768-2925-BD0C734FD1EC}"/>
              </a:ext>
            </a:extLst>
          </p:cNvPr>
          <p:cNvSpPr txBox="1"/>
          <p:nvPr/>
        </p:nvSpPr>
        <p:spPr>
          <a:xfrm>
            <a:off x="45988" y="1069984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통합서비스제공률</a:t>
            </a:r>
            <a:endParaRPr lang="en-US" altLang="ko-KR" dirty="0"/>
          </a:p>
          <a:p>
            <a:r>
              <a:rPr lang="ko-KR" altLang="en-US" dirty="0"/>
              <a:t>복지시설지원실적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A2CA567-78F4-A9DF-0765-BA12D88A2C02}"/>
              </a:ext>
            </a:extLst>
          </p:cNvPr>
          <p:cNvSpPr/>
          <p:nvPr/>
        </p:nvSpPr>
        <p:spPr>
          <a:xfrm>
            <a:off x="45988" y="1027906"/>
            <a:ext cx="2031325" cy="74238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8C3CD4B-C5F4-509F-89CD-06A123E09187}"/>
              </a:ext>
            </a:extLst>
          </p:cNvPr>
          <p:cNvSpPr/>
          <p:nvPr/>
        </p:nvSpPr>
        <p:spPr>
          <a:xfrm>
            <a:off x="71589" y="3047592"/>
            <a:ext cx="2031325" cy="9870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98B978-A0C5-2B6D-FD37-564A5622B266}"/>
              </a:ext>
            </a:extLst>
          </p:cNvPr>
          <p:cNvSpPr txBox="1"/>
          <p:nvPr/>
        </p:nvSpPr>
        <p:spPr>
          <a:xfrm>
            <a:off x="97178" y="3083323"/>
            <a:ext cx="211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소외계층 발굴건수</a:t>
            </a:r>
            <a:endParaRPr lang="en-US" altLang="ko-KR" dirty="0"/>
          </a:p>
          <a:p>
            <a:r>
              <a:rPr lang="ko-KR" altLang="en-US" dirty="0"/>
              <a:t>소외계층 지원액</a:t>
            </a:r>
            <a:endParaRPr lang="en-US" altLang="ko-KR" dirty="0"/>
          </a:p>
          <a:p>
            <a:r>
              <a:rPr lang="ko-KR" altLang="en-US" dirty="0"/>
              <a:t>통합사례관리 실적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CDD0D3-9DE4-3013-4EA1-9EDF3C75C88F}"/>
              </a:ext>
            </a:extLst>
          </p:cNvPr>
          <p:cNvSpPr txBox="1"/>
          <p:nvPr/>
        </p:nvSpPr>
        <p:spPr>
          <a:xfrm>
            <a:off x="97178" y="6111203"/>
            <a:ext cx="21130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보훈단체 지원율</a:t>
            </a:r>
            <a:endParaRPr lang="en-US" altLang="ko-KR" dirty="0"/>
          </a:p>
          <a:p>
            <a:r>
              <a:rPr lang="ko-KR" altLang="en-US" dirty="0"/>
              <a:t>보훈대상 지원인원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C82FB99-6E07-95B8-8AD0-D0A450B9A580}"/>
              </a:ext>
            </a:extLst>
          </p:cNvPr>
          <p:cNvSpPr/>
          <p:nvPr/>
        </p:nvSpPr>
        <p:spPr>
          <a:xfrm>
            <a:off x="159798" y="6111203"/>
            <a:ext cx="2031325" cy="64633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965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1324</Words>
  <Application>Microsoft Office PowerPoint</Application>
  <PresentationFormat>와이드스크린</PresentationFormat>
  <Paragraphs>235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296</cp:revision>
  <dcterms:created xsi:type="dcterms:W3CDTF">2025-03-10T02:54:00Z</dcterms:created>
  <dcterms:modified xsi:type="dcterms:W3CDTF">2025-09-21T08:30:26Z</dcterms:modified>
</cp:coreProperties>
</file>