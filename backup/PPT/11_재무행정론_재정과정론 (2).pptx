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89" r:id="rId3"/>
    <p:sldId id="408" r:id="rId4"/>
    <p:sldId id="409" r:id="rId5"/>
    <p:sldId id="367" r:id="rId6"/>
    <p:sldId id="387" r:id="rId7"/>
    <p:sldId id="411" r:id="rId8"/>
    <p:sldId id="412" r:id="rId9"/>
    <p:sldId id="413" r:id="rId10"/>
    <p:sldId id="415" r:id="rId11"/>
    <p:sldId id="417" r:id="rId12"/>
    <p:sldId id="418" r:id="rId13"/>
    <p:sldId id="419" r:id="rId14"/>
    <p:sldId id="420" r:id="rId15"/>
    <p:sldId id="421" r:id="rId16"/>
    <p:sldId id="422" r:id="rId17"/>
    <p:sldId id="423" r:id="rId18"/>
    <p:sldId id="424" r:id="rId19"/>
    <p:sldId id="258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39" autoAdjust="0"/>
    <p:restoredTop sz="94660"/>
  </p:normalViewPr>
  <p:slideViewPr>
    <p:cSldViewPr snapToGrid="0">
      <p:cViewPr varScale="1">
        <p:scale>
          <a:sx n="97" d="100"/>
          <a:sy n="97" d="100"/>
        </p:scale>
        <p:origin x="3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재무행정론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29EAF-E542-DF3A-2695-853BC9C9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4D0CEF8-B52D-DB8C-1594-BB8B62C1FF5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E32A99-2B7A-AE6B-472D-3D3066666C4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A155A-6C01-1457-F19B-BA4B053FEFD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BF75ED-31AA-39A9-DC85-90AE55A9CE1B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예산심의의 의의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D437B-3E14-B500-6DD6-4D4CE1E3EEAF}"/>
              </a:ext>
            </a:extLst>
          </p:cNvPr>
          <p:cNvSpPr txBox="1"/>
          <p:nvPr/>
        </p:nvSpPr>
        <p:spPr>
          <a:xfrm>
            <a:off x="1080000" y="1671816"/>
            <a:ext cx="1080000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예산심의는 행정부가 작성한 예산안을 입법부가 심사하는 정치과정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왕권을 통제하기 위한 재정통제의 일환으로 등장 → 재정 민주주의 실현을 위한 장치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대통령제 국가는 예산 심의 권한이 강력하며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심의도 엄격하게 이뤄짐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미국의 경우 연방의회는 삭감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증액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폐지 등 예산심의에 관한 모든 행동을 아무런 제한 없이 수행할 수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총량적 재정 규율이 작동하기 어려운 문제점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의원내각제 하에서는 국회의 예산심의 활동은 제한적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영국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3DBDF90-15CA-3CFA-FB7F-44240F89F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AD92805-807F-CB3C-F622-91A50E3D14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5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41283-E488-9780-371F-D201772DD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3FC6EC8-94E5-5E9E-05B1-17F47DFBAE4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8B4E1E5-1BB1-1B3A-6272-7781CB39908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2D0147-E600-EBE1-9269-CE332E2ECF6B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AB27A0-0B20-20C2-9048-97B12A71E4BC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예산심의의 기능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C2C28D-B847-15B4-D2CE-4790F0C1FC9A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예산심의 기능은 정책형성과 행정감독 두가지로 나뉨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정책형성은 사업 및 사업수준에 대한 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미시적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예산총액에 대한 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거시적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구분할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사업에 대한 미시적 결정은 정책 대안을 선택하는 것이며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사업수준에 대한 결정은 대안에 소용되는 비용을 화폐로 환산한 금액에 대한 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양자는 밀접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거시적 차원의 결정은 예산 규모의 결정 뿐만 아니라 흑자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적자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예산과 같이 세입과 세출의 관계에 대한 결정도 포함 → 의회는 심의과정에서 제한적으로 정책형성 기능을 수행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AD8A720-EB38-6B81-87B4-3869B4804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9E5C79-D404-1910-FEB4-4279A1C900D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700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2B8F4-1219-A4D5-0126-53D64DE18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55FE811-CA1F-56B3-8592-6CA4464ECE0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13BC9D-D0CE-85C8-6E3A-0BE0F5F6E63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E792F9-1050-52BA-96B9-17BE7BD5D924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7439D6-4E2C-5734-E07A-55298E824E21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예산심의의 기능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189C29-CC31-F9F2-F31E-3E44F8D470E1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행정감독은 입법부가 예산 심의를 통해 정책 및 사업계획을 검토해 사업을 폐지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축소 또는 확장하거나 금액산정 과정을 검토해 비효율적이고 낭비적인 예산 지출을 방지하는 것을 의미함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행정감독을 통해 입법부는 행정부로 하여금 산출과 성과에 관한 정보를 생산하고 공개하도록 요구하고 있음 → 데이터베이스 관리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소위원회 중심의 감독이 이루어짐에 따라 통합적 감독이 어렵고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국민들이 입법부에 기대하는 바가 감시자 보다는 신규사업을 시행하도록 하는 촉진자에 가까움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7604557-0D0D-C253-EECA-06CA662CA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318A963-21E3-6327-F2A6-D25D1C1D0E9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561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D3783-D2C1-F21C-3251-8B6219092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67D3752-8488-CC87-8F7C-01C66696935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38445C-60E8-EFC7-2DFD-B92EA8A59E0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F562AB-A9D9-06B0-41FF-855C31A9480E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8C38BC-BA0B-16D4-BD61-4BF864B982D2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예산심의의 영향요인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973F69-B386-0A64-4E9A-509B5379C7AC}"/>
              </a:ext>
            </a:extLst>
          </p:cNvPr>
          <p:cNvSpPr txBox="1"/>
          <p:nvPr/>
        </p:nvSpPr>
        <p:spPr>
          <a:xfrm>
            <a:off x="1080000" y="1671816"/>
            <a:ext cx="10800000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예산심의에 영향을 미치는 요인은 환경적 요인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구조적 요인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개인적 특성 요인 등 다양함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환경적 요인으로는 경제 환경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행정부와 입법부 관계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정당 내 권력구조  등이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구조적 요인으로는 위원회 특성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당파성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선거구제 획정 방식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심의 절차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   → 상설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진보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소선거구제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중선거구제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다단계 절차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등에 따라 달라짐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의원의 개인적 특성으로는 전문성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이념적 성향 등이 논의되고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46ADB37-8F15-FD43-971C-3B8D919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74A4574-D1B6-CE19-8E77-C2638FB18BE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447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57B78-7721-9FB9-8610-095F267BE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A523D34-6D0B-4262-673F-267490B0051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FC96285-68DC-4B40-FB69-784FA97C0A8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33B131-7F54-BEB4-F84F-9A5CF04A60D5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FE421F-527C-3051-84A7-2B880A293590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예산심의의 절차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982238-BF7E-2E7E-FFF2-742BB4A44EEF}"/>
              </a:ext>
            </a:extLst>
          </p:cNvPr>
          <p:cNvSpPr txBox="1"/>
          <p:nvPr/>
        </p:nvSpPr>
        <p:spPr>
          <a:xfrm>
            <a:off x="1080000" y="1671816"/>
            <a:ext cx="5679387" cy="342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상임위 예비심사는 소관 상임위원회 별로 수행됨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우리나라의 특징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예산안 제안설명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장관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전문위원 검토보고 → 대체토론 → 소위원회 심사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계수조정 → 예비심사 결과보고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상임위원회 전체회의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예결위에 회부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국회의장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B07AD7C-86D7-B18B-10D7-171788E59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D8AB9E1-D652-2CF7-0003-612F0ECEB3B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1년마다 바뀌는 예결위 위원…국가 재정 이해·전문성 떨어져">
            <a:extLst>
              <a:ext uri="{FF2B5EF4-FFF2-40B4-BE49-F238E27FC236}">
                <a16:creationId xmlns:a16="http://schemas.microsoft.com/office/drawing/2014/main" id="{6D204783-6711-A5B2-D10C-A0C14C54E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591" y="1968316"/>
            <a:ext cx="3588187" cy="3337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1371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278DA-A3DB-D4B1-8D7D-4E78E2A49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07F833E-6563-90C8-D048-08DA671E463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A52A657-98EE-06A4-F69A-5DF8BB32E94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E28C7B-D959-7031-2CB5-2C6D34D0C422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063488-01A6-C870-73F7-B2A6E7566E94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예산심의의 절차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971C05-D729-F06E-C949-A4030247DA60}"/>
              </a:ext>
            </a:extLst>
          </p:cNvPr>
          <p:cNvSpPr txBox="1"/>
          <p:nvPr/>
        </p:nvSpPr>
        <p:spPr>
          <a:xfrm>
            <a:off x="1080000" y="1671816"/>
            <a:ext cx="10245885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예산결산특별위원회는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년부터 상설화되었으며 위원의 임기는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년임 → 국회 교섭단체 소속 의원 수의 비율과 상임위원회의 위원 수 비율에 의해 교섭단체 대표의원의 요구로서 국회의장이 선임하며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50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인으로 구성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예산결산위원회 종합심사도 상임위원회 예비심사 과정과 유사하게 진행되며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계수조정은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11~12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인의 소위원회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예산안등조정소위원회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구성되어 이루어짐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계수조정이란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부처간 예산과목의 계수를 증감하는 실질적이고 최종적인 예산안 심사단계라고 할 수 있음 → 이후 본회의 의결을 거쳐 채택하면 예산안이 확정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9B42F2B-46EF-2C6F-04FF-676048606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50E5A1D-F8C0-9A55-57B1-1DCF766C815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797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72DFE-BDDC-7749-9D38-EEE7FD16F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A9A0909-8027-07F5-0A0A-67A86FABE75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D405EC-AC25-6460-18B8-89DE569BE94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D3DA7A-17A4-1BF2-91F4-614F4B1C5F3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95069B-3D7C-1ADE-C3B2-737F0F82441A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예산심의의 특징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F86BEE-787A-A704-C89B-18CD7198885E}"/>
              </a:ext>
            </a:extLst>
          </p:cNvPr>
          <p:cNvSpPr txBox="1"/>
          <p:nvPr/>
        </p:nvSpPr>
        <p:spPr>
          <a:xfrm>
            <a:off x="1080000" y="1671816"/>
            <a:ext cx="10245885" cy="3331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국회법 제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85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조의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3(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예산안 등의 본회의 자동 부의 등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①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위원회는 예산안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기금운용계획안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임대형 민자사업 한도액안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이하 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0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예산안등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이라 한다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제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항에 따라 지정된 세입예산안 부수 법률안의 심사를 매년 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11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 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30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일까지 마쳐야 한다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②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위원회가 </a:t>
            </a:r>
            <a:r>
              <a:rPr lang="ko-KR" altLang="en-US" sz="20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예산안등과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제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항에 따라 지정된 세입예산안 부수 법률안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체계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자구 심사를 위하여 법제사법위원회에 회부된 법률안을 포함한다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대하여 </a:t>
            </a:r>
            <a:r>
              <a:rPr lang="ko-KR" altLang="en-US" sz="20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</a:t>
            </a:r>
            <a:r>
              <a:rPr lang="en-US" altLang="ko-KR" sz="20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0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항에 따른 기한까지 심사를 마치지 아니하였을 때에는 그 다음 날에 위원회에서 심사를 마치고 바로 본회의에 </a:t>
            </a:r>
            <a:r>
              <a:rPr lang="ko-KR" altLang="en-US" sz="2000" b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부의된</a:t>
            </a:r>
            <a:r>
              <a:rPr lang="ko-KR" altLang="en-US" sz="20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것으로 본다</a:t>
            </a:r>
            <a:r>
              <a:rPr lang="en-US" altLang="ko-KR" sz="20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다만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의장이 각 교섭단체 대표의원과 합의한 경우에는 그러하지 아니하다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5074C09-1883-CC8B-0381-2B35BF882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34BDAE9-43CF-6738-4AC2-7EE0B870FCB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115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1798A-45F7-228D-EDCA-DD9A81A9F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31B9489-0205-C1C4-04FB-71A512D5CF5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964EC8-31E4-9B6A-DD8D-4987C06C1BB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ECC33C-9E8E-C8A8-0BD6-0F87E8398EE5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045139-E059-199E-5220-BB38B09629A5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예산심의의 특징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64EEE3-867B-1CFB-A9CE-F2F1F0C4E64C}"/>
              </a:ext>
            </a:extLst>
          </p:cNvPr>
          <p:cNvSpPr txBox="1"/>
          <p:nvPr/>
        </p:nvSpPr>
        <p:spPr>
          <a:xfrm>
            <a:off x="1080000" y="1671816"/>
            <a:ext cx="10245885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헌법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57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국회는 정부의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동의없이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정부가 제출한 지출예산 각항의 금액을 증가하거나 새 비목을 설치할 수 없다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국회는 정부 동의 없이 세입예산을 증액할 수 있으나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세출예산은 폐지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삭감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입법과목 내에서의 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목적의 변경만 할 수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증액이나 새 비목을 설치하는 것은 할 수 없음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미국과 일본은 입법부가 자유롭게 증액 가능하나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영국은 우리와 유사함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E327EF2-6C84-BD94-C24A-671D2FA2A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0C52E4A-1AF4-50B6-04A3-6CD7CBD0B15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713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51F75-D506-AD0C-DAA9-D019FEDDC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0BC601E-188A-AB02-FFE8-DC652A6AE1C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1E8BD3-4401-5BF0-B7CD-18FC40A0F71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4327FB-F6CD-B530-DA18-F3F0C800ECAE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CE0C5E-D8D7-A43C-0C99-5627179BE887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예산심의의 특징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1CD5B5-DEA9-85D0-5B07-99B9277E3768}"/>
              </a:ext>
            </a:extLst>
          </p:cNvPr>
          <p:cNvSpPr txBox="1"/>
          <p:nvPr/>
        </p:nvSpPr>
        <p:spPr>
          <a:xfrm>
            <a:off x="1080000" y="1671816"/>
            <a:ext cx="10245885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87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재정부담을 수반하는 법령의 제정 및 개정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①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정부는 재정지출 또는 조세감면을 수반하는 법률안을 제출하고자 하는 때에는 법률이 시행되는 연도부터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회계연도의 재정수입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지출의 증감액에 관한 추계자료와 이에 상응하는 재원조달방안을 그 법률안에 첨부하여야 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2014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국회법 개정으로 의원이 발의하거나 위원회가 제안하는 예산 또는 기금상의 조치를 수반하는 의안에 대해서도 국회예산정책처의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비용추계서를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첨부하도록 의무화함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AF9AB5D-440F-4F1E-65D7-2353E8B7C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B6DF33D-02F6-E74D-56C5-B5600B3D714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651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F9667-6512-978C-C331-A46526364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0F4054F-2166-7FD9-F52D-64CA276717C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3ACE90-CDC2-5208-AB02-92CA29730A4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9966DD-343B-30A9-FF2C-679B4CF5B46E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D74D5-3926-00D8-295A-67C10C8F71A9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예산집행의 의의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0DC3C9-DB5D-B686-5DE4-4DAE4FEA2C09}"/>
              </a:ext>
            </a:extLst>
          </p:cNvPr>
          <p:cNvSpPr txBox="1"/>
          <p:nvPr/>
        </p:nvSpPr>
        <p:spPr>
          <a:xfrm>
            <a:off x="1080000" y="1671816"/>
            <a:ext cx="10245885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예산집행이란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국가의 수입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지출을 실행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관리하는 모든 행위를 말하며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국고의 수납 및 지출행위 뿐만 아니라 지출원인행위와 채무부담행위를 포함하는 개념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측면에서는 예산이 정하는 바에 따라 정해진 활동이나 사업의 목표를 달성하는 일련의 과정을 의미함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예산집행은 특정 목적을 위해 설정된 금액을 계획대로 지출하는 것과 사업의 목적을 달성하는 것의 두가지 측면 → 그러나 예산집행 과정에서 환경변화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사업내용의 변화가 발생하기 때문에 신축성을 유지할 방안이 필수적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EF3AE9F-633C-6616-78A3-53F87693D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D02C2BA-E58E-4364-0B85-5831CB22823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169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C7789-AB89-8833-0160-535CD4257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692ED08-CE5A-1814-0847-D54D69C9610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0768A53-5194-255E-3BA2-B8483C14541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EAC04B-FD01-0E2F-6A83-2AEE77181231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F9F7FB-6999-2A42-4508-B4C685A9EAD8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예산집행의 목표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AFC884-7140-C95D-3357-F8D240743FE5}"/>
              </a:ext>
            </a:extLst>
          </p:cNvPr>
          <p:cNvSpPr txBox="1"/>
          <p:nvPr/>
        </p:nvSpPr>
        <p:spPr>
          <a:xfrm>
            <a:off x="1080000" y="1671816"/>
            <a:ext cx="10245885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예산집행은 예산통제를 위해 입법부의 의도를 구현하고 재정한계를 엄수하는 것과 예산성립 후의 여건 변화에 적응하기 위해 신축성을 유지하는 두가지 목표를 가짐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예산통제 측면에서는 회계기록 및 보고제도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정원 및 보수의 통제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계약의 통제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총사업비의 관리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등을 수행함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예산집행의 보조적 목표는 신축성을 유지하는 것이며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신축성을 유지하기 위한 방안은 예산의 이용과 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예비비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계속비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추가경정예산 등이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6F5284F-8AC2-10F6-18F2-3E1CF1C36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04442FB-618F-5577-14FD-2444B3FFA38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926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B5CCF-B0B8-CB5A-1908-F59EF92B7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2BE4039-DC94-AC7A-1C1F-46727C711B7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ADCD4A-D597-38B2-239A-81D8FC6273D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C61124-89B4-7CBF-FF39-F99A863C0A22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A86D24-8FDC-8DEC-F3A5-2EE7E0E92037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신축성 확보수단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이용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,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전용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,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이체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9A5A16-F1E5-3AAB-6B9D-4C6BE7C18882}"/>
              </a:ext>
            </a:extLst>
          </p:cNvPr>
          <p:cNvSpPr txBox="1"/>
          <p:nvPr/>
        </p:nvSpPr>
        <p:spPr>
          <a:xfrm>
            <a:off x="1080000" y="1671816"/>
            <a:ext cx="10245885" cy="294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예산의 이용은 각 기관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입법과목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간에 상호 융통하는 것을 말하며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원칙적으로 국회의 의결을 얻지 못할 때에는 이용할 수 없음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예산의 전용은 행정과목인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 간에 상호 융통하는 것을 말하며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대통령령이 정하는 바에 따라 기재부 장관의 승인을 얻어 전용할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이체는 직무와 권한에 변동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정부조직법 개정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있을 때 이뤄짐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71F621B-2617-02F3-0EC5-082037AB1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6F35F5-DBC2-09A4-5049-D2CC450AEC5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83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37A46-F620-1A4B-4882-ADB2C95CD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F08CC0B-8016-3353-109F-82904937AB4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81D83E3-D9E5-2517-8849-B0208EA58C9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D0D17B-E445-2659-9029-44FFC96629BB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65746C-F945-6CE1-2E3C-CF00786AC230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신축성 확보수단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이월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145910-781C-37F3-CB5A-C09091794FEB}"/>
              </a:ext>
            </a:extLst>
          </p:cNvPr>
          <p:cNvSpPr txBox="1"/>
          <p:nvPr/>
        </p:nvSpPr>
        <p:spPr>
          <a:xfrm>
            <a:off x="1080000" y="1671816"/>
            <a:ext cx="10245885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예산의 이월은 당해 회계연도 예산의 일정액을 다음 연도에 넘겨서 사용하는 것을 의미하며 회계연도 독립 원칙의 예외임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명시이월은 세출예산 중 경비의 성질상 연내에 지출을 끝내지 못할 것이 예측된 경비로서 국회의 승인을 얻어 다음연도에 사용할 수 있는 것을 말함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사고이월은 연도 내에 지출원인행위를 하고 불가피한 사유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관급자재의 지급 지연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 지출하지 못한 경비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지출원인행위를 하지 아니한 경비에 대한 이월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계속비와 달리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 연도에 국한되는 것으로 사고이월은 재차 이월 불가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FABF7B9-E3BC-5583-14F2-204256539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D26D481-229F-C699-8F6C-AD237294EB3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909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5A0B6-4314-AE73-03C9-7293F8E2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74DF0E5-CA72-952E-CF47-24F88D8D7CA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A96A7E-B0FD-EA6B-34A2-A1926941DE6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31835-4C2F-E1A7-FB1D-93316C80E021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876EF9-6994-A75F-ED8B-39CE154BF389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신축성 확보수단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예비비와 계속비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898BFF-2311-7AD9-5063-F137D84C0AFD}"/>
              </a:ext>
            </a:extLst>
          </p:cNvPr>
          <p:cNvSpPr txBox="1"/>
          <p:nvPr/>
        </p:nvSpPr>
        <p:spPr>
          <a:xfrm>
            <a:off x="1080000" y="1671816"/>
            <a:ext cx="10245885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예비비는 예산 한정성 원칙의 예외로서 초과지출에 대한 필요에 대응하기 위한 경비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일반회계 예산 총액의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이내의 금액을 계상할 수 있도록 상한을 정하고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계속비는 완성에 수년도를 요하는 공사나 제조 및 연구개발 사업에서 경비의 총액과 연부액을 정해 미리 국회의 의결을 얻은 범위 안에서 수년에 걸쳐 지출할 수 있는 예산을 의미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당해 연도로부터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이내 지출할 수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의결로 연장 가능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계속 이월도 가능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312E9CB-7B73-8609-317B-6F413465B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9C168CE-071E-53E9-8D59-A8A89993425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550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580DB-71C9-96E6-AAB6-263ED3479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EBC0090-C4BE-E2EE-CAD9-81D5D6B6257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C781B82-5C1B-6641-E8BB-D7497189F5C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D29C6A-58F1-192D-F9EF-23DE7A126413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222EEF-0C97-C29B-4E79-436EF9EE425E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예산집행의 절차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D48CB0-7B43-1ECC-E37F-B6B295A9ED1A}"/>
              </a:ext>
            </a:extLst>
          </p:cNvPr>
          <p:cNvSpPr txBox="1"/>
          <p:nvPr/>
        </p:nvSpPr>
        <p:spPr>
          <a:xfrm>
            <a:off x="1080000" y="1671816"/>
            <a:ext cx="10245885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 중앙관서의 장은 예산이 확정된 후 사업운영계획 및 이에 따른 세입세출예산 등을 포함한 예산배정요구서를 기재부 장관에게 제출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기재부 장관은 분기별 예산배정계획을 세워 대통령의 승인을 받아 예산을 배정 → 세입이 회계 기간 동안 분산되어 유입되기 때문에 예산집행 일정을 수립해 자금배분을 합리화하기 위함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지출 단계에서 중앙관서의 장은 월별 세부자금계획서를 작성하여 기재부 장관에게 제출하고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기재부 장관은 월별 세부자금계획을 작성하여 자금을 배정 → 지출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2CEFDA3-826F-5384-37F8-54A5F9FC5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96D225D-ED3F-85C3-B76B-F1202DC0733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515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7BE3D-B984-037B-C0F9-73CA4BA41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64F72FC-718F-F811-99AA-C74BF978EA5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6B10F8-4D31-95A1-63FC-242884FFBC7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2DE212-02B5-BAE1-3F73-3D1BF48A2270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C58612-22D5-5641-9F62-0845026C8239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결산 및 회계검사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7393EC-C986-8EFF-5C8D-846001F471DB}"/>
              </a:ext>
            </a:extLst>
          </p:cNvPr>
          <p:cNvSpPr txBox="1"/>
          <p:nvPr/>
        </p:nvSpPr>
        <p:spPr>
          <a:xfrm>
            <a:off x="1080000" y="1671816"/>
            <a:ext cx="10245885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예산집행이 종료되면 결산 절차를 거쳐 감사원의 회계검사를 받고 국회의 결산 심의 및 의결을 거치게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결산은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회계연도 내에서 세입과 세출의 모든 수입과 지출을 확정적 계수로 표시하는 행위임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전통적인 결산 정보는 자원에 대한 정보에 치중하였으나 최근에는 사업에 대한 정보를 중요시 하는 방향으로 바뀌어 가고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 명확화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성과평가의 중요성 증대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정보의 산출 과정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통제 및 환류과정으로서 결산이 더욱 중요해지고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4FE9174-C7BD-3506-9646-CDA2315AB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EF0518F-6875-F3F2-0E57-546474ADDAF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339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FDD5E-5472-67C8-09A4-53B82CB0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05AFD84-0A93-DE51-BB16-D616104D117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FF2D81B-8D0E-A0DD-8BA6-DF888ECFDB9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7A6141-BFB3-BCA6-988B-DF657275D46A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505E39-362F-C550-4C5F-C061C89F24B4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결산 및 회계검사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8C4D28-046D-A410-88E8-202172CF0B1B}"/>
              </a:ext>
            </a:extLst>
          </p:cNvPr>
          <p:cNvSpPr txBox="1"/>
          <p:nvPr/>
        </p:nvSpPr>
        <p:spPr>
          <a:xfrm>
            <a:off x="1080000" y="1671816"/>
            <a:ext cx="10245885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회계검사는 재정활동의 결과 및 회계 기록을 독립된 기관이 체계적으로 검토해 집행의 합법성과 타당성 여부를 비판적으로 검토하는 활동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감사원은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세입ㆍ세출의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결산을 매년 검사하여 대통령과 차년도국회에 그 결과를 보고하여야 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헌법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99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감사원은 국가의 회계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지방자치단체의 회계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등을 검사하며 회계검사에는 수입과 지출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물품ㆍ유가증권ㆍ권리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등을 포함한다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취득ㆍ보관ㆍ관리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및 처분 등의 검사를 포함한다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감사원법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8BED021-1311-3233-A2E4-0ABF914F0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BE86C86-7BFE-378A-266B-5F724D77873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154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1876</TotalTime>
  <Words>1272</Words>
  <Application>Microsoft Office PowerPoint</Application>
  <PresentationFormat>와이드스크린</PresentationFormat>
  <Paragraphs>97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674</cp:revision>
  <dcterms:created xsi:type="dcterms:W3CDTF">2025-03-10T02:54:00Z</dcterms:created>
  <dcterms:modified xsi:type="dcterms:W3CDTF">2025-10-14T07:16:38Z</dcterms:modified>
</cp:coreProperties>
</file>