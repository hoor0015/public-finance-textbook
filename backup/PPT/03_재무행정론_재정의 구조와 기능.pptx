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5" r:id="rId5"/>
    <p:sldId id="277" r:id="rId6"/>
    <p:sldId id="278" r:id="rId7"/>
    <p:sldId id="279" r:id="rId8"/>
    <p:sldId id="280" r:id="rId9"/>
    <p:sldId id="281" r:id="rId10"/>
    <p:sldId id="266" r:id="rId11"/>
    <p:sldId id="267" r:id="rId12"/>
    <p:sldId id="282" r:id="rId13"/>
    <p:sldId id="283" r:id="rId14"/>
    <p:sldId id="285" r:id="rId15"/>
    <p:sldId id="286" r:id="rId16"/>
    <p:sldId id="287" r:id="rId17"/>
    <p:sldId id="288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79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4BBB-AFE2-6B3E-313A-185B3CF3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E4C2D-5B60-3EC1-E63B-5FED8C7A8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32A724-2025-00EB-A4D4-825EB4FDE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C8CFBD-29DD-0C2A-0D02-A63E6172A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620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A6E1-C76E-D0D6-CD7E-3CDEB524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AAC739-F5BF-228D-2161-4BE143512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AE9A71-52EA-A54C-3773-39A8AB56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99A6D-C24E-049A-39AE-8A2F3460B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90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A8DE-9FFE-73C2-1A3F-44A78152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80A0DA-3B9D-CF84-971C-EFEE87E0C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4EB09C-D597-C3FB-27B3-98C45A532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584BA-CBE0-0F7E-76DA-3BFCC08C0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3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5827-2E23-EFB1-6985-F5C7B1D0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17C048-CD27-1C40-D65F-CA1D83E52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22ADB7-48F6-D080-622D-7D0FE808E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C3AA3-A806-9455-857E-4A3019988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76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1495-75DA-D21A-C6E9-53ED103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06548B-BD38-E5C0-7F65-3AD44CA5F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881F47-D0BC-5E31-CD6C-F917098D4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90AD8-0419-5679-4314-314163091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62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3978-A4DA-72AB-E192-04CDFB04C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D036DF-59ED-FE7B-72CE-C245531A3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A8E349-73C5-F0B3-635E-F3948F1B2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재정운영표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), </a:t>
            </a:r>
            <a:r>
              <a:rPr lang="ko-KR" altLang="en-US" dirty="0"/>
              <a:t>재정상태표</a:t>
            </a:r>
            <a:r>
              <a:rPr lang="en-US" altLang="ko-KR" dirty="0"/>
              <a:t>(</a:t>
            </a:r>
            <a:r>
              <a:rPr lang="ko-KR" altLang="en-US" dirty="0"/>
              <a:t>유량</a:t>
            </a:r>
            <a:r>
              <a:rPr lang="en-US" altLang="ko-KR" dirty="0"/>
              <a:t>+</a:t>
            </a:r>
            <a:r>
              <a:rPr lang="ko-KR" altLang="en-US" dirty="0" err="1"/>
              <a:t>저량</a:t>
            </a:r>
            <a:r>
              <a:rPr lang="en-US" altLang="ko-KR" dirty="0"/>
              <a:t>/</a:t>
            </a:r>
            <a:r>
              <a:rPr lang="ko-KR" altLang="en-US" dirty="0"/>
              <a:t>수익</a:t>
            </a:r>
            <a:r>
              <a:rPr lang="en-US" altLang="ko-KR" dirty="0"/>
              <a:t>, </a:t>
            </a:r>
            <a:r>
              <a:rPr lang="ko-KR" altLang="en-US" dirty="0"/>
              <a:t>비용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부채</a:t>
            </a:r>
            <a:r>
              <a:rPr lang="en-US" altLang="ko-KR" dirty="0"/>
              <a:t>, </a:t>
            </a:r>
            <a:r>
              <a:rPr lang="ko-KR" altLang="en-US" dirty="0"/>
              <a:t>순자산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9B868-729B-2E1D-D79E-026B1796C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6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 체제의 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800000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본질적 모습은 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보다는 그것으로 추진하는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우선순위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재정운영 체제는 정책학의 관점에서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계층구조로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정책수단은 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정책혼합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존재함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세입측면에서 조세정책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세외수입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공영주차장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국공채 관련 정책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세출측면에서 지출구조 재조정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분야의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정책혼합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측면에서 재정적자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흑자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긴축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확대 정책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이스털린의 역설, 반복되는 오해">
            <a:extLst>
              <a:ext uri="{FF2B5EF4-FFF2-40B4-BE49-F238E27FC236}">
                <a16:creationId xmlns:a16="http://schemas.microsoft.com/office/drawing/2014/main" id="{00010888-F588-E7CD-029A-BC47A1BCF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9" t="32502" r="17873" b="5947"/>
          <a:stretch>
            <a:fillRect/>
          </a:stretch>
        </p:blipFill>
        <p:spPr bwMode="auto">
          <a:xfrm>
            <a:off x="8012316" y="3509242"/>
            <a:ext cx="2765066" cy="251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재정의 기능과 규범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서설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기능은 재정이 추구하는 목표이면서 역할로서 정부의 기능과 역할이기도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(R. A. Musgrave):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 배분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 재분배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안정화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경제적 기능 외에도 삶의 질 제고라는 사회적 기능도 점점 강조되고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360000" y="722826"/>
            <a:ext cx="64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AD636A-9720-CA32-8557-5E5B47CF36B9}"/>
              </a:ext>
            </a:extLst>
          </p:cNvPr>
          <p:cNvSpPr/>
          <p:nvPr/>
        </p:nvSpPr>
        <p:spPr>
          <a:xfrm>
            <a:off x="1685263" y="3699601"/>
            <a:ext cx="5721790" cy="21377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u="sng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이스털린의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역설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(Easterlin’s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Paradox)</a:t>
            </a:r>
          </a:p>
          <a:p>
            <a:pPr algn="ctr"/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나라의 소득이 주택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식량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에너지에 대한 수요를 충족시킬 수 있는 기본 수준을 넘어서면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경제가 성장한다고 해도 국민의 평균적인 행복감이 더 이상 증가하지 않는 현상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9B7B-D076-B98B-75DF-051EB8A8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D6FD098-B04D-B2AE-AB99-7831096396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431CF7-017D-A5B4-B096-A17B4BFA2C3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1F346-0137-32F0-A62B-0909AA5C148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자원배분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5EA59-7845-87DF-A2BD-5E62E136B017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(resource allocation)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 어떠한 재화와 용역이 사회적으로 바람직한 생산과 소비 수준을 유지하고 있는가의 정도를 보여주는 것 → 사회적 최적 수준보다 과잉 생산되거나 과소 생산된 경우에는 자원 배분이 잘 되어 있다고 볼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용역 뿐만 아니라 생산 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노동과 자본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경우에도 마찬가지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민간재와 공공재 배분 문제에서도 동일하게 적용됨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시장에서는 보이지 않는 손으로 효율적 자원 배분을 달성 →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시장실패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과소공급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정부개입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 등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공공재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치안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32FBE2-1853-0C66-DB6C-E4A4CFFA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D063029-9508-CEC4-A939-F574509030E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93DA51-F711-645B-6290-B10F243E45FC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1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CA27-9B78-16BF-A930-47144D29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493A52-6E34-1463-081F-D28DF59BE83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BBD0B5-1046-9E07-7728-BECC1FDCFBF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23EC60-9732-0254-B19C-9F473069112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자원배분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9F68A6-4B39-884C-AB14-63A64C0B89F4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재정은 자원 배분 면에서 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(efficiency)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추구함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이때의 효율성은 사회적 후생 측면의 자원 배분의 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(allocative efficiency)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가장 효율적인 자원 배분 상태는 파레토 최적 상태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(Pareto optimality)=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 후생의 극대화가 이루어진 상태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파레토 최적이란 다른 사람의 후생을 감소시키지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않고서는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어느 한 사람의 후생을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증가시키는게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불가능하도록 자원이 배분되어 있는 상태를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FC9D008-B974-9E57-7081-277BF28C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F1BD6E6-2665-8E2F-0592-EC523CEABB5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02505A-350E-B027-BC23-403F0AF6E33F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3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D87B-3823-4D8F-C98F-8460FCE3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1EA64F-6DAA-E898-B9CC-9CFFFD6937C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6D8147-8CD2-A29B-F86F-5E6C58BF27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B40AD-AAF6-41D8-E8EF-70786285450A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소득 재분배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형평성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A6B21-A2FC-51D1-B104-9C7CE6B54CEC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효율적인 자원 배분이 이뤄졌다고 하더라도 공정한 소득 분배가 이뤄진다는 보장은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개인의 보유 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생산요소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자원에 대한 시장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 생산력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소득분포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소득 분배 상태를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좋은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방향으로 재분배하기 위한 여러 조치를 취함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누진세율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이전지출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의무교육 지원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주택지원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문제는 효율성과 달리 형평성은 바람직한 상태가 무엇인지를 파악하기가 쉽지 않다는 점 → 공적주의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평등주의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롤즈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기준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적정 분배의 기준의 선택은 가치 판단의 문제이며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과정을 통해 결정됨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D0EB1D-31B9-86E9-BFA1-E76E864D9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1B4131B-E513-E0B2-86CC-A8987B74DED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DF19F6-B75C-EE2A-3CC5-36212D9AB9BD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55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BFA19-3997-B759-4EDA-218C3A87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D823222-AFA7-3717-BF7C-F5D54BDD96E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FD75B0-5F6F-31BA-26F3-6A9C2E0DAC3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E0F72-7C92-D136-F9C8-8287F95042F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소득 재분배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형평성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30123-EBE0-8473-352B-FD3183F25291}"/>
              </a:ext>
            </a:extLst>
          </p:cNvPr>
          <p:cNvSpPr txBox="1"/>
          <p:nvPr/>
        </p:nvSpPr>
        <p:spPr>
          <a:xfrm>
            <a:off x="1080000" y="1671816"/>
            <a:ext cx="10800000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재정은 소득 재분배를 통해 형평성이라는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추구함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각자의 몫은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각자에게로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같은 것은 같게 다른 것은 다르게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수평적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같은 것은 같게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 수준이 같으면 동일한 세금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수직적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 것은 다르게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 수준이 다를 때는 상이한 세금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형평성은 필연적으로 비용 부담자와 편익의 향유자를 나누게 됨 → 정치적 성격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형평성이 높을수록 정치적 정당성은 높아지는 특징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B1C3555-A157-536B-49A6-68711DF71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8ABCEC1-8235-8DA5-3F43-FE71676B516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B260EDB-5FAF-8C66-2D2D-A915E4882FD2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76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E3E1-2825-A514-A17D-B166F67A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64095D-D8EF-E382-8C91-62899957CA2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257FD0-FAE2-B509-C049-7A2C6214BA7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CE676-2D39-B131-8962-2B4E311BB6AC}"/>
              </a:ext>
            </a:extLst>
          </p:cNvPr>
          <p:cNvSpPr txBox="1"/>
          <p:nvPr/>
        </p:nvSpPr>
        <p:spPr>
          <a:xfrm>
            <a:off x="1235998" y="757300"/>
            <a:ext cx="471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경제 안정화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안정과 성장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E2B59-2B09-EA9A-DAAD-F1D9668CD886}"/>
              </a:ext>
            </a:extLst>
          </p:cNvPr>
          <p:cNvSpPr txBox="1"/>
          <p:nvPr/>
        </p:nvSpPr>
        <p:spPr>
          <a:xfrm>
            <a:off x="1080000" y="1671816"/>
            <a:ext cx="10800000" cy="4267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재정은 고용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물가 등 거시경제 지표에 중요한 영향을 미치며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고용을 높게 유지하면서 물가를 안정시키는 것은 정부의 책임이며 재정의 기능임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경제 안정화 기능은 총수요를 조정함으로써 경기 조절적 기능을 수행하는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 경제의 총수요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(Y) =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(C) +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투자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(I) +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정부지출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(G) +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순수출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(NX: X-M)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재량적 재정정책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총수요의 부족으로 경기 침체와 실업이 우려되는 경우 세수를 줄여 민간 수요를 높이거나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 정부지출을 늘려 총수요를 보전함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케인즈 이론에 바탕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자동 안정화 장치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누진세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실업보험 제도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재량적 재정정책이 없어도 경기를 안정적으로 만들어주는 장치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7D063C-0AE5-D7BF-DD86-4CF2C20A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ED94141-E339-1D47-2F83-CB667EEC8D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5F5E03-2C1A-D322-C59D-D18861E85B7C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17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0CEC-452E-FACC-7EF3-D639033D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FE56EF-F10A-3385-98AA-24471AC91A2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EBFEA4-646C-2C83-2CF3-DBF3AB136AD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5A8AB-7CB2-7025-66A9-082DAC08F75C}"/>
              </a:ext>
            </a:extLst>
          </p:cNvPr>
          <p:cNvSpPr txBox="1"/>
          <p:nvPr/>
        </p:nvSpPr>
        <p:spPr>
          <a:xfrm>
            <a:off x="1235998" y="757300"/>
            <a:ext cx="4860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삶의 질 제고 기능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삶의 질과 행복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1C9FB-FEAA-52F3-FBB0-A5E3B8132323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 기능은 경제적 기능에 초점이 맞춰져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경제적 기능 만으로는 불충분 → 재정의 궁극적인 목적은 국민의 행복임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삶의 질 제고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삶의 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(quality of life)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 만족감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안정감 등 주관적 평가의식을 규정하는 복합적 요인을 말함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국민들은 금전 이외의 속성의 집합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워라밸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삶의 기회를 형성하기 때문에 삶의 질은 물질적 생활 조건 이상의 것으로 평가되어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전통적인 경제 성장 지표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Growth Domestic Product)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삶의 질을 나타내는데 한계가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OECD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Better Life Initiative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통해 이를 보완하고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1F0AC8-3C6B-9EF1-CDCE-C996C034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C01691E-8C88-DA5C-3FF0-EAC36F4EF56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B5028C-9F25-41C5-16D4-0529C65FDCB4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9121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4874-ED00-5633-DA6E-9A7604BD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BBFA03-101B-106F-7A69-F9E8781E463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D8681C-2D3E-BC95-97B9-C3CCF5D6E68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F0867-D531-CAB5-F947-549DB4529116}"/>
              </a:ext>
            </a:extLst>
          </p:cNvPr>
          <p:cNvSpPr txBox="1"/>
          <p:nvPr/>
        </p:nvSpPr>
        <p:spPr>
          <a:xfrm>
            <a:off x="1235999" y="757300"/>
            <a:ext cx="5291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중앙정부와 지방정부의 재정기능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9DF90-FDA1-9CB2-DEA1-88DD024861B1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지방정부는 국가 공공재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치안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아닌 지방 공공재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스포츠시설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문화센터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공급을 담당함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지방정부는 조세나 이전 지출이 아닌 사회 서비스 중심으로 소득재분배 기능을 수행함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지방정부는 중앙정부와 달리 경제 안정화 기능이 매우 미흡함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지방정부는 삶의 질 제고를 위해 최소 기준의 보편 서비스 보다는 주민 친화적 서비스 제공에 역점을 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6231980-2E61-FBE7-8E46-9725980C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DB937FD-EAB9-C91C-9E8C-F9DD137B34F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759E50-271A-9BFE-ABC1-F621CE16B4E5}"/>
              </a:ext>
            </a:extLst>
          </p:cNvPr>
          <p:cNvSpPr txBox="1"/>
          <p:nvPr/>
        </p:nvSpPr>
        <p:spPr>
          <a:xfrm>
            <a:off x="359999" y="722826"/>
            <a:ext cx="644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20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B234-1FB2-C5C5-7343-707C6815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F2B39FA-571E-7727-B4C1-F1BF33CB430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A07AB2-F520-5834-BC1D-B858AA37EA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384E4-A6AA-2D0C-D335-968722921FB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패러다임 전환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D2800-FD43-CA00-22AA-6310A6958F00}"/>
              </a:ext>
            </a:extLst>
          </p:cNvPr>
          <p:cNvSpPr txBox="1"/>
          <p:nvPr/>
        </p:nvSpPr>
        <p:spPr>
          <a:xfrm>
            <a:off x="1080000" y="1671816"/>
            <a:ext cx="10800000" cy="58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36CAED-C195-3A42-A85E-A7EA7B10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E2091ED-EDA9-19D1-7FB1-4C461993429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5896AC-FB7E-4FC7-2C91-6B8437E4B58C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DFC644B-4143-96EB-213C-1FABCF9C0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64064"/>
              </p:ext>
            </p:extLst>
          </p:nvPr>
        </p:nvGraphicFramePr>
        <p:xfrm>
          <a:off x="1993717" y="1962665"/>
          <a:ext cx="8204566" cy="33605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02283">
                  <a:extLst>
                    <a:ext uri="{9D8B030D-6E8A-4147-A177-3AD203B41FA5}">
                      <a16:colId xmlns:a16="http://schemas.microsoft.com/office/drawing/2014/main" val="2823328085"/>
                    </a:ext>
                  </a:extLst>
                </a:gridCol>
                <a:gridCol w="4102283">
                  <a:extLst>
                    <a:ext uri="{9D8B030D-6E8A-4147-A177-3AD203B41FA5}">
                      <a16:colId xmlns:a16="http://schemas.microsoft.com/office/drawing/2014/main" val="1658319237"/>
                    </a:ext>
                  </a:extLst>
                </a:gridCol>
              </a:tblGrid>
              <a:tr h="5580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패러다임의 전환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관련 제도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69602557"/>
                  </a:ext>
                </a:extLst>
              </a:tr>
              <a:tr h="56050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u="sng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투입 중심 ⇨ 성과 중심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u="sng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재정성과관리제도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712200443"/>
                  </a:ext>
                </a:extLst>
              </a:tr>
              <a:tr h="56050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유량 중심 ⇨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유량ㆍ저량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중심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복식부기ㆍ발생주의회계제도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262023036"/>
                  </a:ext>
                </a:extLst>
              </a:tr>
              <a:tr h="56050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아날로그 정보 시스템 ⇨ 디지털 통합정보 시스템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디브레인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시스템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/e-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호조 시스템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074882872"/>
                  </a:ext>
                </a:extLst>
              </a:tr>
              <a:tr h="56050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관리자 중심 ⇨ 납세자 주권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국민참여 예산제도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/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주민소송제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30418399"/>
                  </a:ext>
                </a:extLst>
              </a:tr>
              <a:tr h="560501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몰성인지적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관점 ⇨ 성인지적 관점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성인지 예산제도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78661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86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609B5-76A8-D970-0D22-DAD1ED32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BE9546-D7B1-C7CF-D1B8-A65DC54C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235" y="2336994"/>
            <a:ext cx="9587620" cy="38779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국가재정법 제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16조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(예산의 원칙) 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정부는 예산을 편성하거나 집행할 때 다음 각 호의 원칙을 준수하여야 한다. 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24FCE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&lt;개정 2010. 5. 17., 2013. 1. 1., 2020. 6. 9., 2021. 6. 15., 2021. 9. 24., 2021. 12. 21.&gt;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1. 정부는 재정건전성의 확보를 위하여 최선을 다하여야 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2. 정부는 국민부담의 최소화를 위하여 최선을 다하여야 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3. 정부는 재정을 운용할 때 재정지출 및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86D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「조세특례제한법」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제142조의2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5A5A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제1항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 따른 조세지출의 성과를 제고하여야 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4. 정부는 예산과정의 투명성과 예산과정에의 국민참여를 제고하기 위하여 노력하여야 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5. 정부는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86D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「성별영향평가법」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제2조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00069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제1호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 따른 성별영향평가의 결과를 포함하여 예산이 여성과 남성에게 미치는 효과를 평가하고, 그 결과를 정부의 예산편성에 반영하기 위하여 노력하여야 한다.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6. 정부는 예산이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86D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「기후위기 대응을 위한 </a:t>
            </a:r>
            <a:r>
              <a:rPr kumimoji="0" lang="ko-KR" altLang="ko-KR" b="0" i="0" u="sng" strike="noStrike" cap="none" normalizeH="0" baseline="0" dirty="0" err="1">
                <a:ln>
                  <a:noFill/>
                </a:ln>
                <a:solidFill>
                  <a:srgbClr val="086D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탄소중립ㆍ녹색성장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86DFF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기본법」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 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제2조</a:t>
            </a:r>
            <a:r>
              <a:rPr kumimoji="0" lang="ko-KR" altLang="ko-KR" b="0" i="0" u="sng" strike="noStrike" cap="none" normalizeH="0" baseline="0" dirty="0">
                <a:ln>
                  <a:noFill/>
                </a:ln>
                <a:solidFill>
                  <a:srgbClr val="000069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제5호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 따른 온실가스(이하 “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온실가스”라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한다) 감축에 미치는 효과를 평가하고, 그 결과를 정부의 예산편성에 반영하기 위하여 노력하여야 한다.</a:t>
            </a:r>
            <a:endParaRPr kumimoji="0" lang="ko-KR" altLang="ko-K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132F24-9EA0-82D0-DF0B-C8B672C305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F83A32-8672-E928-8685-9D19C837538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54D88-9CE7-110E-E182-A84E48CD222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2CF5B-B320-9EFC-7AF1-FC075B674DC9}"/>
              </a:ext>
            </a:extLst>
          </p:cNvPr>
          <p:cNvSpPr txBox="1"/>
          <p:nvPr/>
        </p:nvSpPr>
        <p:spPr>
          <a:xfrm>
            <a:off x="1080000" y="1671816"/>
            <a:ext cx="10800000" cy="58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바람직한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바람직한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재정운영이란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무엇인가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평가기준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6DEFA2D-23E6-FB52-E211-D328F907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50BAF6-CE1A-C87A-7DD4-6150B172B5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6182DE-D377-DF96-2C64-43E33812479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3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98C5-C3F0-D468-F677-0C16B34B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64A11E-33D4-C301-321B-795102ADEFA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6FDD62-8698-13C3-E12E-9BEFEAE2B3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B42EE-B390-35C0-F02C-1D0CEC91A23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BFDB6-8ECA-926B-10D5-9E1AC990FEFD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공공지출관리의 세가지 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(Schick, 1998) :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총량적 재정규율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배분적 효율성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운영적 효율성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충족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예산운영 능력 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세계은행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(WB)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건전 재정운영의 원칙으로 포괄성과 규율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경쟁 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정직성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투명성 및 책임성을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샤피로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(Shapiro, 2001)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건전 예산 체제의 요소로 기관의 역할과 책임을 규정한 법체계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포괄적 예산 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적시의 정보와 예측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투명성과 참여를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FEB1050-CAAD-4A98-6241-041DAA3EB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2E2A75-E49A-1F43-8854-1F0F243CF5A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74537E-0EB1-C9DE-21F7-5FBFC020680C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0A1D-CBCC-0825-F362-986F30C35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F43DAA-6C7B-05A1-8B79-C67DD9159F8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59EE-5CF2-0E53-04F4-3447DD52992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1601B-FDBC-4D7F-7F19-F67D4BF2E3A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1D04A-EBB3-198A-450B-1096464B533B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 예산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회계검사 등 모든 과정에 적용되는 규범으로 입법부 우위의 통제중심 원칙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공개의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내용이 국민에게 공개되어야 한다는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조에서는 예산 등에 관한 사항을 매년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 이상 공표하도록 명시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명료성의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수입지출의 추계가 명료해야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합리적으로 구분되어 있어야 한다는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내용이 적절하게 세분화되어 있어야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68F0FC6-32F3-7DDD-FF4D-4DF8DC8B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B044B43-FA1C-9DEC-1513-4B3B5AD7939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D08A36-464B-0353-15FA-F00405B93A99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04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4882-5141-25E7-E338-630F1D4B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88A92D0-E80F-96AE-CC6A-32D391BD7D0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A6E2F2-D610-D3E6-2BE7-B8E6B5925A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A0521-08C8-2941-734F-6E64B6184E1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23D3B2-3D43-0AA1-19C2-E67E47AB21A7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3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사전 의결의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예산이 집행되기 전에 입법부의 의결을 거쳐야 한다는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항은 국회는 국가의 예산안을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항은 정부는 회계연도마다 예산안을 편성하여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 개시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국회에 제출하고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국회는 회계연도 개시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이를 의결하여야 한다고 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우리나라는 회계연도 개시일까지 예산이 성립되지 않으면 국회의 사전 의결 없이 일정 경비를 지출할 수 있는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준예산 제도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운영하고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*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국가별로 준예산 제도가 아닌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공화국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잠정예산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제도를 운영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758DEED-D639-989F-6CBD-1D195BAF6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1F34550-552A-D44A-5F4B-E061FD7A5F3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1467B0-381B-DCEE-68EB-ED40A3E50795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3176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9ACB-8730-02B1-28EF-DCF7F3C2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C74654-7BC7-A6C6-FC8E-C436A2D45B5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B51AEB-EE2B-DF65-E79C-D836ED0ABC8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F8AAC-5CAC-F781-0FC8-1F3A13C2ED80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CAA40-63D3-3CAC-71AA-471613104654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4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한정성의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목적 외 사용 금지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초과지출 금지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연도 경과의 금지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조는 세출예산이 정한 목적 외에 경비를 사용할 수 없음을 규정하고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조부터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조에 거쳐 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규정하고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초과 지출은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금지되어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초과지출의 필요성이 있는 경우 예비비 또는 추가경정예산안을 편성하여 해결함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조는 각 회계연도의 경비는 그 연도의 세입 또는 수입으로 충당하여야 한다고 규정하고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과년도 수입 및 지출 등 예외가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98ECFF-C60E-62A6-CFF1-698B7C7A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7DCD51-6181-9333-A7FD-649C341F6C6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F2C07D-68B0-4CDE-1FCC-235AF7B0B6F6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947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B3410-387C-023F-7D9C-B6B6FFE9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B7BBC42-B6CE-BA57-75A9-DE214527EAB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E0E22F-61F0-22F9-C290-1A4E7974573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F061D-3CC4-1B09-B603-EDBF46CF82EC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재정운영의 규범과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8E3E7-438B-5225-57F2-80DA6F6A8DB3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5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완전성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세입과 세출은 예산에 계상되어야 한다는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수입대체경비의 초과 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현물출자 등 예외가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5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단일의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이해와 통제의 용이성을 위해 본예산의 일반회계 예산만을 운영하여야 한다는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그러나 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추가경정예산제도 등 예외가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5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통일의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특정한 세입과 특정한 세출은 직접 연계해서는 안된다는 원칙임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환경개선특별회계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목적세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농어촌특별세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 예외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 startAt="5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엄밀성의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결산과 일치해야 한다는 원칙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F55E31-CEFD-8063-9B01-09344821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9A1F65-45EA-2CDA-C65E-18A4025D763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3019D4-668B-B690-DA62-F67F53BE416B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r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18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1730</Words>
  <Application>Microsoft Office PowerPoint</Application>
  <PresentationFormat>와이드스크린</PresentationFormat>
  <Paragraphs>130</Paragraphs>
  <Slides>18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경기천년제목 Bold</vt:lpstr>
      <vt:lpstr>경기천년제목 Light</vt:lpstr>
      <vt:lpstr>굴림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151</cp:revision>
  <dcterms:created xsi:type="dcterms:W3CDTF">2025-03-10T02:54:00Z</dcterms:created>
  <dcterms:modified xsi:type="dcterms:W3CDTF">2025-09-04T06:18:53Z</dcterms:modified>
</cp:coreProperties>
</file>