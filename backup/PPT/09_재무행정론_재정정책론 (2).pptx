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367" r:id="rId4"/>
    <p:sldId id="368" r:id="rId5"/>
    <p:sldId id="370" r:id="rId6"/>
    <p:sldId id="356" r:id="rId7"/>
    <p:sldId id="371" r:id="rId8"/>
    <p:sldId id="372" r:id="rId9"/>
    <p:sldId id="357" r:id="rId10"/>
    <p:sldId id="373" r:id="rId11"/>
    <p:sldId id="374" r:id="rId12"/>
    <p:sldId id="375" r:id="rId13"/>
    <p:sldId id="336" r:id="rId14"/>
    <p:sldId id="358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258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9" autoAdjust="0"/>
    <p:restoredTop sz="94660"/>
  </p:normalViewPr>
  <p:slideViewPr>
    <p:cSldViewPr snapToGrid="0">
      <p:cViewPr varScale="1">
        <p:scale>
          <a:sx n="88" d="100"/>
          <a:sy n="88" d="100"/>
        </p:scale>
        <p:origin x="3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545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8AC2-49E2-1B3B-4D4A-3F388F7E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11C7F-7BE4-CB0D-4C98-015B672F7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33327A-EB3F-3327-AD38-C502311EF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10DEA-E060-B0EA-494B-6864C4628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857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4378-65D6-7B8A-D98A-4040D47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15A9EB-3AA8-2995-4140-9C73CBF56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E1E7EF-FFD5-88C2-0D95-AF3931271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BC777-5ED3-3622-1ECE-EE1709197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16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5570-9A68-CD57-7C3C-F2E6FB018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AF28CE-1DEC-A6C6-AD9D-9C62BB1D1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57222D-10E3-C2C2-696B-E60ACD4D0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BB4D9E-FB29-256E-7A10-19053938E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432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FEA7-1053-790E-33F9-B61F9ECD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D928D-650F-523B-E3B5-3183C1C95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29D45A-4EC2-06A9-5351-97D53C7E8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FD9DF-8D0A-FB25-3780-B28DA7E70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775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6017-3BCA-8CB5-4770-6FAA945B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47EE76-0662-B766-959C-BA5404D48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D91EFA-F6BE-0F45-5227-0B92D89C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38FAE5-4CF9-5462-B4AB-6A016BB4F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287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70F5-5541-A3D4-49C4-6B7B1CBB9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9F242A-1CAB-539A-0B37-9BA14954F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319627-154D-1E92-6A9B-19D081E83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7DE9A-2D55-CB0B-C810-9FE5B6AB7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636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050E6-D73F-7637-E379-54A33835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970D42-1123-0FE9-23C1-11FC1C25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D6FC8C-3561-68F5-C2EB-4256BF67A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834EF-D31B-95D1-605C-4CC34E9E2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85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4DDE-5DA0-15D1-D21E-B50BAD58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1167A1-690B-3957-866F-AB725FC90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E14936-4C2F-F8BB-A8D6-C038FEF14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6C4B39-08A9-1DA2-BB0E-9DDB545B2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257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7CC0-7DD6-EF29-CEB0-A8925BA3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B19277-97FC-62DE-D7F8-FB8476DF2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D29534-FF1F-2E9D-A6AE-3C16F0063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93F54-A1D3-03DE-B7B3-862B56719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631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D99A-2566-562C-641B-F73E749C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6BF5B1-D086-3CF3-FCEB-CE071745F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A324FF-5AD8-A606-C8CD-E975C6F03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7722A7-BAC8-6D84-C340-620BC6D4E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846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8DD0-74F9-665A-099D-73C30621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FF4898-5AFE-3271-006A-4C4C1F6F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8427A-9C3E-ADEB-7FD2-3F26D9403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잠재</a:t>
            </a:r>
            <a:r>
              <a:rPr lang="en-US" altLang="ko-KR" dirty="0"/>
              <a:t>GDP</a:t>
            </a:r>
            <a:r>
              <a:rPr lang="ko-KR" altLang="en-US" dirty="0"/>
              <a:t>는 경기적 실업률 </a:t>
            </a:r>
            <a:r>
              <a:rPr lang="en-US" altLang="ko-KR" dirty="0"/>
              <a:t>0(</a:t>
            </a:r>
            <a:r>
              <a:rPr lang="ko-KR" altLang="en-US" dirty="0"/>
              <a:t>완전고용</a:t>
            </a:r>
            <a:r>
              <a:rPr lang="en-US" altLang="ko-KR" dirty="0"/>
              <a:t>)</a:t>
            </a:r>
            <a:r>
              <a:rPr lang="ko-KR" altLang="en-US" dirty="0"/>
              <a:t>일 때의 </a:t>
            </a:r>
            <a:r>
              <a:rPr lang="en-US" altLang="ko-KR" dirty="0"/>
              <a:t>GDP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88C1B-BDA5-8852-0B20-2790080A4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623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재정준칙과 재정관리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359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IMF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외환위기 이후 재정적자가 확대되어 재정건전성 확보의 중요성이 중요한 이슈가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국가재정법에는 다양한 재정건전성 확보 방안이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부담을 수반하는 법령의 제개정시 재정소요 추계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87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국세 감면의 제한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88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추가경정예산안 편성의 제한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89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세계잉여금 일정 비율의 공적 자금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차입금 상환 의무화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90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국가채무 관리계획 수립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91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보증채무 부담의 사전 국회동의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92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3783-D2C1-F21C-3251-8B621909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7D3752-8488-CC87-8F7C-01C66696935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38445C-60E8-EFC7-2DFD-B92EA8A59E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562AB-A9D9-06B0-41FF-855C31A9480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C38BC-BA0B-16D4-BD61-4BF864B982D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재정준칙과 재정관리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73F69-B386-0A64-4E9A-509B5379C7AC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국가재정운용계획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예산총액배분 자율편성제도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성과관리제도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예비타당성조사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총사업비관리제도 등도 재정건전화를 위한 재정관리제도에 해당됨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예비타당성 조사는 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및 동법 시행령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조의 규정에 따라 대규모 신규 사업에 대한 예산편성 및 기금운용계획을 수립하기 위하여 기획재정부장관 주관으로 실시하는 조사 → 한국개발연구원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(KDI)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공공투자관리센터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(PIMAC),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한국조세재정연구원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(KIPF)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정부투자분석센터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(GMAC)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경제성 평가를 실시하고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기획재정부에서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지역균형발전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평가를 고려하여 종합평가를 실시함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46ADB37-8F15-FD43-971C-3B8D919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4A4574-D1B6-CE19-8E77-C2638FB18B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44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48D2-ECAD-25E7-1444-A39A4192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AA67BBD-D1C0-92BE-3C21-F3F51AEC36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1CBAC5-2D9C-2354-4831-3338563ACFE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E8F85-6854-8530-37B6-42797863E75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41E63-1A82-E53A-E8E1-773EB0E1003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재정준칙의 설정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F14A6-FF79-44E7-F84F-2D1B6B80813D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코로나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팬데믹으로 인해 다시 재정적자와 국가채무가 증가 → 재정준칙 관심 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재정준칙은 재정수입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재정수지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국가채무 등 총량적 재정지표에 대한 법적 구속력을 부여함으로써 구체적인 재정운용 목표로 재정 규율을 확보하기 위한 재정건전화제도임 → 총량에 대한 구속력 있는 수량적 제한을 한다는 점이 특징임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재정준칙은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이후 서구에서 재정악화를 극복하기 위한 해법으로 등장 → 최근에는 고령화 등 미래의 잠재적 재정부담을 고려한 장기적 지속가능성 확보를 위해 활용되고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B3B8075-246F-FD53-5F1E-5A822210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DD82BF-65C5-5E7B-1D53-44B4E14CB09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35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0D04-F420-DF02-B2D8-3BEB6331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0C4FE4E-995D-D16E-E9E9-2B607994F5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5AFC0F-49C1-AC5C-FCF1-F883E7CE936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238EAB-1093-B511-F9C6-3EDCD0AB500C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23C69-8DA5-2678-661C-90DD8040651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재정준칙의 설정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5A895-E02C-3AFB-734C-F0CCA8CFF5A3}"/>
              </a:ext>
            </a:extLst>
          </p:cNvPr>
          <p:cNvSpPr txBox="1"/>
          <p:nvPr/>
        </p:nvSpPr>
        <p:spPr>
          <a:xfrm>
            <a:off x="1080000" y="1671816"/>
            <a:ext cx="10800000" cy="453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재정준칙은 목표변수에 따라 수입준칙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지출준칙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재정수지준칙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채무준칙 등으로 구분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수입준칙은 세입 감소를 내용으로 하는 신규 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입법시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반드시 이에 대응되는 다른 의무지출 감소나 세입 증가 등 재원 조달방안이 동시에 입법되도록 의무화하는 준칙임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지출준칙은 총지출 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분야별 명목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 지출한도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분야별 명목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 지출 증가액 한도 등을 설정하는 준칙임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재정수지준칙은 매 회계연도마다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일정기간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재정수지를 균형이나 일정 수준으로 유지하도록 하는 준칙임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채무준칙은 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GDP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대비 국가채무 비율을 일정 수준에서 유지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단계적 감소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하는 제약조건이나 국가채무의 한도를 정하는 준칙임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18CBACF-7D92-8010-5C43-1ADCCF0E8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BFAF39D-6907-672D-1796-F6D49D0E05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00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2717-EE6C-CC82-3607-CEC466E4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DC0E43-711D-B951-01E3-11067DB42A8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7A74B9-08A1-C8C2-BB7F-143D52F7BE7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7D626E-9590-B7BA-D074-BE53FE4BE71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FEB64-EB61-2927-EA21-BBF5DA8E1B3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주요국의 재정준칙 운용 현황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1FF537-3DD2-C227-945F-14656F4E5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F80A45F-6AE8-91EB-C6C6-25AFC1087C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CF35FF1-D3D6-3153-6187-B86A11B9E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15513"/>
              </p:ext>
            </p:extLst>
          </p:nvPr>
        </p:nvGraphicFramePr>
        <p:xfrm>
          <a:off x="682024" y="1468585"/>
          <a:ext cx="10596000" cy="45118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66000">
                  <a:extLst>
                    <a:ext uri="{9D8B030D-6E8A-4147-A177-3AD203B41FA5}">
                      <a16:colId xmlns:a16="http://schemas.microsoft.com/office/drawing/2014/main" val="3392735743"/>
                    </a:ext>
                  </a:extLst>
                </a:gridCol>
                <a:gridCol w="1766000">
                  <a:extLst>
                    <a:ext uri="{9D8B030D-6E8A-4147-A177-3AD203B41FA5}">
                      <a16:colId xmlns:a16="http://schemas.microsoft.com/office/drawing/2014/main" val="2510374910"/>
                    </a:ext>
                  </a:extLst>
                </a:gridCol>
                <a:gridCol w="1766000">
                  <a:extLst>
                    <a:ext uri="{9D8B030D-6E8A-4147-A177-3AD203B41FA5}">
                      <a16:colId xmlns:a16="http://schemas.microsoft.com/office/drawing/2014/main" val="3795815093"/>
                    </a:ext>
                  </a:extLst>
                </a:gridCol>
                <a:gridCol w="1766000">
                  <a:extLst>
                    <a:ext uri="{9D8B030D-6E8A-4147-A177-3AD203B41FA5}">
                      <a16:colId xmlns:a16="http://schemas.microsoft.com/office/drawing/2014/main" val="170022441"/>
                    </a:ext>
                  </a:extLst>
                </a:gridCol>
                <a:gridCol w="1766000">
                  <a:extLst>
                    <a:ext uri="{9D8B030D-6E8A-4147-A177-3AD203B41FA5}">
                      <a16:colId xmlns:a16="http://schemas.microsoft.com/office/drawing/2014/main" val="2280503926"/>
                    </a:ext>
                  </a:extLst>
                </a:gridCol>
                <a:gridCol w="1766000">
                  <a:extLst>
                    <a:ext uri="{9D8B030D-6E8A-4147-A177-3AD203B41FA5}">
                      <a16:colId xmlns:a16="http://schemas.microsoft.com/office/drawing/2014/main" val="3092642554"/>
                    </a:ext>
                  </a:extLst>
                </a:gridCol>
              </a:tblGrid>
              <a:tr h="518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국가 </a:t>
                      </a:r>
                      <a:r>
                        <a:rPr lang="en-US" altLang="ko-KR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/ </a:t>
                      </a: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지역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채무준칙</a:t>
                      </a:r>
                      <a:endParaRPr lang="en-US" altLang="ko-KR" sz="1200" b="1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Debt Rule)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지출준칙</a:t>
                      </a:r>
                      <a:endParaRPr lang="en-US" altLang="ko-KR" sz="1200" b="1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Expenditure Rule)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수입준칙</a:t>
                      </a:r>
                      <a:endParaRPr lang="en-US" altLang="ko-KR" sz="1200" b="1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</a:t>
                      </a:r>
                      <a:r>
                        <a:rPr lang="en-US" altLang="ko-KR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Revenue Rule)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재정수지준칙</a:t>
                      </a:r>
                      <a:endParaRPr lang="en-US" altLang="ko-KR" sz="1200" b="1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Budget Balance Rule)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비고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28917343"/>
                  </a:ext>
                </a:extLst>
              </a:tr>
              <a:tr h="518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유럽연합 </a:t>
                      </a:r>
                      <a:r>
                        <a:rPr lang="en-US" altLang="ko-KR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/ </a:t>
                      </a: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유로존</a:t>
                      </a:r>
                      <a:endParaRPr lang="ko-KR" altLang="en-US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GDP 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대비 정부부채 ≤ 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60%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재정적자 ≤ </a:t>
                      </a: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3% GDP, </a:t>
                      </a: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구조적 균형목표</a:t>
                      </a: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(MTO)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SGP(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안정성장협약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), 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경기침체 시 예외조항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869498559"/>
                  </a:ext>
                </a:extLst>
              </a:tr>
              <a:tr h="579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독일</a:t>
                      </a:r>
                      <a:endParaRPr lang="ko-KR" altLang="en-US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구조적 적자 누적 억제를 통해 간접적으로 부채 안정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구조적 재정수지 적자 ≤ 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0.35% GDP (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연방 기준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“부채 브레이크”를 헌법에 명시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642240182"/>
                  </a:ext>
                </a:extLst>
              </a:tr>
              <a:tr h="676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스위스</a:t>
                      </a:r>
                      <a:endParaRPr lang="ko-KR" altLang="en-US" sz="120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지출은 경기순환 조정 수입에 맞춰야 함 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(“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지출 한도”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균형재정 원칙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경기순환 조정 후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헌법에 규정</a:t>
                      </a: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위기 시 의회 과반 동의로 예외 허용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860345214"/>
                  </a:ext>
                </a:extLst>
              </a:tr>
              <a:tr h="445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스웨덴</a:t>
                      </a:r>
                      <a:endParaRPr lang="ko-KR" altLang="en-US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중앙정부 지출 상한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(3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년 단위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경기순환 고려 평균 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1% 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흑자 목표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지방정부도 균형재정 의무 적용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839062"/>
                  </a:ext>
                </a:extLst>
              </a:tr>
              <a:tr h="676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미국</a:t>
                      </a:r>
                      <a:endParaRPr lang="ko-KR" altLang="en-US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연방 부채한도</a:t>
                      </a:r>
                      <a:endParaRPr lang="en-US" altLang="ko-KR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(Debt Ceiling)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PAYGO: 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신규 지출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감세는 동일 규모 재원 확보 필요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PAYGO</a:t>
                      </a: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는 재정중립 원칙</a:t>
                      </a: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그러나 예외 법안 다수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83222057"/>
                  </a:ext>
                </a:extLst>
              </a:tr>
              <a:tr h="518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영국</a:t>
                      </a:r>
                      <a:endParaRPr lang="ko-KR" altLang="en-US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부채</a:t>
                      </a: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/GDP </a:t>
                      </a:r>
                      <a:r>
                        <a:rPr lang="ko-KR" altLang="en-US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비율 중기적 안정 또는 감소 목표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지출성장률 상한 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선택적 적용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균형재정 규칙</a:t>
                      </a:r>
                      <a:endParaRPr lang="en-US" altLang="ko-KR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재정수지 적자 감축 목표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법적 제재보다는 정치적 </a:t>
                      </a:r>
                      <a:r>
                        <a:rPr lang="ko-KR" altLang="en-US" sz="1200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책무성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중심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656573665"/>
                  </a:ext>
                </a:extLst>
              </a:tr>
              <a:tr h="579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캐나다</a:t>
                      </a:r>
                      <a:endParaRPr lang="ko-KR" altLang="en-US" sz="12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장기적 부채비율 안정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감축 목표 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(Debt Anchor)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일부 지출준칙 주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州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 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차원 도입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균형재정 규칙은 연방 차원에서는 약함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정치적 책임성 중심</a:t>
                      </a:r>
                      <a:r>
                        <a:rPr lang="en-US" altLang="ko-KR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강제력 제한적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86282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76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E32F-45A0-3BD7-15F0-49EB1A1C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0D059B-E79C-48F5-B294-3DB157B5B90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AEC5C9-72CA-1433-281D-B25841DB534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6CA8A-D054-4AB5-8AC5-FF9FE0B3D31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20096-DCD6-EC2A-3D86-DD48635FFEA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재정준칙의 새로운 흐름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748508-A86A-48C7-BA0B-4209BF931F19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재정준칙은 재정 목표의 구속력이 없는 ‘약한 준칙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(soft rule)’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정부가 정책 목표 달성에 필요한 제도와 권한을 부여한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‘강한 준칙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(hard rule)’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전통적으로 재정건전성 효과는 강한 준칙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약한 준칙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최근에는 채무준칙이 완전한 경기회복을 지연시키고 공공서비스 수준을 저하시키는 긴축정책을 채택하도록 정부를 유도할 우려가 있다고 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이탈리아 등 유로존 국가에서 긴축정책을 통해 실업률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빈곤층 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자살률 상승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확장적 재정정책을 활용하는 국가가 늘어나고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94E7600-E6C2-B8B3-3D25-F7ACC47A4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3A1CEE-CF8F-CC29-9776-A374ACDAFD6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98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1BCAE-0F1F-DAF8-1B78-7968C73C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3426E95-A3B6-A57C-C387-E919955F1D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47FE67-0E95-A79B-9027-EC82D258802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52604-C236-3011-A966-44A80D9C8E3B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3A393-D434-2FCA-0F53-BA265DC2A03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재정준칙의 새로운 흐름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C685D7B-9FE3-85C3-C682-E28998938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DE7B9DC-2807-8197-796C-5A009EA963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0DBD02-073F-A836-4092-A08300CA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408767"/>
              </p:ext>
            </p:extLst>
          </p:nvPr>
        </p:nvGraphicFramePr>
        <p:xfrm>
          <a:off x="1427069" y="1706006"/>
          <a:ext cx="9623152" cy="37129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01984">
                  <a:extLst>
                    <a:ext uri="{9D8B030D-6E8A-4147-A177-3AD203B41FA5}">
                      <a16:colId xmlns:a16="http://schemas.microsoft.com/office/drawing/2014/main" val="1072501196"/>
                    </a:ext>
                  </a:extLst>
                </a:gridCol>
                <a:gridCol w="7621168">
                  <a:extLst>
                    <a:ext uri="{9D8B030D-6E8A-4147-A177-3AD203B41FA5}">
                      <a16:colId xmlns:a16="http://schemas.microsoft.com/office/drawing/2014/main" val="1923877129"/>
                    </a:ext>
                  </a:extLst>
                </a:gridCol>
              </a:tblGrid>
              <a:tr h="2545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구분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내용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59557949"/>
                  </a:ext>
                </a:extLst>
              </a:tr>
              <a:tr h="44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도입 여부</a:t>
                      </a:r>
                      <a:endParaRPr lang="ko-KR" altLang="en-US" sz="18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아직 법적 재정준칙은 도입 전 </a:t>
                      </a:r>
                      <a:r>
                        <a:rPr lang="en-US" altLang="ko-KR" sz="18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8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국제적으로는 “</a:t>
                      </a:r>
                      <a:r>
                        <a:rPr lang="en-US" altLang="ko-KR" sz="180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no formal rule”)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827886773"/>
                  </a:ext>
                </a:extLst>
              </a:tr>
              <a:tr h="636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1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제안안</a:t>
                      </a:r>
                      <a:endParaRPr lang="en-US" altLang="ko-KR" sz="1800" b="1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주요 내용</a:t>
                      </a:r>
                      <a:r>
                        <a:rPr lang="en-US" altLang="ko-KR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  <a:endParaRPr lang="ko-KR" altLang="en-US" sz="18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/>
                      </a:pP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국가채무비율 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60%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한도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채무준칙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관리재정수지 적자 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GDP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대비 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-3%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이내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재정수지준칙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)→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초과 시 재정수지 개선 의무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87555798"/>
                  </a:ext>
                </a:extLst>
              </a:tr>
              <a:tr h="44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 입장</a:t>
                      </a:r>
                      <a:endParaRPr lang="ko-KR" altLang="en-US" sz="180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기재부는 “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60%+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적자 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3%”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형태의 한국형 준칙 구상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2025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년 이후 점진 적용 계획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85625359"/>
                  </a:ext>
                </a:extLst>
              </a:tr>
              <a:tr h="44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국회 입법 절차</a:t>
                      </a:r>
                      <a:endParaRPr lang="ko-KR" altLang="en-US" sz="18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2022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년 법안 제출 → 논의 지연 및 철회 사례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(2024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년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).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재추진 가능성 있음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74811786"/>
                  </a:ext>
                </a:extLst>
              </a:tr>
              <a:tr h="636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분석 및 쟁점</a:t>
                      </a:r>
                      <a:endParaRPr lang="ko-KR" altLang="en-US" sz="18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고령화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저성장 속 지출 압력 증가와 조화 필요</a:t>
                      </a:r>
                      <a:endParaRPr lang="en-US" altLang="ko-KR" sz="18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  <a:p>
                      <a:pPr>
                        <a:buNone/>
                      </a:pP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준칙 경직성 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vs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 유연성 균형 →</a:t>
                      </a: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예외조항 설정이 핵심 과제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45113711"/>
                  </a:ext>
                </a:extLst>
              </a:tr>
              <a:tr h="445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국제 권고</a:t>
                      </a:r>
                      <a:endParaRPr lang="ko-KR" altLang="en-US" sz="18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IMF·</a:t>
                      </a:r>
                      <a:r>
                        <a:rPr lang="ko-KR" altLang="en-US" sz="18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세계은행 등은 “신뢰할 만한 재정 앵커” 도입 필요성 지속 권고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7673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482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EBEB-2434-1910-3FF5-70FD6C257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E7642B0-A083-1653-DA6B-DD71D1E3EF2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74577F-4DFE-D9B9-5009-658F04EA7E4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256296-53CB-D720-565A-97E45E9C6CD5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052BC2-4CBB-D587-1A59-AC4FA5D7AF1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재정정책과 통화정책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1867E7-5EA8-6AAF-EB28-639F70046D5A}"/>
              </a:ext>
            </a:extLst>
          </p:cNvPr>
          <p:cNvSpPr txBox="1"/>
          <p:nvPr/>
        </p:nvSpPr>
        <p:spPr>
          <a:xfrm>
            <a:off x="1080000" y="1671817"/>
            <a:ext cx="6033728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재정정책을 제대로 이해하기 위해서는 통화정책을 이해해야 함 → 양자는 밀접한 관계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통화정책은 독점적 발권력을 중앙은행이 통화량이나 금리에 영향을 미쳐 물가안정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금융안정 등을 달성함으로써 경제가 지속가능한 성장을 이룰 수 있도록 하는 정책을 의미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양적완화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9EF6427-0D08-28C8-D28D-AF87028E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7C33AC8-E7BD-A62D-B73C-EF89700ACC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공공지출 늘려 민간지출 커졌다면 '승수효과' 덕 - 매일경제">
            <a:extLst>
              <a:ext uri="{FF2B5EF4-FFF2-40B4-BE49-F238E27FC236}">
                <a16:creationId xmlns:a16="http://schemas.microsoft.com/office/drawing/2014/main" id="{B5F99A3B-E7D6-F6C8-33AB-B6CB47D4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28" y="1671816"/>
            <a:ext cx="48387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523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4E8A-F883-25A8-BC7E-0E430368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AA47C3-96F3-08DB-29F6-E76B9049B6A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5FD13B-5D81-C716-6AB8-C476F96F851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B8ECE-3EE0-9F7B-7129-2D35EEBBAEB8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9C40D-981A-1217-36C5-0E0A7813932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재정정책과 통화정책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32B57A-334A-B571-1455-36DA38CF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EE2AFB-A3B6-E636-ECEE-A205144780A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297ADC-BBDF-C29E-471F-84346B5468F7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1998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물가안정을 통화정책의 최우선목표로 삼고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이전에는 통화량 목표제를 활용하여 통화량 조절을 위해 지급준비금 총액을 통제하였음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한국은행은 물가안정 목표를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단위로 설정하고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현재는 동법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항에서 금융안정도 부가적 목표로 설정하고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한국은행은 이와 같은 최종 목표를 달성하기 위하여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명목 기준지표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활용하고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963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0139-4550-8F4E-D07C-5C682ED1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9C8F64-8E4C-0635-551B-59FDF9FAC88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9209E9-21D0-4C61-562D-CCDF2CA13B5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7AC73A-4E66-8F17-296F-9D0C171AC24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6E4B96-E44A-D96B-7BF7-1516F501E00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재정정책과 통화정책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BA6550B-6079-19D4-017F-05ACCE7E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B6239ED-1752-95B3-4497-84B22AD9C4B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6AF6AB-9C56-2607-D67C-DE63225C063D}"/>
              </a:ext>
            </a:extLst>
          </p:cNvPr>
          <p:cNvSpPr txBox="1"/>
          <p:nvPr/>
        </p:nvSpPr>
        <p:spPr>
          <a:xfrm>
            <a:off x="1080000" y="1671816"/>
            <a:ext cx="10800000" cy="287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물가안정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초기에는 소비자물가지수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(CPI)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목표 대상 물가지수로 활용하였으나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년부터는 근원 인플레이션율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유가상승과 같은 일시적 외부충격으로 인한 물가변동분을 제거하고 난 다음의 기조적 물가상승률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목표 대상지표로 활용 중임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 안정을 위해서는 통화량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중간목표로 활용중임 → 운용 목표로는 단기시장금리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지급준비금 등이 이용됨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003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F4FA-0FBD-2E6E-0C79-2DFD5161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CC297B7-C76E-586B-E953-BBDEC7081AC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007084-294F-65BF-1C79-3D6F7F9F4FC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8628C-F434-719A-E7F0-4910EEB8667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CD49B-4D0E-358D-AE4D-D318D89E4AB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재정정책과 통화정책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544BDDD-CAFD-529E-04D0-8CD15EC3A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4F4AF6-5E8F-EA40-CC8F-B45E4650F62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B98F405E-6E2B-AE74-9753-7059EC0D6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060" y="2128476"/>
            <a:ext cx="8620446" cy="314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52E9-5552-6042-A5D2-2A8B8776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E7809F-B1D2-F7F4-4202-2481B40A11B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3B52D6-B691-EB96-B9F4-F058947C979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5B128-5A41-74F9-16C9-70AC06BB628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C4BC6-495D-9D7F-D643-0B29FE7A28F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통화정책과 신용창조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C9993C-6772-BAA2-E1FD-DC443142A1CF}"/>
              </a:ext>
            </a:extLst>
          </p:cNvPr>
          <p:cNvSpPr txBox="1"/>
          <p:nvPr/>
        </p:nvSpPr>
        <p:spPr>
          <a:xfrm>
            <a:off x="1080000" y="1671815"/>
            <a:ext cx="5189352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통화정책에서 중요한 것은 통화 공급과정의 신용창조 메커니즘임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신용창조는 일반적으로 은행이 예금과 대출 업무를 반복적으로 취급하는 과정에서 예금통화를 만들어내는 현상을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지급준비제도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핵심적 유동성 조절 수단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2EBE1F-7BFE-79EA-CF49-6022C13A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27BE53-6493-BC20-9655-730F71A1DA4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76E5D186-3B68-1257-A5E7-F31A64D52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250" y="1900014"/>
            <a:ext cx="5007224" cy="2881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A834F1-51CB-9E49-422A-A0D3870A279C}"/>
              </a:ext>
            </a:extLst>
          </p:cNvPr>
          <p:cNvSpPr txBox="1"/>
          <p:nvPr/>
        </p:nvSpPr>
        <p:spPr>
          <a:xfrm>
            <a:off x="6410809" y="4896730"/>
            <a:ext cx="4639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지급준비율</a:t>
            </a:r>
            <a:r>
              <a:rPr lang="en-US" alt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10%, </a:t>
            </a:r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민간의 화폐보유성향 </a:t>
            </a:r>
            <a:r>
              <a:rPr lang="en-US" alt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0%</a:t>
            </a:r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 가정</a:t>
            </a:r>
            <a:endParaRPr lang="en-US" altLang="ko-KR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통화량 </a:t>
            </a:r>
            <a:r>
              <a:rPr lang="en-US" alt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= 100/(1-0.9) = 1000</a:t>
            </a:r>
          </a:p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통화승수 </a:t>
            </a:r>
            <a:r>
              <a:rPr lang="en-US" alt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= 1000/100 = 10</a:t>
            </a:r>
            <a:endParaRPr lang="ko-KR" altLang="en-US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000EE6-8659-1ABD-196F-B8E609FEBC36}"/>
              </a:ext>
            </a:extLst>
          </p:cNvPr>
          <p:cNvSpPr/>
          <p:nvPr/>
        </p:nvSpPr>
        <p:spPr>
          <a:xfrm>
            <a:off x="7088863" y="2426329"/>
            <a:ext cx="561315" cy="5432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DD55A8A-2361-6C16-3889-5CC707BCF8D8}"/>
              </a:ext>
            </a:extLst>
          </p:cNvPr>
          <p:cNvCxnSpPr>
            <a:cxnSpLocks/>
          </p:cNvCxnSpPr>
          <p:nvPr/>
        </p:nvCxnSpPr>
        <p:spPr>
          <a:xfrm flipV="1">
            <a:off x="7650178" y="1591848"/>
            <a:ext cx="422498" cy="8344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5B3446-5FEA-65AB-0488-A466A32BB35D}"/>
              </a:ext>
            </a:extLst>
          </p:cNvPr>
          <p:cNvSpPr txBox="1"/>
          <p:nvPr/>
        </p:nvSpPr>
        <p:spPr>
          <a:xfrm>
            <a:off x="7650178" y="945517"/>
            <a:ext cx="3947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본원통화</a:t>
            </a:r>
            <a:r>
              <a:rPr lang="en-US" altLang="ko-KR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중앙은행 창구를 통해 공급되는 통화량의 원천이 되는 통화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E9E257-0897-DF60-43BA-7AD8A63DC364}"/>
              </a:ext>
            </a:extLst>
          </p:cNvPr>
          <p:cNvSpPr/>
          <p:nvPr/>
        </p:nvSpPr>
        <p:spPr>
          <a:xfrm>
            <a:off x="10629430" y="2969537"/>
            <a:ext cx="561315" cy="5432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399FCD-224B-A100-9CA6-F8B5068BC5EA}"/>
              </a:ext>
            </a:extLst>
          </p:cNvPr>
          <p:cNvSpPr/>
          <p:nvPr/>
        </p:nvSpPr>
        <p:spPr>
          <a:xfrm>
            <a:off x="10611702" y="4077433"/>
            <a:ext cx="561315" cy="5432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335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3519-456D-98D2-3618-4B9B0E8B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B73727B-35C4-3881-7638-B106667B546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E4FC62-5084-AD8D-2AF2-46FD4709E5D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45F66-6C43-FB74-42E4-AE564948325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E5B56-B04D-9F5A-CE4B-79C12FCC25F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금융 시스템의 구조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4961B5-1642-5C01-0057-00A8740CBB7D}"/>
              </a:ext>
            </a:extLst>
          </p:cNvPr>
          <p:cNvSpPr txBox="1"/>
          <p:nvPr/>
        </p:nvSpPr>
        <p:spPr>
          <a:xfrm>
            <a:off x="1080000" y="1671816"/>
            <a:ext cx="10800000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가계와 기업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가계는 주로 예금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보험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채권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주식 투자 등을 통해 자금을 공급하는 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순저축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주체이고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기업은 생산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투자 활동을 위해 자금을 차입하는 순수요 주체임 →  자금의 여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수요 관계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금융시장이 양자를 매개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기업의 예금을 받아 대출을 제공하면서 예금통화를 창출하는 핵심 주체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지급결제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신용중개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유동성 공급 기능을 수행함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지출을 통해 금융시스템에 영향을 미치며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국채 발행을 통해 자금을 조달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재정정책을 통해 총수요와 금융시장의 안정성에 간접적으로 작용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채권은 민간은행의 중요한 자산이자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중앙은행의 공개시장운영 수단이 됨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중앙은행</a:t>
            </a:r>
            <a:r>
              <a:rPr lang="en-US" altLang="ko-KR" sz="20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통화정책과 금융안정 정책을 담당하는 최종적 통화 발행기관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지급준비율 조정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정책금리 운영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공개시장조작 등을 통해 유동성을 관리함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12B38E-3972-5BBC-023F-30AE4EEAF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F734E9A-B4EF-94E5-C1DE-2C6E77E37E1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14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CEEF-D49B-E49C-E545-50F1D2F9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7E57AC-6E86-AD27-0EE2-1446C1EB545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1F068C-63E4-A678-9CEE-A28D45E03CB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36F499-DDEB-F7F0-93E3-FEE008F704C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EA165B-D71F-7776-2F55-E5170570B8D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86691B-248C-5961-09B5-682CC526607F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예금통화는 민간은행이 대출을 통해 창출하는 통화로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기업이 보유하는 요구불예금이 대표적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예금통화는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내 실질적 결제수단으로 사용되는 “은행예금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통화”라는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점에서 현대 통화체계의 중심임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(Reserves)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민간은행이 중앙은행에 보관하는 예금으로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지급준비율 제도에 의해 의무적으로 유지됨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지급준비금은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은행 간 결제 및 중앙은행의 통화정책 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기준금리 목표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기초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F4C518-233B-72B3-FA1F-3EFEF602D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84C59C2-F4A3-8649-FC08-F6C8F5786A3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89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6E7B-ED02-4456-87DD-785E9EB8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BBAA22B-BB88-1850-77ED-4709A2EA271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EB89B2-1301-BF1B-4B03-843B6F54963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3BF1C1-F74F-EC0F-8819-884EBED13BE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F76C8F-D904-A16D-E92A-0C16C7FE1F9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D3EFD4-3C19-EDA4-5D00-D6D464CDBF2D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예금통화는 민간은행이 대출을 통해 창출하는 통화로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기업이 보유하는 요구불예금이 대표적 → 경제 내 실질적 결제수단으로 사용되는 “은행예금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(Reserves)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민간은행이 중앙은행에 보관하는 예금으로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지급준비율 제도에 의해 의무적으로 유지됨 → 예금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대출이 발생할 때마다 지급준비금을 예치해야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지급준비금은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은행 간 결제 및 중앙은행의 통화정책 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기준금리 목표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기초가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56AADDD-903C-84BC-C2F0-65F42D718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431E36C-C2E2-AB30-1E44-F9685B897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69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E450-225B-A870-3C10-B0755CC5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B2A1841-7FA0-1DB0-47D5-7B47B2ECE8E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19C64E-778C-DED5-CA4C-B5461FB5CEA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FF5591-E076-115A-6326-DE98FEEB4F3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C77EC-4E77-294C-213F-21A5E3E68E1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5C67E-978E-C63C-7590-2601F0F290B1}"/>
              </a:ext>
            </a:extLst>
          </p:cNvPr>
          <p:cNvSpPr txBox="1"/>
          <p:nvPr/>
        </p:nvSpPr>
        <p:spPr>
          <a:xfrm>
            <a:off x="1080000" y="1671816"/>
            <a:ext cx="10800000" cy="434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M1(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협의통화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현금통화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유통 중 화폐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요구불예금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수시입출식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저축성예금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즉시 결제에 사용할 수 있는 “가장 유동성이 높은 통화”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단기적인 유동성 지표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통화승수 및 단기 금융정책 효과를 측정할 때 활용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M2(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광의통화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M1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정기예금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적립식 예금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기타 저축성예금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비거래성 예금 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내 민간부문이 보유한 “일반적 유동성 자산”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한국은행이 통화정책 지표로 가장 중시하는 대표적 통화량 지표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금융자산이 비교적 단순한 한국에서는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총통화량의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대표 지표로 쓰임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37A3EBE-D990-21B1-BB14-922D4A321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F034C72-2AAC-D001-3181-C5F8B62590C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850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6503-4BE3-20CA-2FC5-E5523D14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DA5A30-8B26-FC3C-E87A-2430322CEC4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D497C4-BDBA-D235-3C05-2F10638385B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92DA56-A1D5-7CF3-270C-5D3201F24C6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A128A-978B-14AE-5C83-DB10A5E019FF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448C0-CB48-D7E0-A90D-6D8CFE6F89A4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Lf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광의유동성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M2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금융기관이 발행한 양도성예금증서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(CD),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표지어음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환매조건부채권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(RP),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기업어음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(CP)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단기금융상품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단기 금융시장에서 신속히 현금화 가능한 유동성 자산까지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실물경제보다 금융시장의 자금흐름과 밀접하게 연계된 지표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L 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총유동성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Lf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회사채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수익증권 등 장기성 금융상품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내에서 화폐와 거의 동일하게 취급할 수 있는 모든 금융자산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가장 광범위한 유동성 지표로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금융시장의 구조적 변화를 파악할 때 유용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234C53E-2552-D6E8-460B-BC3E17D3E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F3C3FEB-89DE-38CF-EEE6-5A8C93E345B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226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AA23-DC2A-4C1A-5D8F-A2F52D58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830237B-320F-B994-78F5-214057E88E6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564306-DC17-8C82-0832-A35C021A427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D2A260-2099-FF8E-C805-A33ECFD0810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8E539-FD86-1D03-A210-8A5A3A5241A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28C47D4-8FC1-1FE3-7634-322F6A1E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0589BC6-2CCB-B1CA-D436-C44B77EE825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4CE271-1DA0-EDEA-9061-3D984EBDA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53" y="1900623"/>
            <a:ext cx="5523391" cy="3682260"/>
          </a:xfrm>
          <a:prstGeom prst="rect">
            <a:avLst/>
          </a:prstGeom>
        </p:spPr>
      </p:pic>
      <p:pic>
        <p:nvPicPr>
          <p:cNvPr id="5" name="그림 4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09A581-297C-683C-D934-3F6CC43DE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58" y="1852963"/>
            <a:ext cx="5523390" cy="368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1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E7DF-DE19-1A98-19E1-2BEAAF5A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EC4821B-7CD9-9C53-0E68-0F5CAA7E062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71D5E6B-2DFB-48CA-EC88-BD7D7B65517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F032D-D643-7658-777D-6AA9DE1AF65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E4342-B9D8-8AA3-85E7-1568E94DE1F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785726-7FE7-6B46-5EC0-D3EF5B82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78EA48E-DB06-FC90-CE14-12CA9B8F7F4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A5BA55-2F88-F680-C722-F730276A8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71" y="1880528"/>
            <a:ext cx="5355771" cy="3570514"/>
          </a:xfrm>
          <a:prstGeom prst="rect">
            <a:avLst/>
          </a:prstGeom>
        </p:spPr>
      </p:pic>
      <p:pic>
        <p:nvPicPr>
          <p:cNvPr id="7" name="그림 6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54D007-2C23-6423-59AF-98C24EE96C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80528"/>
            <a:ext cx="5355770" cy="357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529B-5B6B-37D2-9577-D041610A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012FF2-81F1-DC82-E19E-65451FE176D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4EB8B2-B793-3238-7801-847B66E2667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F556F3-7E56-7BE8-7BA7-68E27CD597C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B398E3-34E1-1374-003E-AF7C9B7FD3A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통화의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B4FBDBC-30E3-8480-4FB7-447324962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2629904-1D15-E1BA-7B4A-913F424E521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35FE9B-D7DA-1EB0-73B1-721EF36C0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42" y="1809117"/>
            <a:ext cx="5633358" cy="3755572"/>
          </a:xfrm>
          <a:prstGeom prst="rect">
            <a:avLst/>
          </a:prstGeom>
        </p:spPr>
      </p:pic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CCC07C-8332-139F-2BE3-2439D4026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740117"/>
            <a:ext cx="5784000" cy="38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87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1BE6-9961-0A6C-D3B4-70F17A28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49C9A5-6364-1244-A3D7-54F149D3B2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8CE68E-E1A5-F53F-A179-306A2B46610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EB3E34-0CB3-136B-42B4-A646BCD326F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61A77D-01D9-ACC5-FE44-34C7DF876DC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재정정책과 통화정책의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79242F-BA44-A35F-77B0-035E8D0D4A96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정부예금잔고 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순대출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감소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본원통화 감소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통화량 감소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정부예금잔고 감소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순대출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본원통화 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통화량 증가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세금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 징수 → 납부자 예금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 감소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 증가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민간은행은 정부예금 계좌로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 이체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 지급준비금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 감소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 지급준비금 감소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본원통화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민간현금보유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민간은행 지급준비금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감소 → 통화량 감소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4528CD8-F65C-F9CE-C207-2CE198DD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F70158-FC03-8757-B9C0-9D39411362E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663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F864F-FF0B-69E9-C485-ADA5E2ED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A510417-81A3-8DDD-45D1-F62C1125576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234FB6-5180-242F-74B6-92024C33BA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003A69-A55F-F618-FA5C-B65C8D2A2FD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16942-8FA5-C3EE-A804-9721A52F946C}"/>
              </a:ext>
            </a:extLst>
          </p:cNvPr>
          <p:cNvSpPr txBox="1"/>
          <p:nvPr/>
        </p:nvSpPr>
        <p:spPr>
          <a:xfrm>
            <a:off x="1235998" y="757300"/>
            <a:ext cx="6558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현대화폐이론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(Modern Monetary Theory)(1)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F0DD3-1D54-9E89-D8E0-F967BC104423}"/>
              </a:ext>
            </a:extLst>
          </p:cNvPr>
          <p:cNvSpPr txBox="1"/>
          <p:nvPr/>
        </p:nvSpPr>
        <p:spPr>
          <a:xfrm>
            <a:off x="1080000" y="1671816"/>
            <a:ext cx="108000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MMT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포스트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케인스학파를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중심으로 발전한 새로운 거시경제 접근법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정부는 통화를 발행하는 주체이므로 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기업과 달리 “예산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제약”에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묶이지 않음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재정지출의 제약 요인은 세수나 국가채무가 아니라 인플레이션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적자는 민간 부문의 순자산을 형성하며 반드시 “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문제”가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완전고용 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공공서비스 확대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그린뉴딜 등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확장적 재정정책 정당화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559C693-BC0D-DD38-D85C-5E1D888EA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4398D27-6156-20DE-0120-09AA7129A8B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449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5EBE-86DB-F378-C661-104F9BCC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429545-4156-1A7E-4267-4D72EDF5C4E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235DF3-D96D-F971-0DDB-F20ED71E414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1653F6-3F06-8607-B23F-76998E88971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4A002-81F2-F1C2-C88E-C7A587D1B940}"/>
              </a:ext>
            </a:extLst>
          </p:cNvPr>
          <p:cNvSpPr txBox="1"/>
          <p:nvPr/>
        </p:nvSpPr>
        <p:spPr>
          <a:xfrm>
            <a:off x="1235998" y="757300"/>
            <a:ext cx="6558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현대화폐이론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(Modern Monetary Theory)(2)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9622ECB-6A2D-932C-CA7B-0C38DFCC3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7AC1867-8F44-E57D-E7C1-17B26AC32A6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5E89358-B866-EF59-13D9-41C5750B8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65585"/>
              </p:ext>
            </p:extLst>
          </p:nvPr>
        </p:nvGraphicFramePr>
        <p:xfrm>
          <a:off x="1004048" y="1821745"/>
          <a:ext cx="10515600" cy="3688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34380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67057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주류경제학 주장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MMT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의 반론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11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① 정부는 가계처럼 예산을 운영해야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정부는 통화 발행권 보유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세금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채무가 지출의 제약이 아님 → 정부는 지급준비금을 늘려 지출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파산 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x)</a:t>
                      </a:r>
                      <a:endParaRPr lang="ko-KR" altLang="en-US" sz="20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42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② 재정적자는 과도 지출의 증거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재정적자는 경기순환 안정화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민간자산 확대 수단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178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③ 재정적자는 미래세대 부담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정부부채는 화폐의 다른 형태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미래세대가 상속받는 자산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52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④ 구축효과로 성장 저해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중앙은행과 조율 시 금리 관리 가능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투자의 </a:t>
                      </a:r>
                      <a:r>
                        <a:rPr lang="en-US" altLang="ko-KR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crowding-out </a:t>
                      </a: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효과는 과장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36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⑤ 재정적자는 해외 의존 심화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자국통화 발행 국가는 대외적 파산 위험이 제한적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676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⑥ 복지 확대는 재정위기 초래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문제는 재정건전성보다 인플레이션 관리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14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330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1903</Words>
  <Application>Microsoft Office PowerPoint</Application>
  <PresentationFormat>와이드스크린</PresentationFormat>
  <Paragraphs>231</Paragraphs>
  <Slides>25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506</cp:revision>
  <dcterms:created xsi:type="dcterms:W3CDTF">2025-03-10T02:54:00Z</dcterms:created>
  <dcterms:modified xsi:type="dcterms:W3CDTF">2025-09-29T12:54:15Z</dcterms:modified>
</cp:coreProperties>
</file>