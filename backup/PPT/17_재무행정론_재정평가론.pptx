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289" r:id="rId3"/>
    <p:sldId id="521" r:id="rId4"/>
    <p:sldId id="522" r:id="rId5"/>
    <p:sldId id="523" r:id="rId6"/>
    <p:sldId id="524" r:id="rId7"/>
    <p:sldId id="525" r:id="rId8"/>
    <p:sldId id="526" r:id="rId9"/>
    <p:sldId id="527" r:id="rId10"/>
    <p:sldId id="528" r:id="rId11"/>
    <p:sldId id="530" r:id="rId12"/>
    <p:sldId id="529" r:id="rId13"/>
    <p:sldId id="531" r:id="rId14"/>
    <p:sldId id="532" r:id="rId15"/>
    <p:sldId id="533" r:id="rId16"/>
    <p:sldId id="536" r:id="rId17"/>
    <p:sldId id="534" r:id="rId18"/>
    <p:sldId id="538" r:id="rId19"/>
    <p:sldId id="539" r:id="rId20"/>
    <p:sldId id="540" r:id="rId21"/>
    <p:sldId id="542" r:id="rId22"/>
    <p:sldId id="541" r:id="rId23"/>
    <p:sldId id="544" r:id="rId24"/>
    <p:sldId id="545" r:id="rId25"/>
    <p:sldId id="543" r:id="rId26"/>
    <p:sldId id="546" r:id="rId27"/>
    <p:sldId id="547" r:id="rId28"/>
    <p:sldId id="548" r:id="rId29"/>
    <p:sldId id="258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6" autoAdjust="0"/>
    <p:restoredTop sz="94737"/>
  </p:normalViewPr>
  <p:slideViewPr>
    <p:cSldViewPr snapToGrid="0">
      <p:cViewPr>
        <p:scale>
          <a:sx n="100" d="100"/>
          <a:sy n="100" d="100"/>
        </p:scale>
        <p:origin x="106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재정관련 사업 분석은 사전적 분석으로서 사업분석과 사후적 평가로서 사업평가로 구분할 수 있음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조망적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(anticipatory analysis)/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회고적 검토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(retrospective examination)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(program 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예산을 편성하기 위해 어떤 사업을 추진할 것인지를 사전에 분석하는 것을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(program evaluation)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사업결정이 이뤄지고 난 후 사업의 집행이나 집행 결과를 검토하기 위한 사후적 검토를 의미함 → 사업분석은 비용편익분석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예비타당성 조사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사업평가는 재정성과관리제도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C8500-C95C-F228-9FFD-B705D1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F8286E-49F4-2AC1-2D39-E94390EE40C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144605-C167-07BD-99B3-9FF9895786B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555C2-1DFA-F6BC-C0DD-08136A9DD2E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D6244-2DBF-1086-30C9-A5511F2DB810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E70D2F-8643-B5F9-FC0D-F96DA3401AD7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재정성과관리는 성과를 중심으로 재정을 운용하고 그 결과를 평가해 다음 예산편성에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환류시키는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관리방법을 의미함 → 재정배분의 효율성 제고와 책임성 확보를 목표로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성과중심의 재정체계는 재정운용 조직의 자율성과 책임성을 강화하며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사전적 통제보다는 성과평가에 근거한 사후적 평가에 초점을 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결국 성과중심의 재정체계는 재정 운용의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투입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패러다임에서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패러다임으로의 전환을 의미하는 것이라고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47E302-8BDD-FD1F-BC73-4B1E0DD66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347B896-F340-1F45-01EE-655CD5AFC02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00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A9BD-E554-C2FF-D1C0-95FC81D2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945507B-FB18-531A-E06B-787A162B584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8EF978-4997-89A3-ECFE-C0D8223A25E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B2796B-7B7E-1736-0D4F-65AF3020758A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41F35-98A7-1F55-0BC5-87E7B30B4F87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21ED43-78AE-9FFE-F23B-E7920471F21B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우리나라 성과관리제도는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시행된 정부업무평가기본법에 의한 정부업무평가 제도와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년부터 시행된 국가재정법에 의한 재정성과관리제도의 이원적 형태로 운영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정부업무 평가제도는 국정 운영의 능률성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효과성 및 책임성을 확보하기 위하여 평가대상 기관이 행하는 정책 등을 평가하는 제도를 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평가대상 기관은 중앙행정기관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지방자치단체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중앙행정기관과 지방자치단체의 소속기관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공공기관이며 중앙행정기관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지방자치단체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공공기관 평가는 각각 나누어서 실시함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1EA6BEE-64B0-3D44-E85C-4F23340B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1250174-120E-D9D5-EB54-BD1F4B28CFE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99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CF21-873C-394B-BF7B-792EA796C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485DB0C-9A39-C820-B2AA-37468A33096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19B9E2-BB28-B299-D695-FD0934A7B90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5004E-99DC-211A-B92A-71ED43117142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E68C0F-394C-1193-63C0-8800C0B718A4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A33B45-FB1D-9843-B8A0-0530EBCA9266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중앙행정기관 평가는 국무총리가 중앙행정기관 대상으로 주요사업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현안시책 등 평가하는 특정평가와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중앙행정기관이 소관정책 등을 스스로 평가하는 자체평가로 나뉨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지방자치단체 평가도 행정안전부 장관이 관계중앙행정기관장과 합동으로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국가위임사무등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평가하는 합동평가와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지방자치단체장 책임하에 고유사무 전반을 평가하는 자체평가로 나뉨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공공기관 평가는 개별법에 의하여 이루어지며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기획재정부 장관 등이 공공기관 경영성과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정부출연연구기관 연구성과 등을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준정부기관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지방공기업 평가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5B1C112-FDE3-BC3A-CBDE-F2DB11A1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97D0EE-4584-EFD7-5496-6DBF9D76E32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52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A46B-EAE3-B9E3-1CAB-E736C0DE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EA7474A-5E8C-146E-F87D-AA804E1E6A0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C074E7-FD89-E602-D08A-66307248A4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87C09A-896F-76EB-FD94-EF3899B8AA12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BEDF9-6AED-AD60-8840-69901172DB0C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258069-0BA8-C26F-7959-710BD0678347}"/>
              </a:ext>
            </a:extLst>
          </p:cNvPr>
          <p:cNvSpPr txBox="1"/>
          <p:nvPr/>
        </p:nvSpPr>
        <p:spPr>
          <a:xfrm>
            <a:off x="1080000" y="1671816"/>
            <a:ext cx="10800000" cy="4378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 간 협업을 중점 평가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중앙행정기관의 협업 노력 및 성과를 평가에 중점 반영하여 기관 간 칸막이를 해소하고 정부 내 협업 확산 독려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정부업무평가의 타당성 및 수용성 제고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기관별 규모 등 상이한 특성을 고려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보다 유연한 평가기준을 적용하여 평가 타당성과 수용성 제고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결과 환류를 통한 정책개선 기여 확대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특정평가는 기관종합 등급 없이 부문별 평가결과만 도출하여 지나친 기관 서열화를 방지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아울러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우수기관 독려 및 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정책환류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기능 강화를 통해 정부 내 사기 진작 및 실질적 정책개선 도모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평가제도의 효율적 운영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관리를 통해 피평가기관의 부담 완화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피평가기관의 부담완화를 위해 평가제도를 합리적으로 설계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운영하고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각종 평가제도 간 유사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중복이 없도록 개별평가 점검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관리 지속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90326D7-FD48-AA1B-E88F-21A287F66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8C1A3B1-344B-9420-293E-8D621A54B22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0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569E-6C2B-1D4E-B281-012A12B5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58323E-FFC0-C9D2-9B17-4196CCCDC16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B30E51-F475-AC7A-2767-EA2964F4551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2411A-9EA3-A50F-1B7B-BE02F6AC562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FEC971-7C04-02EF-7C72-8B2BE24AA3C9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20507-6D5A-D290-584C-872F5C2A03E7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자체평가는 중앙행정기관이 소관 정책 등을 스스로 평가하는 것을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중앙행정기관장은 정부업무평가 시행계획을 기초로 하여 자체평가의 대상이 되는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 업무 등을 스스로 선정함 → 기관의 임무를 달성하기 위한 기본적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필수적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 연도의 성과목표를 달성하기 위한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자체평가 결과와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등의 연계를 위해 필요한 정책 등을 포함함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중앙행정기관 장은 매년 자체평가 계획을 수립해야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임무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전략목표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주요정책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평가의 기본방향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자체평가 대상 및 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결과 활용 등을 포함해야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FBCD93-5952-0168-C397-A7A93C9C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57584C-B0FC-32EC-DCC3-A9220C3AAC4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12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9D2-2799-7C98-4923-D2C038C52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438205-8685-3DA1-5C12-B13585109ED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210C7E-39B1-63F5-41A5-AEC4E790F2C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DC7B8-362C-C829-B49B-070CA31A8347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CBAAE-0DE3-EDE1-8431-8F0A415A3C21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23BC239-91D7-97FA-5241-13184076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6C4C827-6237-CBDF-227F-448B312F3EE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4FBB2AE-6844-E6DC-BE08-A4288FA0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98" t="12186" r="20301" b="45377"/>
          <a:stretch>
            <a:fillRect/>
          </a:stretch>
        </p:blipFill>
        <p:spPr>
          <a:xfrm>
            <a:off x="1004048" y="1435253"/>
            <a:ext cx="3519949" cy="45300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B30374-5255-F7F7-2190-FA89F1A8B1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50" t="28387" r="24544" b="27742"/>
          <a:stretch>
            <a:fillRect/>
          </a:stretch>
        </p:blipFill>
        <p:spPr>
          <a:xfrm>
            <a:off x="4646664" y="1413683"/>
            <a:ext cx="3242648" cy="45515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E01257-B5BC-B6E3-B459-2EA7C398B1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48" t="47311" r="23046" b="9248"/>
          <a:stretch>
            <a:fillRect/>
          </a:stretch>
        </p:blipFill>
        <p:spPr>
          <a:xfrm>
            <a:off x="8011980" y="1460312"/>
            <a:ext cx="3242647" cy="450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1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6EDA-AE51-3AF8-2A8C-01DB0A63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7D8EFA7-9A6F-EAAA-56CC-70C316C3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96" t="52222" r="23163" b="5972"/>
          <a:stretch>
            <a:fillRect/>
          </a:stretch>
        </p:blipFill>
        <p:spPr>
          <a:xfrm>
            <a:off x="7810499" y="1346465"/>
            <a:ext cx="3552825" cy="4731847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CFCC22-FADA-E852-1EC8-FA6C3C0085C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242F0B-D20A-0342-7146-B9C0A7B8913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B3621-C36F-0E20-3E46-F649C57988A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A224C-C70D-4AB0-08D2-AA7BA20F53FE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FBBF320-495E-3ED4-CD34-BAD39EA75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CD8DB31-21BE-6319-E3A6-87D5FF6BF50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4EC5BAE-E5F1-3160-079F-D742DC228B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196" t="27083" r="23163" b="25972"/>
          <a:stretch>
            <a:fillRect/>
          </a:stretch>
        </p:blipFill>
        <p:spPr>
          <a:xfrm>
            <a:off x="1228725" y="1234996"/>
            <a:ext cx="3233738" cy="48362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8DB00BF-94B8-AE7A-31C6-9E3175BE1A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56" t="16250" r="23889" b="38195"/>
          <a:stretch>
            <a:fillRect/>
          </a:stretch>
        </p:blipFill>
        <p:spPr>
          <a:xfrm>
            <a:off x="4591049" y="1304777"/>
            <a:ext cx="3009902" cy="465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62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2D6D-0427-089E-45F9-00F444C4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F7BE5F7-1912-5FFC-C325-C1C69348F6E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88691B-7B8E-E4C0-7283-E62B21194EA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DBBB50-05C3-CB53-BD65-4445C42F3F4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1F0A9-4AC4-08BA-8C9B-C88B3B09FC86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5E83B-46C8-2A5F-8F60-A814985F6006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특정평가는 국무총리가 중앙행정기관을 대상으로 국정을 통합적으로 관리하기 위해 필요한 정책 등을 평가하는 것을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특정평가는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이상의 중앙행정기관 관련 시책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주요 현안시책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혁신관리 대상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 중앙행정기관이 공통적으로 추진해야 하는 시책으로 지속적 관리가 필요한 부문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사회적 파급효과가 큰 국 가의 주요사업으로서 특별한 관리가 필요한 부문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 또는 정책 등의 추진에 대한 국민의 만족도를 측정하는 부분 등으로 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국무총리는 특정평가의 기본 방향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평가대상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결과의 활용 등에 대한 계획을 수립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3235342-7FC9-6AD5-80DA-15374AC7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59C0FE6-05D8-857C-B464-9514E2C061F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465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38AF-8D46-6F01-A94B-D5559D9E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931D4B8-E693-2E6C-963E-93A97A944EF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DA5E4-0453-02F8-7565-03AA1DFEB5D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5669E5-1ADE-9B45-B4D8-8A43DAC2F4F0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AFDAD-C34D-EAC6-57E9-EF6AD0888A72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8D301CF-ACDB-1A54-45AF-1AE11B5F0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81D3B1D-5F10-622B-C25D-C01967BB4B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BFBC68C-D59D-E2BF-DCEE-6CB7188AB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5" t="36806" r="3097" b="35833"/>
          <a:stretch>
            <a:fillRect/>
          </a:stretch>
        </p:blipFill>
        <p:spPr>
          <a:xfrm>
            <a:off x="1847850" y="1365859"/>
            <a:ext cx="8801100" cy="438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9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7E70-AD7B-520C-60B1-A4EE551C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C44D53-1900-A191-C9B0-8C2D34C59BC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860EA5-072A-E06D-2F4F-958A321EF00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E6083-93BB-9A48-6125-56BF34D0F5B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72365B-02FD-628F-0159-E83B342FA2A7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719065F-76CE-46E1-E289-F7E1C582E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1C267C2-641E-D4EF-F923-016A33C8B11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18FE220-2EB7-DEEE-7893-ED212037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62" t="37917" r="18328" b="8611"/>
          <a:stretch>
            <a:fillRect/>
          </a:stretch>
        </p:blipFill>
        <p:spPr>
          <a:xfrm>
            <a:off x="1080000" y="1280520"/>
            <a:ext cx="3282450" cy="47509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F906E3-79E1-E1B4-E51E-0993FB3EF9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29" t="34584" r="19537" b="13333"/>
          <a:stretch>
            <a:fillRect/>
          </a:stretch>
        </p:blipFill>
        <p:spPr>
          <a:xfrm>
            <a:off x="4582662" y="1492082"/>
            <a:ext cx="3026676" cy="44163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C7482B-C7DA-70DF-0658-B5C4FCC152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603" t="29862" r="16683" b="17639"/>
          <a:stretch>
            <a:fillRect/>
          </a:stretch>
        </p:blipFill>
        <p:spPr>
          <a:xfrm>
            <a:off x="7715249" y="1595661"/>
            <a:ext cx="3026676" cy="420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3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8F36-3601-B630-52EB-0E3D701A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496579FA-BF15-5AF0-A557-34AAA07D7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41B34B9-4493-C411-3E80-7443363F57F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698A0F-1FE7-7EC7-023F-E265A1EA847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D0F58-C4F7-FD5D-FB85-1F6C0BDE2EA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D514-E73C-2FCC-D1AD-2E0E21325146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정부업무 평가제도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B33244-C108-F55A-95D2-8D94D1A8175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CB793269-428E-C314-C594-D24E12F3A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48" t="24722" r="12526" b="11115"/>
          <a:stretch>
            <a:fillRect/>
          </a:stretch>
        </p:blipFill>
        <p:spPr>
          <a:xfrm>
            <a:off x="1235998" y="1409703"/>
            <a:ext cx="3038475" cy="44002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22EAB1-93E5-271B-3449-E0626D77C9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17" t="26667" r="11559" b="7215"/>
          <a:stretch>
            <a:fillRect/>
          </a:stretch>
        </p:blipFill>
        <p:spPr>
          <a:xfrm>
            <a:off x="4576762" y="1464075"/>
            <a:ext cx="3038475" cy="45343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F17F53-DB16-57D9-4417-174F7291B8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15" t="31810" r="11437" b="4027"/>
          <a:stretch>
            <a:fillRect/>
          </a:stretch>
        </p:blipFill>
        <p:spPr>
          <a:xfrm>
            <a:off x="7798465" y="1476557"/>
            <a:ext cx="3157537" cy="440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0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E1A78-C366-F0A8-BF45-5734CEC2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7CA894A-9F13-D32E-4C4B-42B68B32AC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D4D1A7-C1D1-D534-15B5-3041EF73C26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4659B-1297-9BDF-AF10-0DA769D451B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3E2A7D-2745-1FEF-3709-672BB47006CE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4965A-9A6E-6216-0587-32951B590A3F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 중앙관서의 장과 기금관리 주체는 재정활동의 성과관리 체계를 구축하여야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예산요구서와 기금운용계획안을 제출할 때 다음연도 성과계획서와 전년도 성과보고서를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기재부장관에게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제출하도록 되어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성과계획서는 예산안의 첨부서류로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성과보고서는 결산보고서의 하나로 국회에 제출됨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재정성과 관리제도는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재정성과 목표관리제도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자율평가제도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심층평가제도의 세가지 형태로 운영되고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AC79577-1934-5C22-6148-1957FD92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3031628-31FF-BA0A-5F56-75E6D674B6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08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6AAD-AA39-126C-4748-2AFEB71A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3CB720-4EC5-F246-BD54-7FC0658A031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A81112-9826-9377-6CA4-D6390AF7432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CDF2EA-E089-C3A2-36EB-ED877F2F548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3A6778-D57C-D8D9-5349-97CA3659F57D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D9D311-E0CF-73DE-A685-CCC5C1BDC6CD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재정성과 목표관리제도는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년에 도입되었으며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기관별 성과계획서와 성과 보고서를 통해 설정된 성과목표와 성과지표의 달성여부를 모니터링함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자율평가 제도는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도입되었으며 매년 사업부처가 소관 재정사업을 자율적으로 평가하고 평가 결과를 재정운용에 활용하는 제도임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미흡시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삭감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심층평가 제도는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도입되었으며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기재부가 주요 재정사업의 추진 과정과 성과를 객관적으로 점검하고 성과에 영향을 미치는 원인을 분석하여 효율적인 사업 추진방안을 도출함으로써 성과를 제고하는 것을 목적으로 하는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A4AC61D-8909-3307-8DCC-D6C2B3C4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F23816-B27B-ED12-EF7F-F946773A5D3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549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F7AF-BFDA-746A-4A3B-7136DD0A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C9C5680-5E24-021A-868C-5A2D5F396BC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504F9F-2C39-7C51-AFD2-A27D13DA535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B0F25-521F-ECF5-7C17-AC3B1EEC363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2CB5AD-73BF-194A-E4BB-1759ADCA6A82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3A8D67-824E-7577-B406-FA1218ED6F67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국고보조사업 운용평가제도는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도입되어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2016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년부터 보조사업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일몰제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 시행되면서 국고보조사업 연장평가 제도로 제도명이 변경됨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국고보조사업 연장평가는 보조사업 중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존속 기간의 종료 및 연장 기간의 종료가 도래하는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을 그 대상으로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년마다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평가를 받음 → 평가에서는 보조사업의 타당성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보조사업 관리의 적정성을 평가함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평가결과는 정상 추진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즉시 폐지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단계적 폐지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통폐합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감축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사업방식 변경의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 유형으로 분류되어 차년도 예산안과 함께 국회에 제출됨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E78F402-F1A8-A05D-C8A1-2F3FBED2F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7CA42C-C95B-BFC3-FDA6-FF42B438173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773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02C1-F63A-DD6D-61AE-BC2E40BB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81622C9-DE45-0C29-9E87-212AC39962E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3A5EF8-FA85-8951-9256-3BC0FDD0A52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EE230D-0522-8C86-3534-3AF94C0BA94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4F25BD-DD19-8128-286C-690965F1A8FC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688CCB5-DF20-669E-D616-1FA38A85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590D12-B3FB-360F-D9B0-561E4EBBAF4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7601AA37-0779-F570-B9C5-7A04405EB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198" y="1523674"/>
            <a:ext cx="9260552" cy="416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03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B17A-7FFA-B567-15D2-DB9293C6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D2C78-E1A8-0682-B0FD-06F5B59507D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A4FDA4-7599-E59D-F68F-F9ABF2635AE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F785FE-0BDF-7335-8F17-A6C0F7275AF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582A07-95FB-7181-CE96-00579A436BA3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9E14E5-FB9F-BE72-7046-4888B72EC3EF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재정성과 목표관리제도는 성과계획서와 성과보고서의 작성 및 제출을 중심으로 운용되는 제도임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성과계획서는 국가재정법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성과보고서는 국가회계법에 따라 운영됨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2003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시범도입 이후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모든 부처에 도입됨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성과계획서는 중앙관서 및 기금관리 주체의 전략 목표 및 성과목표를 달성하기 위한 연도별 시행계획임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성과계획서는 각 중앙관서별 임무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비전과 이를 달성하기 위한 전략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프로그램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단위사업 및 이를 측정할 수 있는 성과지표 및 목표치를 설정하는 체계로 구성됨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 목표관리제도와 프로그램 예산체계를 결합한 구조임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AADAD83-13A2-5602-9150-343A9B455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D15A801-D145-5958-6346-273B7DEAEF7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313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E3A4B-6C84-BB1D-9903-1CABCE1A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F32F22-6DED-2A5F-6D1B-6D89F1C6D6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4D7EC0-2584-75D1-B5D7-33AA5863CB8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1F4DD-9C1F-E672-FCC6-5EC2C3E8ECF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C32BB2-528B-EA70-2BE3-61809BB17D6D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D3699-E6FE-09C1-D8D1-81FD181C0ECB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임무는 해당 기관의 존재이유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와 주요 기능을 포괄할 수 있는 내용으로 설정하고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기관의 설립 근거를 고려하여 국민들이 체감할 수 있는 목표지향적 내용으로 설정해야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비전은 임무 달성을 통해 이루고자 하는 바람직한 미래상으로 조직 현황에 대한 이해를 바탕으로 성과관리를 통해 구현 가능한 내용을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전략목표는 국정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기관의 임무와 비전을 감안하여 해당 기관이 중점적으로 지향하거나 추진해야 할 정책방향으로 향후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동안 성과의 개선 수준을 확인할 수 있도록 명확해야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국가의 장기계획 또는 법령의 중장기계획을 반영해야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75AAC1E-A22A-75DE-C3F2-F0E840DC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1A2E4CD-EEBB-7CBF-31DA-E62E5CAC6E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82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985F-DB1D-6EA9-E0A8-69E67058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6140EF9-C844-E45F-7586-B55ECF1E92A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B1773A-C983-1ABA-4DCB-0CEE7AD303D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B63531-565A-6CDA-9110-EBC454311D8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44E473-DA63-757D-0921-3E5A7842AE53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790521-828E-975B-90E3-34503AE6A355}"/>
              </a:ext>
            </a:extLst>
          </p:cNvPr>
          <p:cNvSpPr txBox="1"/>
          <p:nvPr/>
        </p:nvSpPr>
        <p:spPr>
          <a:xfrm>
            <a:off x="1080000" y="1671816"/>
            <a:ext cx="5577975" cy="4255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프로그램 목표는 전략목표와 프로그램 목표 간 또는 프로그램 목표와 단위사업 간 연계성이 확보될 수 있도록 해야 하고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가급적 업무의 최종적 효과가 파악되도록 결과 지향적이어야 함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단위사업은 업무 추진 및 향후 성과 측정이 대상이 되고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코드상 단위사업과 일치되는 개념임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모든 예산과 기금의 단위사업별로 설정하 되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인건비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기본경비 등으로만 편성된 단위사업은 성과관리의 실익이 적으므로 성과관리 대상에서 제외함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9DAD443-FD15-7BC6-3AFC-C8856814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C94374D-F4F9-87E7-112D-0421CD89505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60D0CDAD-5AF4-1B03-F249-19F62A92E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205" y="1821516"/>
            <a:ext cx="4452398" cy="364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8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2D8AD-3EF0-0E70-A128-C3F78148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9190FF5-ABE4-C99F-8834-801FCA0655F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D74C45-A297-E002-C070-E79B610D8EA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E4E734-009C-1457-5D78-05C6072490B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D9633-90CB-87DE-B8EB-C4652B252E2D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CFB33-49FD-28C3-64E3-D596736A0C72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성과지표는 프로그램 목표 또는 단위사업이 추구하는 목적 달성 여부를 측정하는 도구로서 대표성과 포괄성을 유지하도록 설정함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성과지표는 목표 달성도를 정확히 측정할 수 있도록 가능한 정량적으로 측정하되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궁극적인 효과를 측정할 수 있는 결과지표 위주로 설정하고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결과지표의 설정이 어려운 경우 과정지표와 산출지표를 병행해서 사용함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성과지표의 목표치는 중장기 추진계획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유사사업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국제 수준과의 비교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과거 추세치 등을 고려하여 </a:t>
            </a:r>
            <a:r>
              <a:rPr lang="ko-KR" altLang="en-US" sz="2400" strike="sngStrike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겉보기에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도전적으로 설정해야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F38D485-A35C-7492-A027-FDD085DF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5388DC-B011-D531-9E9C-0174EA85F2F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50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552F-BDBE-DA67-0AE0-4C9095D8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EC8516E-FC34-67D2-A399-6DCBBCD28F5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F48307-1857-D065-B0EC-DDA8C26DE56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BED8A6-BE94-CA4A-AE5F-BA88944206C0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0AF25-3292-5050-071E-AE070BC12426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5F9EA3-14DE-675A-5D1D-C1D0AB4B9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380DDD-ACAC-7F1D-512A-E949D5BFAB5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09824AF-D276-C0F1-AF42-850BC44B1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46" t="12083" r="22680" b="43472"/>
          <a:stretch>
            <a:fillRect/>
          </a:stretch>
        </p:blipFill>
        <p:spPr>
          <a:xfrm>
            <a:off x="1080000" y="1317819"/>
            <a:ext cx="3400425" cy="465014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89A368A-BD52-5711-1F5D-62054F8F52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87" t="30833" r="24131" b="27084"/>
          <a:stretch>
            <a:fillRect/>
          </a:stretch>
        </p:blipFill>
        <p:spPr>
          <a:xfrm>
            <a:off x="4600574" y="1432554"/>
            <a:ext cx="3314701" cy="44244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99EBED-B766-0A12-179F-D6E907486E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86" t="49647" r="21971" b="20875"/>
          <a:stretch>
            <a:fillRect/>
          </a:stretch>
        </p:blipFill>
        <p:spPr>
          <a:xfrm>
            <a:off x="8035424" y="1724554"/>
            <a:ext cx="3926791" cy="364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63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D05A-C6A7-74C7-627E-4B5E1A77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CA0BAE3-8014-B71C-E3D4-1DDAEBDA7A4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37CC76-537E-DC22-9610-34C575C6220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75EEE3-FCB2-7858-422F-61704EC0F0E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E9932-7430-AA0F-FAAE-B8E082B929B9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3C7B5-4300-8454-A727-270803EF22E9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자율평가제도는 미국의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PART(Program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Assessment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Rating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Tool)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제도를 참고해서 도입한 것으로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2005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도입됨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주관부처가 해당 사업에 대해 자율평가 하고 기재부가 확인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점검하여 그 결과를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편성 등 재정운용에 활용하고 미흡한 점에 대해서 각 부처에 제도 개선을 권고하여 재정사업의 효율화를 도모하는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평가대상은 원칙적으로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기금이 투입되는 모든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단위사업이 기준임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다만 평가 중복 최소화를 위해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R&amp;D,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재난 안전 등 사업은 제외됨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63FD6B6-86C8-A458-0204-2C52A0985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1C73785-96EF-C0E9-B00B-6119769CE00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495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D793-3248-3CB1-951B-2FBB1397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3FAF056-5ACF-59CF-48D4-FB322900EFA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0A6EBB-2586-4298-30D4-CDBF7ED080F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C8A88-FE38-8F4E-BC6F-57916279339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1EEE99-7544-9302-807C-7196DC79792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479201-52EC-AB9B-F3CB-8E8DC6470A98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 절차는 부처가 자율적으로 소관 사업을 평가하고 기재부에 의한 메타평가는 하지 않음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사업수행부처는 자체평가위원회를 구성하여 소관 재정사업에 대한 자체평가를 실시하며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 결과는 평가지표별 점수를 종합하여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우수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단계로 등급화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대상사업 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 이상 부처는 전체 평가 대상사업에 대해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기준으로 상대평가를 실시하고 우수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보통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65%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내외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미흡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15%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이상을 준수해야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평가결과 미흡 등급을 받은 사업에 대해서는 자율적 환류계획을 수립하도록 하고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집행부진 사업 등도 지출구조조정을 추진해야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1FD1E04-B8C2-BE1C-8DF3-2653046A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1D54087-008B-F56E-B356-B41E482CCD2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769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0370-054A-32F8-7147-ACBF6406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079A180-2392-AD7C-30E6-F22F4EE308D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756B5F-0DD9-2EC6-BC49-B031C4672E2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9D227-BF5A-C014-FA50-AF480906160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D7D13-28FF-708A-61C3-06B32D6A7DC7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D5A00B0-4CE6-32C9-EAD8-06E5A6A88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B23D3BE-162D-CAA6-2645-B906674D2F9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844B65C5-53B0-0614-2300-59E6B90A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20" t="14044" r="24372" b="39445"/>
          <a:stretch>
            <a:fillRect/>
          </a:stretch>
        </p:blipFill>
        <p:spPr>
          <a:xfrm>
            <a:off x="1409700" y="1317819"/>
            <a:ext cx="3067050" cy="44656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4AA9E7-B704-6B63-7576-21FC6A570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95" t="39445" r="22150" b="12222"/>
          <a:stretch>
            <a:fillRect/>
          </a:stretch>
        </p:blipFill>
        <p:spPr>
          <a:xfrm>
            <a:off x="7429500" y="1280520"/>
            <a:ext cx="3143250" cy="45164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A555836-BD62-A25C-3FAE-E06CE5DA19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16" t="45000" r="24614" b="7216"/>
          <a:stretch>
            <a:fillRect/>
          </a:stretch>
        </p:blipFill>
        <p:spPr>
          <a:xfrm>
            <a:off x="4476750" y="1325996"/>
            <a:ext cx="2952750" cy="445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53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0D96-37F8-B932-829D-60329FBE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75558C4-92E5-DC70-143D-0B6A9EE7649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F97D16-B71C-A961-F979-FF404D01D21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03EED-B447-2C0E-0400-B56BB3459F4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9CA39-0253-ECDA-A37E-754C0359F6F4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5CBAE9-0F6A-AB41-C1C8-736576BE8A8F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심층평가 제도는 쟁점사업을 중심으로 사업운영 성과를 과학적 방법을 통해 평가하고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성공과 실패 요인을 파악하여 해당 사업의 운용체계를 개선하고 재정의 효율성을 제고하는 것을 목적으로 하는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재정사업 심층평가의 대상은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자율평가 결과 추가 평가가 필요하다고 판단되는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부처간 유사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중복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낭비의 소지가 있는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향후 재정지출이 급증할 것으로 예상되어 지출효율화가 필요한 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 밖에 심층분석 평가를 통해 사업추진 성과를 점검할 필요가 있는 사업임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C18ADAD-88B6-AE46-A853-C6263E28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DE4DFAA-BFCF-780A-A0E0-D3732C3C22F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554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0F94-E00D-04AA-74E4-1D269171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B5C779E-E3B6-D18E-ED4D-5AC10F41498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D730A5-ED1C-07F3-6946-164BB5761C1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5643A7-9E82-552D-6B32-D35D48E6A39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EA886C-5CBC-44EC-90AC-B2FA159A5D1A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E20A6-AE18-36E6-ACD7-13798BBA5534}"/>
              </a:ext>
            </a:extLst>
          </p:cNvPr>
          <p:cNvSpPr txBox="1"/>
          <p:nvPr/>
        </p:nvSpPr>
        <p:spPr>
          <a:xfrm>
            <a:off x="1080000" y="1671816"/>
            <a:ext cx="10800000" cy="460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자율평가와 달리 심층평가는 기재부 장관이 시행하며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자율평가와 달리 심층평가의 필요성이 있는 사업에 대해서만 제한적으로 실시함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또한 자율평가는 체크리스트 기반 평가이지만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심층평가는 계량분석 등 과학적 기법을 활용하여 사업의 추진 내용과 성과의 인과관계를 분석하고 사업추진 체계를 개선하는 점에서 차이가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평가는 정부 개입의 적절성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효과성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집행성과 분석으로 구분할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적절성 분석은 사업군의 계층구조 파악 및 적절성을 평가하는데 초점을 맞추고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효과성 분석은 성과지표와 비교 기준에 따른 평가모형에 따른 평가에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집행성과 분석은 인과이론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집행 체계 등에 대해 효과성 분석과 연계하여 성과를 분석하는 것임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5654A9-C426-7D4F-E693-706A65DB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00202EC-D4CF-8470-D6AE-169B56EED1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204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EE22-3BD4-02C4-9421-7A8E8F46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F15232-2472-A5F3-5EF8-F677C2930D1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4A437C-B6EA-3889-0F08-32CDAD1B5B1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CA9D5-DA9F-5740-5CA1-CF5A03CA708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3E69A-9AFC-40F4-A3D3-8FCCE00CBDE4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재정성과관리제도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B2DCFAE-CBDA-0DE7-BF44-8C952776B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C637ABE-1CA7-9862-DB71-8B4BC6BE841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E9397B7-75F1-01D0-1B58-E9BCA2ABB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49" y="1447395"/>
            <a:ext cx="5191262" cy="22282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66D9ED-3D57-C016-0012-966F1AE8E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34" t="22217" r="21379" b="57361"/>
          <a:stretch>
            <a:fillRect/>
          </a:stretch>
        </p:blipFill>
        <p:spPr>
          <a:xfrm>
            <a:off x="6452004" y="803437"/>
            <a:ext cx="5244447" cy="19822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75D23D-3240-17FD-35AC-1F4EC560F3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52" t="40278" r="21528" b="26111"/>
          <a:stretch>
            <a:fillRect/>
          </a:stretch>
        </p:blipFill>
        <p:spPr>
          <a:xfrm>
            <a:off x="1004048" y="3724866"/>
            <a:ext cx="4524772" cy="23708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C71172-937D-6DE9-F2F6-75C5B3C9E0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79" t="19216" r="28201" b="3889"/>
          <a:stretch>
            <a:fillRect/>
          </a:stretch>
        </p:blipFill>
        <p:spPr>
          <a:xfrm rot="5400000">
            <a:off x="7430080" y="1611443"/>
            <a:ext cx="3391602" cy="529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0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7303</TotalTime>
  <Words>1508</Words>
  <Application>Microsoft Office PowerPoint</Application>
  <PresentationFormat>와이드스크린</PresentationFormat>
  <Paragraphs>111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1328</cp:revision>
  <dcterms:created xsi:type="dcterms:W3CDTF">2025-03-10T02:54:00Z</dcterms:created>
  <dcterms:modified xsi:type="dcterms:W3CDTF">2025-11-30T09:14:55Z</dcterms:modified>
</cp:coreProperties>
</file>