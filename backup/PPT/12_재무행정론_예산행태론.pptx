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408" r:id="rId4"/>
    <p:sldId id="409" r:id="rId5"/>
    <p:sldId id="367" r:id="rId6"/>
    <p:sldId id="426" r:id="rId7"/>
    <p:sldId id="428" r:id="rId8"/>
    <p:sldId id="429" r:id="rId9"/>
    <p:sldId id="415" r:id="rId10"/>
    <p:sldId id="417" r:id="rId11"/>
    <p:sldId id="430" r:id="rId12"/>
    <p:sldId id="431" r:id="rId13"/>
    <p:sldId id="418" r:id="rId14"/>
    <p:sldId id="433" r:id="rId15"/>
    <p:sldId id="434" r:id="rId16"/>
    <p:sldId id="435" r:id="rId17"/>
    <p:sldId id="436" r:id="rId18"/>
    <p:sldId id="437" r:id="rId19"/>
    <p:sldId id="438" r:id="rId20"/>
    <p:sldId id="440" r:id="rId21"/>
    <p:sldId id="441" r:id="rId22"/>
    <p:sldId id="442" r:id="rId23"/>
    <p:sldId id="25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2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7" autoAdjust="0"/>
    <p:restoredTop sz="94694"/>
  </p:normalViewPr>
  <p:slideViewPr>
    <p:cSldViewPr snapToGrid="0">
      <p:cViewPr varScale="1">
        <p:scale>
          <a:sx n="97" d="100"/>
          <a:sy n="97" d="100"/>
        </p:scale>
        <p:origin x="2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305170-7894-7846-B12A-3275CBB10754}" type="doc">
      <dgm:prSet loTypeId="urn:microsoft.com/office/officeart/2005/8/layout/process1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pPr latinLnBrk="1"/>
          <a:endParaRPr lang="ko-KR" altLang="en-US"/>
        </a:p>
      </dgm:t>
    </dgm:pt>
    <dgm:pt modelId="{1C8F9BF5-55DB-A149-B009-2B821D3F322A}">
      <dgm:prSet phldrT="[텍스트]" custT="1"/>
      <dgm:spPr/>
      <dgm:t>
        <a:bodyPr/>
        <a:lstStyle/>
        <a:p>
          <a:pPr latinLnBrk="1"/>
          <a:r>
            <a:rPr lang="ko-KR" altLang="en-US" sz="2400" dirty="0"/>
            <a:t>사회경제적 요인</a:t>
          </a:r>
          <a:endParaRPr lang="en-US" altLang="ko-KR" sz="2000" dirty="0"/>
        </a:p>
        <a:p>
          <a:pPr latinLnBrk="1"/>
          <a:r>
            <a:rPr lang="en-US" altLang="ko-KR" sz="1600" dirty="0"/>
            <a:t>(</a:t>
          </a:r>
          <a:r>
            <a:rPr lang="ko-KR" altLang="en-US" sz="1600" dirty="0" err="1"/>
            <a:t>범죄율</a:t>
          </a:r>
          <a:r>
            <a:rPr lang="ko-KR" altLang="en-US" sz="1600" dirty="0"/>
            <a:t> 증가</a:t>
          </a:r>
          <a:r>
            <a:rPr lang="en-US" altLang="ko-KR" sz="1600" dirty="0"/>
            <a:t>)</a:t>
          </a:r>
          <a:endParaRPr lang="ko-KR" altLang="en-US" sz="1600" dirty="0"/>
        </a:p>
      </dgm:t>
    </dgm:pt>
    <dgm:pt modelId="{ED8EB5FF-B953-3C41-8653-2CB4DA1985C2}" type="parTrans" cxnId="{27253FF8-65A8-8840-837F-C0DDFDF18AF2}">
      <dgm:prSet/>
      <dgm:spPr/>
      <dgm:t>
        <a:bodyPr/>
        <a:lstStyle/>
        <a:p>
          <a:pPr latinLnBrk="1"/>
          <a:endParaRPr lang="ko-KR" altLang="en-US"/>
        </a:p>
      </dgm:t>
    </dgm:pt>
    <dgm:pt modelId="{6C5B1044-68FA-FC4D-AA7A-9812B717BED7}" type="sibTrans" cxnId="{27253FF8-65A8-8840-837F-C0DDFDF18AF2}">
      <dgm:prSet/>
      <dgm:spPr/>
      <dgm:t>
        <a:bodyPr/>
        <a:lstStyle/>
        <a:p>
          <a:pPr latinLnBrk="1"/>
          <a:endParaRPr lang="ko-KR" altLang="en-US"/>
        </a:p>
      </dgm:t>
    </dgm:pt>
    <dgm:pt modelId="{B16D1B8E-8C57-B447-A296-37A977FB171F}">
      <dgm:prSet phldrT="[텍스트]" custT="1"/>
      <dgm:spPr/>
      <dgm:t>
        <a:bodyPr/>
        <a:lstStyle/>
        <a:p>
          <a:pPr latinLnBrk="1"/>
          <a:r>
            <a:rPr lang="ko-KR" altLang="en-US" sz="2400" dirty="0"/>
            <a:t>예산 수요</a:t>
          </a:r>
          <a:endParaRPr lang="en-US" altLang="ko-KR" sz="2000" dirty="0"/>
        </a:p>
        <a:p>
          <a:pPr latinLnBrk="1"/>
          <a:r>
            <a:rPr lang="en-US" altLang="ko-KR" sz="1600" dirty="0"/>
            <a:t>(</a:t>
          </a:r>
          <a:r>
            <a:rPr lang="ko-KR" altLang="en-US" sz="1600" dirty="0"/>
            <a:t>경찰 서비스의 요구</a:t>
          </a:r>
          <a:r>
            <a:rPr lang="en-US" altLang="ko-KR" sz="1600" dirty="0"/>
            <a:t>)</a:t>
          </a:r>
          <a:endParaRPr lang="ko-KR" altLang="en-US" sz="1600" dirty="0"/>
        </a:p>
      </dgm:t>
    </dgm:pt>
    <dgm:pt modelId="{8F818014-2806-284C-8D3F-659599004B3B}" type="parTrans" cxnId="{0896D46B-0D9D-5B49-A92D-EE30A63B6DEF}">
      <dgm:prSet/>
      <dgm:spPr/>
      <dgm:t>
        <a:bodyPr/>
        <a:lstStyle/>
        <a:p>
          <a:pPr latinLnBrk="1"/>
          <a:endParaRPr lang="ko-KR" altLang="en-US"/>
        </a:p>
      </dgm:t>
    </dgm:pt>
    <dgm:pt modelId="{44EADF25-5942-CA4E-9B18-A5E400991D81}" type="sibTrans" cxnId="{0896D46B-0D9D-5B49-A92D-EE30A63B6DEF}">
      <dgm:prSet/>
      <dgm:spPr/>
      <dgm:t>
        <a:bodyPr/>
        <a:lstStyle/>
        <a:p>
          <a:pPr latinLnBrk="1"/>
          <a:endParaRPr lang="ko-KR" altLang="en-US"/>
        </a:p>
      </dgm:t>
    </dgm:pt>
    <dgm:pt modelId="{5A69A570-9E35-BA42-839B-C7941399201F}">
      <dgm:prSet phldrT="[텍스트]" custT="1"/>
      <dgm:spPr/>
      <dgm:t>
        <a:bodyPr/>
        <a:lstStyle/>
        <a:p>
          <a:pPr latinLnBrk="1"/>
          <a:r>
            <a:rPr lang="ko-KR" altLang="en-US" sz="2400" dirty="0"/>
            <a:t>예산 행태</a:t>
          </a:r>
          <a:endParaRPr lang="en-US" altLang="ko-KR" sz="2000" dirty="0"/>
        </a:p>
        <a:p>
          <a:pPr latinLnBrk="1"/>
          <a:r>
            <a:rPr lang="en-US" altLang="ko-KR" sz="1600" dirty="0"/>
            <a:t>(</a:t>
          </a:r>
          <a:r>
            <a:rPr lang="ko-KR" altLang="en-US" sz="1600" dirty="0"/>
            <a:t>경찰 예산의 증가</a:t>
          </a:r>
          <a:r>
            <a:rPr lang="en-US" altLang="ko-KR" sz="1600" dirty="0"/>
            <a:t>)</a:t>
          </a:r>
          <a:endParaRPr lang="ko-KR" altLang="en-US" sz="1600" dirty="0"/>
        </a:p>
      </dgm:t>
    </dgm:pt>
    <dgm:pt modelId="{F370EC7E-B713-C84C-B427-EB786B543B88}" type="parTrans" cxnId="{9CE1FD60-30AB-8343-B80F-28FE8BD43079}">
      <dgm:prSet/>
      <dgm:spPr/>
      <dgm:t>
        <a:bodyPr/>
        <a:lstStyle/>
        <a:p>
          <a:pPr latinLnBrk="1"/>
          <a:endParaRPr lang="ko-KR" altLang="en-US"/>
        </a:p>
      </dgm:t>
    </dgm:pt>
    <dgm:pt modelId="{DC9A80F2-4236-6844-B73D-800F21E09A74}" type="sibTrans" cxnId="{9CE1FD60-30AB-8343-B80F-28FE8BD43079}">
      <dgm:prSet/>
      <dgm:spPr/>
      <dgm:t>
        <a:bodyPr/>
        <a:lstStyle/>
        <a:p>
          <a:pPr latinLnBrk="1"/>
          <a:endParaRPr lang="ko-KR" altLang="en-US"/>
        </a:p>
      </dgm:t>
    </dgm:pt>
    <dgm:pt modelId="{3860BBB0-0DD2-774D-926B-32068FB1CCD8}" type="pres">
      <dgm:prSet presAssocID="{26305170-7894-7846-B12A-3275CBB10754}" presName="Name0" presStyleCnt="0">
        <dgm:presLayoutVars>
          <dgm:dir/>
          <dgm:resizeHandles val="exact"/>
        </dgm:presLayoutVars>
      </dgm:prSet>
      <dgm:spPr/>
    </dgm:pt>
    <dgm:pt modelId="{19A8B736-70B0-DD4C-B07D-BEAB9691819C}" type="pres">
      <dgm:prSet presAssocID="{1C8F9BF5-55DB-A149-B009-2B821D3F322A}" presName="node" presStyleLbl="node1" presStyleIdx="0" presStyleCnt="3">
        <dgm:presLayoutVars>
          <dgm:bulletEnabled val="1"/>
        </dgm:presLayoutVars>
      </dgm:prSet>
      <dgm:spPr/>
    </dgm:pt>
    <dgm:pt modelId="{1F0D44C6-DD47-094E-8970-DAC0E8308DF8}" type="pres">
      <dgm:prSet presAssocID="{6C5B1044-68FA-FC4D-AA7A-9812B717BED7}" presName="sibTrans" presStyleLbl="sibTrans2D1" presStyleIdx="0" presStyleCnt="2"/>
      <dgm:spPr/>
    </dgm:pt>
    <dgm:pt modelId="{4E299756-D3D9-4144-9340-50996DC4C188}" type="pres">
      <dgm:prSet presAssocID="{6C5B1044-68FA-FC4D-AA7A-9812B717BED7}" presName="connectorText" presStyleLbl="sibTrans2D1" presStyleIdx="0" presStyleCnt="2"/>
      <dgm:spPr/>
    </dgm:pt>
    <dgm:pt modelId="{55CE43A2-26FA-8248-B957-CBBB7F5DB644}" type="pres">
      <dgm:prSet presAssocID="{B16D1B8E-8C57-B447-A296-37A977FB171F}" presName="node" presStyleLbl="node1" presStyleIdx="1" presStyleCnt="3">
        <dgm:presLayoutVars>
          <dgm:bulletEnabled val="1"/>
        </dgm:presLayoutVars>
      </dgm:prSet>
      <dgm:spPr/>
    </dgm:pt>
    <dgm:pt modelId="{EBD51962-31D7-CE4C-810D-72D2D725F949}" type="pres">
      <dgm:prSet presAssocID="{44EADF25-5942-CA4E-9B18-A5E400991D81}" presName="sibTrans" presStyleLbl="sibTrans2D1" presStyleIdx="1" presStyleCnt="2"/>
      <dgm:spPr/>
    </dgm:pt>
    <dgm:pt modelId="{70C4DD50-5D24-C54C-8F9C-ADE0D670866C}" type="pres">
      <dgm:prSet presAssocID="{44EADF25-5942-CA4E-9B18-A5E400991D81}" presName="connectorText" presStyleLbl="sibTrans2D1" presStyleIdx="1" presStyleCnt="2"/>
      <dgm:spPr/>
    </dgm:pt>
    <dgm:pt modelId="{757EDC60-3F8A-0748-8C45-74AEB2810426}" type="pres">
      <dgm:prSet presAssocID="{5A69A570-9E35-BA42-839B-C7941399201F}" presName="node" presStyleLbl="node1" presStyleIdx="2" presStyleCnt="3">
        <dgm:presLayoutVars>
          <dgm:bulletEnabled val="1"/>
        </dgm:presLayoutVars>
      </dgm:prSet>
      <dgm:spPr/>
    </dgm:pt>
  </dgm:ptLst>
  <dgm:cxnLst>
    <dgm:cxn modelId="{A7EDEE20-7BDA-264D-BC88-1D1915E329CC}" type="presOf" srcId="{1C8F9BF5-55DB-A149-B009-2B821D3F322A}" destId="{19A8B736-70B0-DD4C-B07D-BEAB9691819C}" srcOrd="0" destOrd="0" presId="urn:microsoft.com/office/officeart/2005/8/layout/process1"/>
    <dgm:cxn modelId="{57390823-DD98-C74E-B485-7F689E82CB98}" type="presOf" srcId="{44EADF25-5942-CA4E-9B18-A5E400991D81}" destId="{70C4DD50-5D24-C54C-8F9C-ADE0D670866C}" srcOrd="1" destOrd="0" presId="urn:microsoft.com/office/officeart/2005/8/layout/process1"/>
    <dgm:cxn modelId="{9CE1FD60-30AB-8343-B80F-28FE8BD43079}" srcId="{26305170-7894-7846-B12A-3275CBB10754}" destId="{5A69A570-9E35-BA42-839B-C7941399201F}" srcOrd="2" destOrd="0" parTransId="{F370EC7E-B713-C84C-B427-EB786B543B88}" sibTransId="{DC9A80F2-4236-6844-B73D-800F21E09A74}"/>
    <dgm:cxn modelId="{4FF01764-282C-7B46-B851-2BB18F44DEB0}" type="presOf" srcId="{44EADF25-5942-CA4E-9B18-A5E400991D81}" destId="{EBD51962-31D7-CE4C-810D-72D2D725F949}" srcOrd="0" destOrd="0" presId="urn:microsoft.com/office/officeart/2005/8/layout/process1"/>
    <dgm:cxn modelId="{0896D46B-0D9D-5B49-A92D-EE30A63B6DEF}" srcId="{26305170-7894-7846-B12A-3275CBB10754}" destId="{B16D1B8E-8C57-B447-A296-37A977FB171F}" srcOrd="1" destOrd="0" parTransId="{8F818014-2806-284C-8D3F-659599004B3B}" sibTransId="{44EADF25-5942-CA4E-9B18-A5E400991D81}"/>
    <dgm:cxn modelId="{B9E2AF82-8DB5-1A41-84C7-4D175CCC9A85}" type="presOf" srcId="{6C5B1044-68FA-FC4D-AA7A-9812B717BED7}" destId="{1F0D44C6-DD47-094E-8970-DAC0E8308DF8}" srcOrd="0" destOrd="0" presId="urn:microsoft.com/office/officeart/2005/8/layout/process1"/>
    <dgm:cxn modelId="{21ECDC95-6A0A-9E4E-81D6-B8805E47F8D0}" type="presOf" srcId="{5A69A570-9E35-BA42-839B-C7941399201F}" destId="{757EDC60-3F8A-0748-8C45-74AEB2810426}" srcOrd="0" destOrd="0" presId="urn:microsoft.com/office/officeart/2005/8/layout/process1"/>
    <dgm:cxn modelId="{A9D25CBA-BE7C-0E43-922C-05E45024B737}" type="presOf" srcId="{6C5B1044-68FA-FC4D-AA7A-9812B717BED7}" destId="{4E299756-D3D9-4144-9340-50996DC4C188}" srcOrd="1" destOrd="0" presId="urn:microsoft.com/office/officeart/2005/8/layout/process1"/>
    <dgm:cxn modelId="{56291CC9-01D7-EF45-9000-F78CAFBC9DE4}" type="presOf" srcId="{B16D1B8E-8C57-B447-A296-37A977FB171F}" destId="{55CE43A2-26FA-8248-B957-CBBB7F5DB644}" srcOrd="0" destOrd="0" presId="urn:microsoft.com/office/officeart/2005/8/layout/process1"/>
    <dgm:cxn modelId="{27253FF8-65A8-8840-837F-C0DDFDF18AF2}" srcId="{26305170-7894-7846-B12A-3275CBB10754}" destId="{1C8F9BF5-55DB-A149-B009-2B821D3F322A}" srcOrd="0" destOrd="0" parTransId="{ED8EB5FF-B953-3C41-8653-2CB4DA1985C2}" sibTransId="{6C5B1044-68FA-FC4D-AA7A-9812B717BED7}"/>
    <dgm:cxn modelId="{A50F7BF9-AD85-1E47-AB27-0DB6F5F073D2}" type="presOf" srcId="{26305170-7894-7846-B12A-3275CBB10754}" destId="{3860BBB0-0DD2-774D-926B-32068FB1CCD8}" srcOrd="0" destOrd="0" presId="urn:microsoft.com/office/officeart/2005/8/layout/process1"/>
    <dgm:cxn modelId="{266DFE1B-8C22-DE49-BE7D-62A47B7D1C39}" type="presParOf" srcId="{3860BBB0-0DD2-774D-926B-32068FB1CCD8}" destId="{19A8B736-70B0-DD4C-B07D-BEAB9691819C}" srcOrd="0" destOrd="0" presId="urn:microsoft.com/office/officeart/2005/8/layout/process1"/>
    <dgm:cxn modelId="{D0B0DB82-91D6-3447-AB2B-3ED2CBD25253}" type="presParOf" srcId="{3860BBB0-0DD2-774D-926B-32068FB1CCD8}" destId="{1F0D44C6-DD47-094E-8970-DAC0E8308DF8}" srcOrd="1" destOrd="0" presId="urn:microsoft.com/office/officeart/2005/8/layout/process1"/>
    <dgm:cxn modelId="{73A0ABFE-A652-FD41-9D25-7D7FA4B79011}" type="presParOf" srcId="{1F0D44C6-DD47-094E-8970-DAC0E8308DF8}" destId="{4E299756-D3D9-4144-9340-50996DC4C188}" srcOrd="0" destOrd="0" presId="urn:microsoft.com/office/officeart/2005/8/layout/process1"/>
    <dgm:cxn modelId="{1DC5D48C-63C4-C449-98A5-31B4E3671C40}" type="presParOf" srcId="{3860BBB0-0DD2-774D-926B-32068FB1CCD8}" destId="{55CE43A2-26FA-8248-B957-CBBB7F5DB644}" srcOrd="2" destOrd="0" presId="urn:microsoft.com/office/officeart/2005/8/layout/process1"/>
    <dgm:cxn modelId="{A5E26D45-0EC0-4840-893E-087FCEFFFD9C}" type="presParOf" srcId="{3860BBB0-0DD2-774D-926B-32068FB1CCD8}" destId="{EBD51962-31D7-CE4C-810D-72D2D725F949}" srcOrd="3" destOrd="0" presId="urn:microsoft.com/office/officeart/2005/8/layout/process1"/>
    <dgm:cxn modelId="{17857A16-7617-834F-B721-A20B03FE9C81}" type="presParOf" srcId="{EBD51962-31D7-CE4C-810D-72D2D725F949}" destId="{70C4DD50-5D24-C54C-8F9C-ADE0D670866C}" srcOrd="0" destOrd="0" presId="urn:microsoft.com/office/officeart/2005/8/layout/process1"/>
    <dgm:cxn modelId="{2A4F736C-0B90-834E-989D-03DDD562A089}" type="presParOf" srcId="{3860BBB0-0DD2-774D-926B-32068FB1CCD8}" destId="{757EDC60-3F8A-0748-8C45-74AEB281042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B736-70B0-DD4C-B07D-BEAB9691819C}">
      <dsp:nvSpPr>
        <dsp:cNvPr id="0" name=""/>
        <dsp:cNvSpPr/>
      </dsp:nvSpPr>
      <dsp:spPr>
        <a:xfrm>
          <a:off x="8471" y="221294"/>
          <a:ext cx="2531928" cy="15191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 dirty="0"/>
            <a:t>사회경제적 요인</a:t>
          </a:r>
          <a:endParaRPr lang="en-US" altLang="ko-KR" sz="2000" kern="1200" dirty="0"/>
        </a:p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/>
            <a:t>(</a:t>
          </a:r>
          <a:r>
            <a:rPr lang="ko-KR" altLang="en-US" sz="1600" kern="1200" dirty="0" err="1"/>
            <a:t>범죄율</a:t>
          </a:r>
          <a:r>
            <a:rPr lang="ko-KR" altLang="en-US" sz="1600" kern="1200" dirty="0"/>
            <a:t> 증가</a:t>
          </a:r>
          <a:r>
            <a:rPr lang="en-US" altLang="ko-KR" sz="1600" kern="1200" dirty="0"/>
            <a:t>)</a:t>
          </a:r>
          <a:endParaRPr lang="ko-KR" altLang="en-US" sz="1600" kern="1200" dirty="0"/>
        </a:p>
      </dsp:txBody>
      <dsp:txXfrm>
        <a:off x="52966" y="265789"/>
        <a:ext cx="2442938" cy="1430167"/>
      </dsp:txXfrm>
    </dsp:sp>
    <dsp:sp modelId="{1F0D44C6-DD47-094E-8970-DAC0E8308DF8}">
      <dsp:nvSpPr>
        <dsp:cNvPr id="0" name=""/>
        <dsp:cNvSpPr/>
      </dsp:nvSpPr>
      <dsp:spPr>
        <a:xfrm>
          <a:off x="2793592" y="666914"/>
          <a:ext cx="536768" cy="62791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800" kern="1200"/>
        </a:p>
      </dsp:txBody>
      <dsp:txXfrm>
        <a:off x="2793592" y="792498"/>
        <a:ext cx="375738" cy="376750"/>
      </dsp:txXfrm>
    </dsp:sp>
    <dsp:sp modelId="{55CE43A2-26FA-8248-B957-CBBB7F5DB644}">
      <dsp:nvSpPr>
        <dsp:cNvPr id="0" name=""/>
        <dsp:cNvSpPr/>
      </dsp:nvSpPr>
      <dsp:spPr>
        <a:xfrm>
          <a:off x="3553171" y="221294"/>
          <a:ext cx="2531928" cy="15191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 dirty="0"/>
            <a:t>예산 수요</a:t>
          </a:r>
          <a:endParaRPr lang="en-US" altLang="ko-KR" sz="2000" kern="1200" dirty="0"/>
        </a:p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/>
            <a:t>(</a:t>
          </a:r>
          <a:r>
            <a:rPr lang="ko-KR" altLang="en-US" sz="1600" kern="1200" dirty="0"/>
            <a:t>경찰 서비스의 요구</a:t>
          </a:r>
          <a:r>
            <a:rPr lang="en-US" altLang="ko-KR" sz="1600" kern="1200" dirty="0"/>
            <a:t>)</a:t>
          </a:r>
          <a:endParaRPr lang="ko-KR" altLang="en-US" sz="1600" kern="1200" dirty="0"/>
        </a:p>
      </dsp:txBody>
      <dsp:txXfrm>
        <a:off x="3597666" y="265789"/>
        <a:ext cx="2442938" cy="1430167"/>
      </dsp:txXfrm>
    </dsp:sp>
    <dsp:sp modelId="{EBD51962-31D7-CE4C-810D-72D2D725F949}">
      <dsp:nvSpPr>
        <dsp:cNvPr id="0" name=""/>
        <dsp:cNvSpPr/>
      </dsp:nvSpPr>
      <dsp:spPr>
        <a:xfrm>
          <a:off x="6338293" y="666914"/>
          <a:ext cx="536768" cy="62791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800" kern="1200"/>
        </a:p>
      </dsp:txBody>
      <dsp:txXfrm>
        <a:off x="6338293" y="792498"/>
        <a:ext cx="375738" cy="376750"/>
      </dsp:txXfrm>
    </dsp:sp>
    <dsp:sp modelId="{757EDC60-3F8A-0748-8C45-74AEB2810426}">
      <dsp:nvSpPr>
        <dsp:cNvPr id="0" name=""/>
        <dsp:cNvSpPr/>
      </dsp:nvSpPr>
      <dsp:spPr>
        <a:xfrm>
          <a:off x="7097871" y="221294"/>
          <a:ext cx="2531928" cy="151915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 dirty="0"/>
            <a:t>예산 행태</a:t>
          </a:r>
          <a:endParaRPr lang="en-US" altLang="ko-KR" sz="2000" kern="1200" dirty="0"/>
        </a:p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/>
            <a:t>(</a:t>
          </a:r>
          <a:r>
            <a:rPr lang="ko-KR" altLang="en-US" sz="1600" kern="1200" dirty="0"/>
            <a:t>경찰 예산의 증가</a:t>
          </a:r>
          <a:r>
            <a:rPr lang="en-US" altLang="ko-KR" sz="1600" kern="1200" dirty="0"/>
            <a:t>)</a:t>
          </a:r>
          <a:endParaRPr lang="ko-KR" altLang="en-US" sz="1600" kern="1200" dirty="0"/>
        </a:p>
      </dsp:txBody>
      <dsp:txXfrm>
        <a:off x="7142366" y="265789"/>
        <a:ext cx="2442938" cy="1430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194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예산결정기관의 역할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개요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예산편성과 심의 과정에서 참여자들은 다양한 전략과 수단 동원 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협상과 타협을 통해 의도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구현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예산게임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(budget game)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or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예산정치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(budget politics)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게임 또는 정치에서 대부분의 행태는 예측하기 어려운 요인에 의해 영향을 받음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장기적으로는 행태의 규칙성과 유형이 존재함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 과정은 나름의 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자원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정향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배경 등을 가진 여러 참여자 간의 상호작용임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역할 수행의 정형화된 행태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(stylized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behavior)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41283-E488-9780-371F-D201772D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3FC6EC8-94E5-5E9E-05B1-17F47DFBAE4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B4E1E5-1BB1-1B3A-6272-7781CB39908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2D0147-E600-EBE1-9269-CE332E2ECF6B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AB27A0-0B20-20C2-9048-97B12A71E4BC}"/>
              </a:ext>
            </a:extLst>
          </p:cNvPr>
          <p:cNvSpPr txBox="1"/>
          <p:nvPr/>
        </p:nvSpPr>
        <p:spPr>
          <a:xfrm>
            <a:off x="1235998" y="757300"/>
            <a:ext cx="8705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예산결정기관의 역할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 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소비자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,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절약자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,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수문장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C2C28D-B847-15B4-D2CE-4790F0C1FC9A}"/>
              </a:ext>
            </a:extLst>
          </p:cNvPr>
          <p:cNvSpPr txBox="1"/>
          <p:nvPr/>
        </p:nvSpPr>
        <p:spPr>
          <a:xfrm>
            <a:off x="1080000" y="1671816"/>
            <a:ext cx="10800000" cy="412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예산과정에 참여하는 기관의 역할 구분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소비자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(2)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절약자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(3)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수문장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소비자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(spender):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증액 지향적 행태 → 수입보다 지출에 관심이 많음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사업 지향적 성향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가능한 많은 사업을 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필요액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이상의 예산을 요구함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절약자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(saver):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삭감 지향적 행태 → 지출보다 수입의 재정 조건에 관심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재정 지향적 성향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한정된 가용재원을 고려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삭감자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또는 국고의 보호자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수문장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(gate keeper):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균형 지향적 행태 → 수입과 지출 어느 쪽에도 치우치지 않고 두 측면을 모두 고려하는 유형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사업과 재정 동시 지향하는 성향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AD8A720-EB38-6B81-87B4-3869B4804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9E5C79-D404-1910-FEB4-4279A1C900D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700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2B8F4-1219-A4D5-0126-53D64DE18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55FE811-CA1F-56B3-8592-6CA4464ECE0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13BC9D-D0CE-85C8-6E3A-0BE0F5F6E63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E792F9-1050-52BA-96B9-17BE7BD5D924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7439D6-4E2C-5734-E07A-55298E824E21}"/>
              </a:ext>
            </a:extLst>
          </p:cNvPr>
          <p:cNvSpPr txBox="1"/>
          <p:nvPr/>
        </p:nvSpPr>
        <p:spPr>
          <a:xfrm>
            <a:off x="1235998" y="757300"/>
            <a:ext cx="9991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예산결정기관의 역할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 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전문직업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vs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정치적 역할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189C29-CC31-F9F2-F31E-3E44F8D470E1}"/>
              </a:ext>
            </a:extLst>
          </p:cNvPr>
          <p:cNvSpPr txBox="1"/>
          <p:nvPr/>
        </p:nvSpPr>
        <p:spPr>
          <a:xfrm>
            <a:off x="1080000" y="1671816"/>
            <a:ext cx="10800000" cy="426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전문직업적 역할로서 예산결정기관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전문직업주의 관점 적용 → 문제나 고객을 다룰 때 전문성을 발휘함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과정에서 지엽주의 및 관심 분야의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협소성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초래할 수 있음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다양한 전문성이 요구되는 정부의 예산 과정에서 문제를 야기하기도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역할로서 예산결정기관 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위와 같은 문제 상황 발생시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전문성을 통합하고 전문가 간의 차별을 위한 광의의 관점을 가진 통합자가 필요하게 됨 → 정치적 역할 발휘 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7604557-0D0D-C253-EECA-06CA662CA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318A963-21E3-6327-F2A6-D25D1C1D0E9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561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D3783-D2C1-F21C-3251-8B621909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67D3752-8488-CC87-8F7C-01C66696935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38445C-60E8-EFC7-2DFD-B92EA8A59E0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562AB-A9D9-06B0-41FF-855C31A9480E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8C38BC-BA0B-16D4-BD61-4BF864B982D2}"/>
              </a:ext>
            </a:extLst>
          </p:cNvPr>
          <p:cNvSpPr txBox="1"/>
          <p:nvPr/>
        </p:nvSpPr>
        <p:spPr>
          <a:xfrm>
            <a:off x="1235997" y="757300"/>
            <a:ext cx="10470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 부처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전체로서의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역할 및 행태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973F69-B386-0A64-4E9A-509B5379C7AC}"/>
              </a:ext>
            </a:extLst>
          </p:cNvPr>
          <p:cNvSpPr txBox="1"/>
          <p:nvPr/>
        </p:nvSpPr>
        <p:spPr>
          <a:xfrm>
            <a:off x="1080000" y="1671816"/>
            <a:ext cx="10800000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행정 부처는 예산지출기관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사업지향성을 갖는 소비자 역할 → 공공 서비스의 공급 기회를 가능한 확대하고자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많은 사업의 수행은 자신과 부처의 권한과 위신을 높이는 길이므로 확대 및 증액 지향적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자원 확보 → 사업 확대 → 성공적 업무 수행 → 승진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 달성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 확보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장관 능력 평가 지표 → 가급적 많은 예산 확보 시도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 수입에 대한 책임이 없으므로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균형 예산 혹은 재정건전도 관심이 높지 않음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 과정에서 사업에 대한 상세한 정보를 바탕으로 전문직업적 역할 수행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46ADB37-8F15-FD43-971C-3B8D919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74A4574-D1B6-CE19-8E77-C2638FB18BE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447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14D6-2014-47F3-3807-579F8CE30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839970-F362-827D-503F-884FBB5BA75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368D28-8F02-A651-D071-0325793EAFB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B920C7-FB34-877B-8C09-0F4DFA672D78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9264E5-3537-1AB2-4200-8A919B08B299}"/>
              </a:ext>
            </a:extLst>
          </p:cNvPr>
          <p:cNvSpPr txBox="1"/>
          <p:nvPr/>
        </p:nvSpPr>
        <p:spPr>
          <a:xfrm>
            <a:off x="1235998" y="757300"/>
            <a:ext cx="9396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 부처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구성원의 역할 및 행태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6D2B17-9F09-854C-1E49-1FF2975CF810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 담당자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경쟁적으로 예산을 획득하려는 주창자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사업에 대한 전문 지식과 정보에 기반한 전문직업적 성향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부처의 예산총괄 담당자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실무책임자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내부적으로는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불요불급한 지출 억제하는 재정 옹호자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외부적으로는 기재부로부터 더 많은 부처 예산을 확보하는 주창자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세입기관 및 세입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예측자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특정 지출 프로그램에 관여하진 않지만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고도로 훈련된 전문가 또는 경험이 많은 관료로 구성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전문직업적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재정지향적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부처의 장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예산편성시에만 관여 → 상황에 따른 잠재적 이중성 존재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098FB4E-271E-3020-34FA-2EB0DAAE7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F3ECD32-A21D-F9E6-D5B0-07881DC596E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009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C64BA-4860-9CA8-B94F-97792107A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AC8A012-51E3-5142-D638-80D9D5B77E3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1CD029-7B2B-C44E-1200-1D6A660D306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1AB876-A29F-72AF-0633-91B1B7FC9F8C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B0FB0E-BF8E-900E-D236-0058A992075E}"/>
              </a:ext>
            </a:extLst>
          </p:cNvPr>
          <p:cNvSpPr txBox="1"/>
          <p:nvPr/>
        </p:nvSpPr>
        <p:spPr>
          <a:xfrm>
            <a:off x="1235998" y="757300"/>
            <a:ext cx="9396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중앙예산기관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역할 및 행태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①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B22385-8AEB-CAAF-6332-9FFF16D370A7}"/>
              </a:ext>
            </a:extLst>
          </p:cNvPr>
          <p:cNvSpPr txBox="1"/>
          <p:nvPr/>
        </p:nvSpPr>
        <p:spPr>
          <a:xfrm>
            <a:off x="1080000" y="1671816"/>
            <a:ext cx="10800000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예산편성의 가장 핵심 기관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예산편성 문제에 대한 최고 책임자의 참모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기획재정부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중앙예산기관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각 부처의 예산요구액 사정 및 조정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예산사정은 각 부처의 사업 및 예산요구액에 대한 검토 → 예산 삭감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기재부는 삭감 지향적인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절약자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역할 수행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재정지향적 성향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대통령의 선거 공약 및 정책의지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반영시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사업지향성을 갖기도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냉혹한 삭감 행태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도끼질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난도질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혐오스러운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(no-man)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4C7F391-1541-3414-448D-69599E157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7598A7-AE99-AD68-A042-82ADE070E2B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026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FD376-D305-33A0-A360-A84869C58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7917545-8DF4-0E97-E104-590AEDE83FA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5264CF-B56B-930D-A04C-042D4B4F83C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5D1E66-215F-38E7-9BD0-57B8E7200AD0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BBC1FD-CC39-F9C6-5C81-3D3CFD6C52E2}"/>
              </a:ext>
            </a:extLst>
          </p:cNvPr>
          <p:cNvSpPr txBox="1"/>
          <p:nvPr/>
        </p:nvSpPr>
        <p:spPr>
          <a:xfrm>
            <a:off x="1235998" y="757300"/>
            <a:ext cx="9396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중앙예산기관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역할 및 행태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②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AE1CB2-CE93-A3C9-C9A3-C870037351FE}"/>
              </a:ext>
            </a:extLst>
          </p:cNvPr>
          <p:cNvSpPr txBox="1"/>
          <p:nvPr/>
        </p:nvSpPr>
        <p:spPr>
          <a:xfrm>
            <a:off x="1080000" y="1671816"/>
            <a:ext cx="10800000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예산총액배분 자율편성제도 도입 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예산사정기관의 행태가 변화하고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부처 지출한도와 같은 거시적 결정 → 사정기관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지출한도 내에서 자율적 예산편성 → 요구기관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예산사정관의 경우 대통령의 의지에 따른 정책 선호를 가지거나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어떤 행정 부처의 사업을 두고 계속 접촉을 하는 경우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특정 사업에 대한 지지자가 되기도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하지만 대체로 전문직업적 역할 수행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특정 부처의 특정 사업의 경우 예산요구자보다 지식부족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정보의 비대칭성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376803B-653D-5B2B-DF2E-670C07A23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9C2096D-C9EF-6D39-EE77-A96A7A79E3E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75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51F75-D506-AD0C-DAA9-D019FEDDC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0BC601E-188A-AB02-FFE8-DC652A6AE1C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1E8BD3-4401-5BF0-B7CD-18FC40A0F71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4327FB-F6CD-B530-DA18-F3F0C800ECA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E0C5E-D8D7-A43C-0C99-5627179BE887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행정수반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역할 및 행태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1CD5B5-DEA9-85D0-5B07-99B9277E3768}"/>
              </a:ext>
            </a:extLst>
          </p:cNvPr>
          <p:cNvSpPr txBox="1"/>
          <p:nvPr/>
        </p:nvSpPr>
        <p:spPr>
          <a:xfrm>
            <a:off x="1080000" y="1671816"/>
            <a:ext cx="10245885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행정수반인 대통령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수문장 역할 수행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사업지향성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재정지향성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보수적 재정요구와 사업적 우선순위간 균형을 맞춰야 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사업지향적 성향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대통령은 지지자에 대한 보상으로 특정 사업을 지지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노동조합에 유리한 예산 배분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할 수도 있지만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국민을 대표해 선출된 사람이므로 광범위한 후원집단의 지지를 받는 것으로도 볼 수 있음 → 다양한 집단간의 균형을 맞춰야 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재정지향적 성향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과다한 조세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부과시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다음 선거에서 불리하게 작용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선거에 의해 선출 → 광범위한 집단의 연합을 위해 정치적 역할 수행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AF9AB5D-440F-4F1E-65D7-2353E8B7C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B6DF33D-02F6-E74D-56C5-B5600B3D714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651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F9667-6512-978C-C331-A4652636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F4054F-2166-7FD9-F52D-64CA276717C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3ACE90-CDC2-5208-AB02-92CA29730A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966DD-343B-30A9-FF2C-679B4CF5B46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D74D5-3926-00D8-295A-67C10C8F71A9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국회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(1):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전체로서의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역할 및 행태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0DC3C9-DB5D-B686-5DE4-4DAE4FEA2C09}"/>
              </a:ext>
            </a:extLst>
          </p:cNvPr>
          <p:cNvSpPr txBox="1"/>
          <p:nvPr/>
        </p:nvSpPr>
        <p:spPr>
          <a:xfrm>
            <a:off x="1080000" y="1671816"/>
            <a:ext cx="10245885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일반적으로 국회는 예산결정시 수동적 역할 수행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주도자가 아님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행정부 편성 예산에 대해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 금액의 한계적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(marginal)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조정 수행 → 행정부와 국회 간 정보 비대칭성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심의 시간 부족 등에 기인함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국회 예산 심의 역할을 과소평가 할 수는 없으며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예산결정은 두 기관 간 예산상의 상호작용의 결과임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산출의 측면에서 국회는 삭감 지향적 행태를 보여주는 것이 일반적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EF3AE9F-633C-6616-78A3-53F87693D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D02C2BA-E58E-4364-0B85-5831CB22823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169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94C1D-020D-8DFA-9B8F-B9813310C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F4F7289-4D68-2808-684D-31AB38F67A2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E83265-D5CF-538C-2AEA-326813221D8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00ACFE-65EC-4C57-6D89-F4ACB5C7F24D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980B47-C644-2785-BD08-FE1ABBF6023E}"/>
              </a:ext>
            </a:extLst>
          </p:cNvPr>
          <p:cNvSpPr txBox="1"/>
          <p:nvPr/>
        </p:nvSpPr>
        <p:spPr>
          <a:xfrm>
            <a:off x="1235998" y="757300"/>
            <a:ext cx="6632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국회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상임위원회의 역할 및 행태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①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05277-BF41-C7B8-2BEF-44182E34136B}"/>
              </a:ext>
            </a:extLst>
          </p:cNvPr>
          <p:cNvSpPr txBox="1"/>
          <p:nvPr/>
        </p:nvSpPr>
        <p:spPr>
          <a:xfrm>
            <a:off x="1080000" y="1671816"/>
            <a:ext cx="10245885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상임위원회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예산심의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예비심사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입법 및 기타 의안을 다루는 위원회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상임위 예산심의 행태는 삭감 지향적 보다 증액 지향적 행태가 더 많음 → 상임위 의원들과 소속 부처 간에 상호 이익관계로 인식하기 때문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상임위의 예산심의 행태는 고객과의 관계로 살펴보면 더 유용함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지역 선거구민과의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소관 부처의 예산 요구가 선거구에 혜택이 돌아가길 원함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선별적으로 사업 지향성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세출예산 측면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 시민과의 관계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낮은 조세 부담 추구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재정 지향성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세입예산 측면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  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45EFC77-B794-DFF3-F3DD-81BACCD19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897E307-3C85-AF46-4121-56B062300CB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879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6A0A8-EEED-26A1-F4DA-A6B54CA7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6DD07B6-8244-7FA4-448E-C75D79C6AFA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A38982-B580-5433-D9FA-46D3DD995B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0637ED-6794-02DE-5AB5-907CD66F545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2122D3-7EEE-7F69-AD66-D78E37758ABA}"/>
              </a:ext>
            </a:extLst>
          </p:cNvPr>
          <p:cNvSpPr txBox="1"/>
          <p:nvPr/>
        </p:nvSpPr>
        <p:spPr>
          <a:xfrm>
            <a:off x="1235998" y="757300"/>
            <a:ext cx="6632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국회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상임위원회의 역할 및 행태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②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7AC176-2B95-DAE1-3F92-73DA16B317A5}"/>
              </a:ext>
            </a:extLst>
          </p:cNvPr>
          <p:cNvSpPr txBox="1"/>
          <p:nvPr/>
        </p:nvSpPr>
        <p:spPr>
          <a:xfrm>
            <a:off x="1080000" y="1671816"/>
            <a:ext cx="10245885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소관부처와의 관계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소관 부처의 사업에 대해 호의적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부처의 입장을 옹호하는 경향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소관부처도 상임위에 대한 일종의 연대의식 존재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상임위별로 예산심의 행태가 달리 나타나는 경향이 있음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상임위에서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예산조정률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및 수정률이 비교적 높으면서 증액을 받은 기관들은 대체로 지역구의 이해와 관련이 있는 사업을 수행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전국적으로 일선기관을 가지고 있음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수정률이 낮은 경우 반대로 작용함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국토부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산업부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F923466-FDD0-917E-F159-088BF1ED8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1E6E09D-B445-38DD-582E-AD6E2A6B2EA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954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7789-AB89-8833-0160-535CD4257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692ED08-CE5A-1814-0847-D54D69C9610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768A53-5194-255E-3BA2-B8483C14541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EAC04B-FD01-0E2F-6A83-2AEE7718123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9F7FB-6999-2A42-4508-B4C685A9EAD8}"/>
              </a:ext>
            </a:extLst>
          </p:cNvPr>
          <p:cNvSpPr txBox="1"/>
          <p:nvPr/>
        </p:nvSpPr>
        <p:spPr>
          <a:xfrm>
            <a:off x="1235998" y="757300"/>
            <a:ext cx="8216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국회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예결위의 예산심의 행태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①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AFC884-7140-C95D-3357-F8D240743FE5}"/>
              </a:ext>
            </a:extLst>
          </p:cNvPr>
          <p:cNvSpPr txBox="1"/>
          <p:nvPr/>
        </p:nvSpPr>
        <p:spPr>
          <a:xfrm>
            <a:off x="1080000" y="1671816"/>
            <a:ext cx="10245885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소관 부처의 예산을 심의하는 상임위와 달리 예산안 전체를 종합 심사하기 때문에 재정지향성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삭감지향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추구 → 국민의 조세 부담 측면에서 재원 규모 고려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행정부 제출 예산에 대한 삭감 및 조정 역할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예결위 종합심사는 상임위의 예비심사 결과를 존중하나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이에 구속되지 않음 → 상임위 수정 내용과 별도로 예결위의 독자적 수정이 이루어지며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예결위에서 의결된 예산안은 거의 그대로 본회의에 통과하는 경향 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6F5284F-8AC2-10F6-18F2-3E1CF1C36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04442FB-618F-5577-14FD-2444B3FFA38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926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04594-9A89-046F-CDDD-3A4C0DDDD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E5E6F2C-E0BA-55B5-7606-519DBBC1230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C515CC-837F-804A-273C-6BC3E77669E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91D336-D980-13B7-448D-A8EDF0836C3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D5AB7C-E43E-6BEB-109D-3AC5C841303D}"/>
              </a:ext>
            </a:extLst>
          </p:cNvPr>
          <p:cNvSpPr txBox="1"/>
          <p:nvPr/>
        </p:nvSpPr>
        <p:spPr>
          <a:xfrm>
            <a:off x="1235998" y="757300"/>
            <a:ext cx="8216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국회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예결위의 예산심의 행태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②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DDCE44-7321-BE60-2812-F1569E095344}"/>
              </a:ext>
            </a:extLst>
          </p:cNvPr>
          <p:cNvSpPr txBox="1"/>
          <p:nvPr/>
        </p:nvSpPr>
        <p:spPr>
          <a:xfrm>
            <a:off x="1080000" y="1671816"/>
            <a:ext cx="10245885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예결위 종합심사에서 가장 중요한 과정은 예산안조정소위원회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예산조정소위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의한 계수조정 과정 → 예산조정소위의 계수 조정 작업은 실질적인 예산조정 작업으로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권한이 막강함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쪽지예산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국회의 예산 심의는 상임위 심의보다 예결위 심의가 우선이라고 볼 수 있음 → 예결위 내 정책 질의나 부별 심사보다 예산조정소위의 조정이 결정적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누구나 하고 싶은 자리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그런데 전문성은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07D033C-E96F-E46D-7671-B2E86566A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0759631-696E-4A25-B174-86A3F3CE1C1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049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BEEF0-CFD6-C066-A4CB-7C9593C6B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102999-2A6B-90A7-15AC-4D20571128D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2E3FC9-9D3C-FE80-050B-DF2084C40C0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5AB047-32A2-57E0-4C5A-2DA52E9FE82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F462A8-119C-D523-17AF-0679670E1357}"/>
              </a:ext>
            </a:extLst>
          </p:cNvPr>
          <p:cNvSpPr txBox="1"/>
          <p:nvPr/>
        </p:nvSpPr>
        <p:spPr>
          <a:xfrm>
            <a:off x="1235998" y="757300"/>
            <a:ext cx="8216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국회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선심성 예산 배정 행태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063292-8952-60B9-83CF-61DBC539C315}"/>
              </a:ext>
            </a:extLst>
          </p:cNvPr>
          <p:cNvSpPr txBox="1"/>
          <p:nvPr/>
        </p:nvSpPr>
        <p:spPr>
          <a:xfrm>
            <a:off x="1080000" y="1671816"/>
            <a:ext cx="10245885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예결위원들의 예산심의 행태와 관련한 문제는 선심성 나눠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먹기식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(pork barrel politics)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보편적 행태로 나타남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국회의원에서 지역구의 지지 기반 유지가 가장 중요하므로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지역 주민을 위한 정부사업 유치에 대한 압력을 받음 → 결과적으로 의회에서의 예산심의가 공익추구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행정부의 견제 및 통제 기능 수행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보다는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다른 지역구 출신 의원들과 협력에 서로 자신들의 지역구에 유리한 사업 유치를 위한 예산 확보에 몰두하는 문제 발생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분배정책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분야에서 빈번하게 발생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F9745A1-C2F3-3DFC-0CCC-DE7844C46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3C3FB2D-4F3A-09B7-1D46-D49C903CD35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010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53E49-8448-4B49-2D49-AEC609CD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CD625A9-9277-8A4E-B562-2E825047FD3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990BD2-3F6D-FCBA-4068-FBFE5E8D0F7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7616E5-12C6-FED7-17C8-6C99B1F25D4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228DC2-18F2-8E23-D00E-59E3F298D156}"/>
              </a:ext>
            </a:extLst>
          </p:cNvPr>
          <p:cNvSpPr txBox="1"/>
          <p:nvPr/>
        </p:nvSpPr>
        <p:spPr>
          <a:xfrm>
            <a:off x="1235998" y="757300"/>
            <a:ext cx="8216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국회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여</a:t>
            </a:r>
            <a:r>
              <a:rPr lang="ko-KR" altLang="en-US" sz="2800" dirty="0" err="1"/>
              <a:t>・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야당의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예산심의 행태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①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46E2E5-BD35-9D8A-6895-BC92BBACD74C}"/>
              </a:ext>
            </a:extLst>
          </p:cNvPr>
          <p:cNvSpPr txBox="1"/>
          <p:nvPr/>
        </p:nvSpPr>
        <p:spPr>
          <a:xfrm>
            <a:off x="1080000" y="1671816"/>
            <a:ext cx="10245885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의회 예산심의 과정은 약하긴 하지만 정당에 의한 영향을 받을 수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우리나라는 분점정부 여부에 비해 정당의 정강 등은 국회의 예산심의 행태를 설명하기엔 다소 설득력이 약함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여당과 야당 간에 예산심의 행태의 상당한 차이가 나타남 → 여당의 경우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예산심의 과정에서 행정부의 예산안을 기한내에 거의 수정 없이 통과시키기 위해 최대한의 노력을 기울임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예산심의 과정에서 비판 또는 행정 감독 기능은 야당의 몫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1B282F6-6868-3A9D-BB79-2A4AF4287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661E27D-DB2A-E2BB-22B0-24BABA3C288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122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F9C2-B811-931F-E2C2-6F6D20177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3F27DC7-417E-1CEF-511C-5434850DAB4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F471D5-96DD-9F6F-2F77-EFCCDA7CBD1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445563-4B74-E6F8-E4BA-B931C47D4DE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2BA370-D3CD-8547-1DE3-E82F74F9925F}"/>
              </a:ext>
            </a:extLst>
          </p:cNvPr>
          <p:cNvSpPr txBox="1"/>
          <p:nvPr/>
        </p:nvSpPr>
        <p:spPr>
          <a:xfrm>
            <a:off x="1235998" y="757300"/>
            <a:ext cx="8216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국회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여</a:t>
            </a:r>
            <a:r>
              <a:rPr lang="ko-KR" altLang="en-US" sz="2800" dirty="0" err="1"/>
              <a:t>・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야당의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예산심의 행태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②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12A587-7BA2-CD5D-B59B-0A3E133AE1E6}"/>
              </a:ext>
            </a:extLst>
          </p:cNvPr>
          <p:cNvSpPr txBox="1"/>
          <p:nvPr/>
        </p:nvSpPr>
        <p:spPr>
          <a:xfrm>
            <a:off x="1080000" y="1671816"/>
            <a:ext cx="10245885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야당의 가장 두드러진 예산심의 행태의 특징은 예산심의를 정치적 이득을 극대화 할 수 있는 기회로 생각한다는 것임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야당은 삭감 지향적 태도가 훨씬 강함 → 정부의 예산안이 정권 연장에 도움이 된다는 견해 아래 이를 수정하려는 시각을 지님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예산과 직접적 관련이 없는 정치적 문제를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쟁점화시켜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야당의 정치적 입지를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강화시키거나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예산을 볼모로 최대의 정치적 이익을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어으려는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 연계 투쟁을 상례화 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1BFA595-8D8C-5376-7E8E-A854AF294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C66E95-D81F-B896-A72B-8782BC8528B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541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0C3DD-F65F-7C85-4992-E1C10D10F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C53766E-D7B3-A10C-A5AB-228AD5ACCC7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EC6BED2-176A-CCA3-8F1D-2AD254E2F33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BEF720-73DA-D31B-75A6-B0F8EBB08D9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57DDAB-17BA-ECD4-1F4F-A104AFF2C499}"/>
              </a:ext>
            </a:extLst>
          </p:cNvPr>
          <p:cNvSpPr txBox="1"/>
          <p:nvPr/>
        </p:nvSpPr>
        <p:spPr>
          <a:xfrm>
            <a:off x="1235998" y="757300"/>
            <a:ext cx="8216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기관의 역할 및 행태론의 한계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2393DB-A3F2-EDD2-AAF6-E414FD20E753}"/>
              </a:ext>
            </a:extLst>
          </p:cNvPr>
          <p:cNvSpPr txBox="1"/>
          <p:nvPr/>
        </p:nvSpPr>
        <p:spPr>
          <a:xfrm>
            <a:off x="1080000" y="1671816"/>
            <a:ext cx="10245885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과정 참여자들의 역할 및 행태를 정리하면 다음과 같음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부처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상임위원회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여당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사업 지향적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&amp;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증액 지향적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소비자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주창자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기획재정부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예결위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야당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재정 지향적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&amp;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삭감 지향적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삭감자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국고 수호자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대통령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균형 지향적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수문장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예결위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주된 역할은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삭감자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균형지향성도 어느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정도 존재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DAE2A1A-85D2-E79F-C8EE-45111894F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E83E7D4-D991-25B8-E0C9-FA568C939D7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802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A0A40-1098-4A16-852C-1CA6A0CF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0170B59-B7E1-8315-C5F7-5A4F29F857A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BC78CF-6FDD-B354-F1A9-B1DE8B675E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44E385-FB42-A17A-CCEF-C12A321EB7B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EFF2CE-0211-1CA5-5EF4-51B31D73D6F2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내용과 예산 행태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경직성 경비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vs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비경직성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경비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981FA3-028B-0DF0-1B0F-4E3C1B2B6D87}"/>
              </a:ext>
            </a:extLst>
          </p:cNvPr>
          <p:cNvSpPr txBox="1"/>
          <p:nvPr/>
        </p:nvSpPr>
        <p:spPr>
          <a:xfrm>
            <a:off x="1080000" y="1671816"/>
            <a:ext cx="10245885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경직성 경비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의무적 지출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는 예산사정 및 심의 단계에서 큰 수정 없이 쉽게 결정됨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비경직성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경비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재량적 지출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 경우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사업적 지출은 삭감의 정도가 크고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집중적인 예산 검토의 대상이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2013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예산안부터 재정지출 사업을 의무지출과 재량지출로 구분하여 국가재정 운영계획에 포함하여 국회에 제출하도록 되어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의무지출은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지방이전재원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지방교부세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지박교육재정교부금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복지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기초생활보장급여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공무원 연금 등의 공적연금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기초연금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노인장기요양보험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이자지출 및 기타 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20B2D85-FB5E-0E88-8AF3-D6A23B628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75038CA-FFCF-D756-33E9-5D0137F6384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250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855ED-D243-83D7-609D-44D35A45D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F39BA7A-8276-B788-E609-301F86F7752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3FDDC2-CBBD-EB3E-0089-46713C10709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0F23B1-42C4-06A0-4E23-3C7F4F83EB5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A36CF5-E705-8814-7746-8492CD465D2D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내용과 예산 행태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사업 내용에 따른 차이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FFBB9A-53A1-8950-F43B-8C1D09222855}"/>
              </a:ext>
            </a:extLst>
          </p:cNvPr>
          <p:cNvSpPr txBox="1"/>
          <p:nvPr/>
        </p:nvSpPr>
        <p:spPr>
          <a:xfrm>
            <a:off x="1080000" y="1671816"/>
            <a:ext cx="10245885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경직성 경비는 법률적 또는 정책적 예측 가능하나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기관의 사업 내용 및 성질이 예산 행태에도 영향을 미칠 수 있음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고위 관료들이 특정 사업을 다른 사업보다 선호할 경우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 편성에서 더 많은 지지와 예산획득을 받음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(Natchez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&amp;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Pupp,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1973)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Kanter(1972)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연구에 따르면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예산심의 단계에서도 예산요구액에 포함된 사업이 무엇인지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연구개발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따라 예산요구액의 수정 규모에서 차이를 보이는 것으로 나타남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CDF6E78-B0E8-19FF-5DB9-7AAF5DD8E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C24ECD0-E43E-D7A8-E2A4-A870C85DC2A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403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5B715-69F9-3361-5B70-F419A30C2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73FB43-320C-E7DF-5014-A2F6D3A3FC7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AF1052-73B4-699C-65C0-0FDCAA7F0A5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248E7-D9CC-6295-C80B-567A8EBB647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2E7B17-299C-AA10-81FF-B09F841EF5F8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수요와 예산 행태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(1):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예산결정요인론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CDD693-914D-313E-A97E-FCC1C651F87E}"/>
              </a:ext>
            </a:extLst>
          </p:cNvPr>
          <p:cNvSpPr txBox="1"/>
          <p:nvPr/>
        </p:nvSpPr>
        <p:spPr>
          <a:xfrm>
            <a:off x="1080000" y="1671816"/>
            <a:ext cx="10245885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이론적으로 예산의 모든 과정은 국민의 욕구를 정부 행동으로 옮겨 주는 과정임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내용의 결정은 환경적 요인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수요 형성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정치행정적 요인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과정의 특성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영향을 받음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정책결정요인론은 비록 여러 문제점을 지니고 있긴 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예산결정에서 사회경제적 변수가 매우 중요하다는 점을 시사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Fabricant, Brazer,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Dawson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등의 연구는 전통적으로 정책내용이 정치 체제의 특성에 의해 좌우된다는 믿음과 반대로 정치적 요인보다 사회경제적 요인이 더 중요한 영향을 미친다는 것을 밝힘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60C23E0-61C3-C8BE-B6DB-5BCF8C29D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CF01F1-E341-6E39-9F6B-056AB98FF55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088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66113-6CFB-33DE-942A-7813DD24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5DEC6D-7C72-8EAC-E43F-1B38503E4982}"/>
              </a:ext>
            </a:extLst>
          </p:cNvPr>
          <p:cNvSpPr txBox="1"/>
          <p:nvPr/>
        </p:nvSpPr>
        <p:spPr>
          <a:xfrm>
            <a:off x="1080000" y="1671816"/>
            <a:ext cx="10245885" cy="1135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결정요인론에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따르면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사회경제적 변수는 예산 수요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예산을 수반한 행정 서비스에 대한 요구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형성하고 → 예산 수요는 예산 행태에 영향을 미침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050C394-39FB-4137-ED5E-9D21B9BB075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F324F6C-7F23-C234-B3B9-E9BC402AAD0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B5F7C-18F9-2554-E70A-09120A05F504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C31EF8-2753-50F8-1F8A-B16FB832BC7C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 수요와 예산 행태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4214AF6-2CB3-D03F-5647-A1A4BB35F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5AEF4F2-051A-7D0B-A774-C9D3F5551C6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95ACE51E-453E-998D-E5C9-778F4295EF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3719406"/>
              </p:ext>
            </p:extLst>
          </p:nvPr>
        </p:nvGraphicFramePr>
        <p:xfrm>
          <a:off x="1491636" y="3429000"/>
          <a:ext cx="9638272" cy="1961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62622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2070</TotalTime>
  <Words>1669</Words>
  <Application>Microsoft Office PowerPoint</Application>
  <PresentationFormat>와이드스크린</PresentationFormat>
  <Paragraphs>137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732</cp:revision>
  <dcterms:created xsi:type="dcterms:W3CDTF">2025-03-10T02:54:00Z</dcterms:created>
  <dcterms:modified xsi:type="dcterms:W3CDTF">2025-10-14T12:58:52Z</dcterms:modified>
</cp:coreProperties>
</file>