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20"/>
  </p:notesMasterIdLst>
  <p:sldIdLst>
    <p:sldId id="256" r:id="rId2"/>
    <p:sldId id="289" r:id="rId3"/>
    <p:sldId id="303" r:id="rId4"/>
    <p:sldId id="304" r:id="rId5"/>
    <p:sldId id="305" r:id="rId6"/>
    <p:sldId id="291" r:id="rId7"/>
    <p:sldId id="306" r:id="rId8"/>
    <p:sldId id="307" r:id="rId9"/>
    <p:sldId id="308" r:id="rId10"/>
    <p:sldId id="309" r:id="rId11"/>
    <p:sldId id="292" r:id="rId12"/>
    <p:sldId id="310" r:id="rId13"/>
    <p:sldId id="312" r:id="rId14"/>
    <p:sldId id="313" r:id="rId15"/>
    <p:sldId id="314" r:id="rId16"/>
    <p:sldId id="315" r:id="rId17"/>
    <p:sldId id="316" r:id="rId18"/>
    <p:sldId id="258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39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2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0498F0-E222-4130-B559-E26B0B605E46}" type="datetimeFigureOut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D4FCB-31F1-4D49-A262-D5EAFE6F4D2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8811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64346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5D9E1-6C6F-C4D2-D23C-0BA9BFEBF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0B9386-1D98-5ED0-8C9F-872C5751C4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64CC4F-4C3D-B19E-B0EB-77795B5CB1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CA7D90-3B51-EFFC-4998-33055712A0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765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8242C-7A8C-636C-1A57-E7AB921ED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3D3B5F-9A80-989F-4D26-80C23B1CD7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B7D283-BC28-8AA2-F67E-B920939328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9FA26F-A8F0-718F-6A80-B2818ED488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8778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255CA-33D9-314C-0089-D6C23B924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E730425-ABE5-075E-77BB-13E961E3EB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41461C-05CF-058B-B31B-4741B27D7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97D5C1-3B11-F07A-A81F-C530BF4066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58884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87F73-E3AF-7010-B8AB-FE798C94F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7B28C7B-AE42-8C95-A192-49FF2114EA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6B7312-DBD2-46FA-C909-9ECD6D749D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864F3A-3E26-48CC-D17E-DAA02DEB5C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33947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A4B7B-EA76-9279-7026-4F8D8DE32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D2E93E-ECDD-1E1B-6E63-6D631FF6C5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5C27865-7115-F895-BBE8-A949FCC5A2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FEA5AD-79C5-40A9-70E1-B2E08BA0FF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47986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F645D-E6C7-B418-EDDF-A9908A4D7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88A5F8-8A67-9065-B79E-3359A79F2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803B89-B870-5C9E-C393-CB61F40D1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DF80C5-B34C-3671-FD9C-2F28D0293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3D4FCB-31F1-4D49-A262-D5EAFE6F4D25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8244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36FE37-B45E-702D-9B96-4299560E3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6E08DEC-7BB0-FA22-8DA3-B1AB8DEFC9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83A6BA-1565-C464-F4EB-3906E7373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C39A-0473-4F06-BAED-15A0495CDC03}" type="datetime1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EBC19E9-6DDD-6434-8E6B-06EF96BBE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85B267-7A29-ED1D-ACA4-7E277B84F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55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8B7FEF-A226-AA76-1459-1FDB0A4E5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A804A3-2F1B-0A55-13C5-3650E2677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F0C730-8C26-635F-3C55-9A7C0301F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B99A3-FCEB-4DA1-9F62-29D8C0003628}" type="datetime1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7EFE1-B630-48F3-8A5C-C662E88B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850C1-CA85-ED3E-2330-22B834CB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9009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E0D3C-3680-19BF-4C67-D4B4784C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5C665B-B2AA-B08F-C279-912EC2D10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D66F2D-16A0-557C-3CCB-8FFB7554D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900D-BC70-4759-8B81-959479FDE631}" type="datetime1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FBDE22-BDA4-74CE-8C4C-E4E73812C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8D6EA0-E1DE-BF0E-0912-85915DD8D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016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6F7B9F-6A11-CC5A-7A36-44D8AD919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83DDB-E592-C2D4-A180-B5DEDBF7B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51331B-C0B4-8EDC-103E-47B36BBE59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0767AC-DDFA-8913-983C-6DA9B0A67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5B54D-7A36-44B1-8C28-43CC23156252}" type="datetime1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DBFE1A-421D-107D-5DF2-1870DCECC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2004D5-4E92-0B4C-7EE6-FAB9D429C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97669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0A58D-AA06-16B9-3770-41AD164C9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96E662-B7C3-7FD5-CD89-C526ED31F5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8B9CFFF-D7AA-F586-9E75-BF93A17113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418F7E-3EA8-DC1E-43BE-7D850C468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95F9-9077-E721-07CD-4CA241161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CEFD06E-78D1-0213-E60C-58C7C880A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9D56D-5F5D-4386-8229-7B3FCE23A9DB}" type="datetime1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BA4C8D-33C2-7987-6D00-869244A5B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D2AB68B-4F6B-A0AD-F831-29C6E58A1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982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AAD11A-F73C-0207-0712-CC5C19669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8CC1D79-BC19-4316-F46D-F86B393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DD53D-D905-4ACB-AC18-AA7FCF8F80DE}" type="datetime1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50F371-759C-8971-0893-79AC08C8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A58D82D-21E7-57EF-BE11-B67FED11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31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DEECEE-D8EA-089C-FBE6-ADF6F763B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1BD813-ACF2-4610-9984-BFC3E3445E99}" type="datetime1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56F723E-2C54-55A9-296D-F360D20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62517F-6DF0-37E6-743B-70F38A8A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22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08B69-7F2C-A92C-998A-A211E4A4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C4434C-27A6-FC8C-2488-5BF688F52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07BAD0-6B32-5C64-3F97-CF151C3C7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F30F74-FB46-CA2D-CE2A-520ACD1A3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8359E2-8CCE-47B9-BB7A-030AE3600AA0}" type="datetime1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9900CC-E9D2-5A28-AF25-307ADC6E3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B32BB5-82AE-8482-2D75-FF89DE29E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5764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A0DA8-0481-0840-93EF-373E4CAC2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35C5FCC-6E56-4B61-8A3A-806032224D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03281E-513F-2090-6B6C-30573828E1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C8138-7D38-BAA2-991C-DD73FA9AC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E92EE-1CF8-4367-A084-DA2FF58DBBDB}" type="datetime1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DCA6D2-D45C-5920-4860-B918D7BB0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E13D3DA-09E9-2079-3755-86D4E660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974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5BFF0-B5FD-B1C9-7990-6E39B598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A3334E-6A42-25D9-36F5-3E2B606E35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E5EBEB-6DD2-0DC1-0485-D095141E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E0889-A16A-434F-93C1-A64A52D175C8}" type="datetime1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47268B-0A1F-2E11-B10F-6214EB64A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646C17-DF9E-4AA3-63E2-DF71DCBC8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1524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D2B582-D262-AA95-51F3-7DB2368588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E71DB97-E146-2A4B-9A20-568C9C3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D1D531-D2EA-FDE0-273E-A182CC962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027F3-8B5B-4B0E-A74B-00FCFC008BFB}" type="datetime1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24463-153E-992E-0670-078E99ED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574CB5-B661-FD9B-8604-B864DDC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50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4896CC-D357-0B15-BD4E-82985503F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A76DE65-3AA6-CB13-9141-59D0783E05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9FD434-1997-7C62-7EE2-A5C4A20CF3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4A376-E7CB-4754-856D-B8EF9D28E97C}" type="datetime1">
              <a:rPr lang="ko-KR" altLang="en-US" smtClean="0"/>
              <a:t>2025-09-16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F7F881-B52B-6E21-A008-2784312083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AB78CF-D66F-B729-696F-488DF175C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38DD9-BE58-4515-BACA-5617C09A62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146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kdkim@kipa.re.kr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10ED8B-338F-5AA3-7E4C-9CE149942F70}"/>
              </a:ext>
            </a:extLst>
          </p:cNvPr>
          <p:cNvSpPr txBox="1"/>
          <p:nvPr/>
        </p:nvSpPr>
        <p:spPr>
          <a:xfrm>
            <a:off x="303023" y="5307578"/>
            <a:ext cx="198419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김경동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ko-KR" altLang="en-US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</a:rPr>
              <a:t>행정학과 조교수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  <a:p>
            <a:r>
              <a:rPr lang="en-US" altLang="ko-KR" sz="20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0000800000000000000" pitchFamily="2" charset="-127"/>
                <a:hlinkClick r:id="rId2"/>
              </a:rPr>
              <a:t>kdkim@kw.ac.kr</a:t>
            </a:r>
            <a:endParaRPr lang="en-US" altLang="ko-KR" sz="20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00008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9AC125-E49A-1BDE-4CB3-1DDFDD1917F7}"/>
              </a:ext>
            </a:extLst>
          </p:cNvPr>
          <p:cNvSpPr txBox="1"/>
          <p:nvPr/>
        </p:nvSpPr>
        <p:spPr>
          <a:xfrm>
            <a:off x="1938662" y="2215148"/>
            <a:ext cx="8314676" cy="160043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2025</a:t>
            </a:r>
            <a:r>
              <a:rPr lang="ko-KR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년도 가을학기</a:t>
            </a:r>
            <a:endParaRPr lang="en-US" altLang="ko-KR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6600" b="1">
                <a:solidFill>
                  <a:srgbClr val="761F2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재무행정론</a:t>
            </a:r>
            <a:endParaRPr lang="ko-KR" altLang="en-US" sz="6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경기천년제목 Bold" panose="02020803020101020101" pitchFamily="18" charset="-127"/>
              <a:ea typeface="경기천년제목 Bold" panose="02020803020101020101" pitchFamily="18" charset="-127"/>
              <a:cs typeface="KoPubWorld돋움체 Bold" panose="00000800000000000000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3C7D5DA-9E30-A35C-384A-368E3B235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F4A3564C-61B8-C23D-8A58-2BDFC3C0594F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6E7012C1-2889-777F-5077-8BBDEF2B9805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E0BA23DB-DD41-E0E9-8BD7-770B6BCB4C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719BD9D4-EA27-8883-6C3A-3B4D22263CD7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74972B61-1483-C590-C007-CB56962870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999096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29EAF-E542-DF3A-2695-853BC9C9A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4D0CEF8-B52D-DB8C-1594-BB8B62C1FF5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9E32A99-2B7A-AE6B-472D-3D3066666C4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EA155A-6C01-1457-F19B-BA4B053FEFD3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BF75ED-31AA-39A9-DC85-90AE55A9CE1B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예산의 총계와 순계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F5D437B-3E14-B500-6DD6-4D4CE1E3EEAF}"/>
              </a:ext>
            </a:extLst>
          </p:cNvPr>
          <p:cNvSpPr txBox="1"/>
          <p:nvPr/>
        </p:nvSpPr>
        <p:spPr>
          <a:xfrm>
            <a:off x="1080000" y="1671816"/>
            <a:ext cx="10800000" cy="3573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예산은 일반회계와 특별회계 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특별회계와 특별회계 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회계 내 계정 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그리고 회계와 기금 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기금과 기금 간 거래가 이루어지는 경우가 많음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전출금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전입금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예탁금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예수금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출연금 등 다양한 형태로 자금이 이전됨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일반회계로부터 양곡특별관리회계로의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전출금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우체국예금특별회계에서 일반회계로의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전출금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등 자금 이전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문제는 이때 이전된 금액이 양쪽에서 중복 계산된다는 점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3DBDF90-15CA-3CFA-FB7F-44240F89F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AD92805-807F-CB3C-F622-91A50E3D14A7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254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BC9C9-1609-1CC9-A9F6-D77E83D6A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4B39E83-3A52-511A-AB7B-4FFDFB964629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F8B11C6-7CE2-C6A2-8CB6-04923886A31B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381CEA-3593-F452-53F3-5A283E66122F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2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55851C-E10B-E670-86D8-A95742A0F901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예산의 총계와 순계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346B8B-C843-3D1E-3BF9-B3E18557AECB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이중계산된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규모로 예산을 파악한 것을 총계라고 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중복 계산된 내부거래 부분을 제외한 것을 순계라고 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.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즉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예산순계는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예산 총계에서 회계간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회계내 계정 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부문간 지출 및 영업지출을 모두 차감한 규모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지방재정의 경우는 지자체 내 회계간 이전거래 외에도 보조금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교부금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융자금 등 광역과 기초 사이의 이전거래도 제외하여 순계 규모를 계산함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 총예산의 규모를 파악하는 데는 순계 기준이 더 유용하며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개별적 회계 또는 기금의 독립된 규모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활동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파악하는 데는 총계 기준이 더 유용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78A245D-19F3-A84A-7A67-5FC070C2D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55EB9A1-63BF-5EFE-B248-B1DFB45E437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0245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503EE-F633-A1AD-A780-36DC55EF8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4B053A9-188B-D4B7-48FE-C0BB58B881B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74632FE-BA53-9016-B49A-71D0694CB030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977704-4F13-5841-0CBF-CA71BB94F2C6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3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6DE222-30C6-4974-49E3-5DE15EF0730F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예산의 총계와 순계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BE4E0C74-024A-3B65-D29A-2926DDE1E1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780B365-C2CD-458E-FB61-CF35E50F778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D55F2D2-0720-5BD4-E10A-A99D5C519D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1465874"/>
              </p:ext>
            </p:extLst>
          </p:nvPr>
        </p:nvGraphicFramePr>
        <p:xfrm>
          <a:off x="1628108" y="1523674"/>
          <a:ext cx="8935784" cy="4351339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233946">
                  <a:extLst>
                    <a:ext uri="{9D8B030D-6E8A-4147-A177-3AD203B41FA5}">
                      <a16:colId xmlns:a16="http://schemas.microsoft.com/office/drawing/2014/main" val="1100493465"/>
                    </a:ext>
                  </a:extLst>
                </a:gridCol>
                <a:gridCol w="2233946">
                  <a:extLst>
                    <a:ext uri="{9D8B030D-6E8A-4147-A177-3AD203B41FA5}">
                      <a16:colId xmlns:a16="http://schemas.microsoft.com/office/drawing/2014/main" val="862938400"/>
                    </a:ext>
                  </a:extLst>
                </a:gridCol>
                <a:gridCol w="2233946">
                  <a:extLst>
                    <a:ext uri="{9D8B030D-6E8A-4147-A177-3AD203B41FA5}">
                      <a16:colId xmlns:a16="http://schemas.microsoft.com/office/drawing/2014/main" val="2013421817"/>
                    </a:ext>
                  </a:extLst>
                </a:gridCol>
                <a:gridCol w="2233946">
                  <a:extLst>
                    <a:ext uri="{9D8B030D-6E8A-4147-A177-3AD203B41FA5}">
                      <a16:colId xmlns:a16="http://schemas.microsoft.com/office/drawing/2014/main" val="2206671014"/>
                    </a:ext>
                  </a:extLst>
                </a:gridCol>
              </a:tblGrid>
              <a:tr h="3108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 dirty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구분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항목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금액 </a:t>
                      </a:r>
                      <a:r>
                        <a:rPr lang="en-US" altLang="ko-KR" sz="150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(</a:t>
                      </a:r>
                      <a:r>
                        <a:rPr lang="ko-KR" altLang="en-US" sz="150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억 원</a:t>
                      </a:r>
                      <a:r>
                        <a:rPr lang="en-US" altLang="ko-KR" sz="150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)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설명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830908342"/>
                  </a:ext>
                </a:extLst>
              </a:tr>
              <a:tr h="31081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 b="1" dirty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일반회계</a:t>
                      </a:r>
                      <a:endParaRPr lang="ko-KR" altLang="en-US" sz="1500" dirty="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세입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1,000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ko-KR" altLang="en-US" sz="1500" dirty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국세 등 일반재원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996419304"/>
                  </a:ext>
                </a:extLst>
              </a:tr>
              <a:tr h="543917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500" dirty="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 dirty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세출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1,000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ko-KR" altLang="en-US" sz="1500" dirty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이 중 </a:t>
                      </a:r>
                      <a:r>
                        <a:rPr lang="en-US" altLang="ko-KR" sz="1500" b="1" dirty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200</a:t>
                      </a:r>
                      <a:r>
                        <a:rPr lang="ko-KR" altLang="en-US" sz="1500" b="1" dirty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억 원은 특별회계로 전출</a:t>
                      </a:r>
                      <a:endParaRPr lang="ko-KR" altLang="en-US" sz="1500" dirty="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836679510"/>
                  </a:ext>
                </a:extLst>
              </a:tr>
              <a:tr h="543917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 b="1" dirty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특별회계</a:t>
                      </a:r>
                      <a:endParaRPr lang="ko-KR" altLang="en-US" sz="1500" dirty="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세입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500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ko-KR" altLang="en-US" sz="1500" dirty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자체 수입 </a:t>
                      </a:r>
                      <a:r>
                        <a:rPr lang="en-US" altLang="ko-KR" sz="1500" dirty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300 + </a:t>
                      </a:r>
                      <a:r>
                        <a:rPr lang="ko-KR" altLang="en-US" sz="1500" dirty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일반회계 </a:t>
                      </a:r>
                      <a:r>
                        <a:rPr lang="ko-KR" altLang="en-US" sz="1500" dirty="0" err="1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전입금</a:t>
                      </a:r>
                      <a:r>
                        <a:rPr lang="ko-KR" altLang="en-US" sz="1500" dirty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 </a:t>
                      </a:r>
                      <a:r>
                        <a:rPr lang="en-US" altLang="ko-KR" sz="1500" dirty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200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964567359"/>
                  </a:ext>
                </a:extLst>
              </a:tr>
              <a:tr h="310810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lang="ko-KR" altLang="en-US" sz="1500" dirty="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 dirty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세출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dirty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500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ko-KR" altLang="en-US" sz="150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특별 목적 사업 지출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3409126536"/>
                  </a:ext>
                </a:extLst>
              </a:tr>
              <a:tr h="7770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 b="1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총계</a:t>
                      </a:r>
                      <a:endParaRPr lang="ko-KR" altLang="en-US" sz="15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 dirty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합계 지출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1" dirty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1,500</a:t>
                      </a:r>
                      <a:endParaRPr lang="ko-KR" altLang="en-US" sz="1500" dirty="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ko-KR" altLang="en-US" sz="1500" dirty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일반회계 </a:t>
                      </a:r>
                      <a:r>
                        <a:rPr lang="en-US" altLang="ko-KR" sz="1500" dirty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1,000 + </a:t>
                      </a:r>
                      <a:r>
                        <a:rPr lang="ko-KR" altLang="en-US" sz="1500" dirty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특별회계 </a:t>
                      </a:r>
                      <a:r>
                        <a:rPr lang="en-US" altLang="ko-KR" sz="1500" dirty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500 (</a:t>
                      </a:r>
                      <a:r>
                        <a:rPr lang="ko-KR" altLang="en-US" sz="1500" dirty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전출</a:t>
                      </a:r>
                      <a:r>
                        <a:rPr lang="en-US" altLang="ko-KR" sz="1500" dirty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·</a:t>
                      </a:r>
                      <a:r>
                        <a:rPr lang="ko-KR" altLang="en-US" sz="1500" dirty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전입 중복 계상</a:t>
                      </a:r>
                      <a:r>
                        <a:rPr lang="en-US" altLang="ko-KR" sz="1500" dirty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)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2212567285"/>
                  </a:ext>
                </a:extLst>
              </a:tr>
              <a:tr h="7770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 b="1" dirty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순계</a:t>
                      </a:r>
                      <a:endParaRPr lang="ko-KR" altLang="en-US" sz="1500" dirty="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 dirty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합계 지출</a:t>
                      </a: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1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1,300</a:t>
                      </a:r>
                      <a:endParaRPr lang="ko-KR" altLang="en-US" sz="15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ko-KR" altLang="en-US" sz="1500" dirty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실제 지출</a:t>
                      </a:r>
                      <a:r>
                        <a:rPr lang="en-US" altLang="ko-KR" sz="1500" dirty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: (</a:t>
                      </a:r>
                      <a:r>
                        <a:rPr lang="ko-KR" altLang="en-US" sz="1500" dirty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일반회계 </a:t>
                      </a:r>
                      <a:r>
                        <a:rPr lang="en-US" altLang="ko-KR" sz="1500" dirty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1,000 – </a:t>
                      </a:r>
                      <a:r>
                        <a:rPr lang="ko-KR" altLang="en-US" sz="1500" dirty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전출 </a:t>
                      </a:r>
                      <a:r>
                        <a:rPr lang="en-US" altLang="ko-KR" sz="1500" dirty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200) + </a:t>
                      </a:r>
                      <a:r>
                        <a:rPr lang="ko-KR" altLang="en-US" sz="1500" dirty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특별회계 </a:t>
                      </a:r>
                      <a:r>
                        <a:rPr lang="en-US" altLang="ko-KR" sz="1500" dirty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500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4072337148"/>
                  </a:ext>
                </a:extLst>
              </a:tr>
              <a:tr h="7770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 b="1" dirty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총계 </a:t>
                      </a:r>
                      <a:r>
                        <a:rPr lang="en-US" altLang="ko-KR" sz="1500" b="1" dirty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– </a:t>
                      </a:r>
                      <a:r>
                        <a:rPr lang="ko-KR" altLang="en-US" sz="1500" b="1" dirty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순계 차이</a:t>
                      </a:r>
                      <a:endParaRPr lang="ko-KR" altLang="en-US" sz="1500" dirty="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500" dirty="0" err="1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중복계상액</a:t>
                      </a:r>
                      <a:endParaRPr lang="ko-KR" altLang="en-US" sz="1500" dirty="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ko-KR" sz="1500" b="1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200</a:t>
                      </a:r>
                      <a:endParaRPr lang="ko-KR" altLang="en-US" sz="15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77702" marR="77702" marT="38851" marB="3885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ko-KR" altLang="en-US" sz="1500" dirty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일반회계 전출과 특별회계 전입이 동시에 잡혀 발생</a:t>
                      </a:r>
                    </a:p>
                  </a:txBody>
                  <a:tcPr marL="77702" marR="77702" marT="38851" marB="38851" anchor="ctr"/>
                </a:tc>
                <a:extLst>
                  <a:ext uri="{0D108BD9-81ED-4DB2-BD59-A6C34878D82A}">
                    <a16:rowId xmlns:a16="http://schemas.microsoft.com/office/drawing/2014/main" val="9607496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136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BE3B9-94BF-6533-50C4-DB66EF08F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45236CA-11C8-A44E-79C3-302CB75F1448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A110F70-811B-A39C-858F-80603FA5CAE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EC47F6-96CD-E2A5-26A5-914BCE3E251E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4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97B9E3-0159-3686-87E2-9D172BDC944A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통합재정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1DC432-72FD-619B-3DA5-EE371C5E9309}"/>
              </a:ext>
            </a:extLst>
          </p:cNvPr>
          <p:cNvSpPr txBox="1"/>
          <p:nvPr/>
        </p:nvSpPr>
        <p:spPr>
          <a:xfrm>
            <a:off x="1080000" y="1671816"/>
            <a:ext cx="10800000" cy="4275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통합재정은 일반회계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특별회계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기금을 모두 포함하는 정부의 재정활동을 체계적으로 분류해 표시함으로써 재정이 국민 경제에 미치는 효과를 파악하고자 하는 예산제도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일반회계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특별회계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기금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세입세출 외 자금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세계잉여금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전대차관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을 포함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통합재정의 규모는 중앙재정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지방재정 그리고 지방교육재정을 포함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·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세출을 순계 개념으로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내부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보전거래 제외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통합수지로 재정 건전성 파악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세입과 세출을 경상거래와 자본거래로 구분하는 경제적 분류를 활용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914400" lvl="1" indent="-457200">
              <a:lnSpc>
                <a:spcPct val="150000"/>
              </a:lnSpc>
              <a:spcBef>
                <a:spcPct val="20000"/>
              </a:spcBef>
              <a:buFont typeface="+mj-ea"/>
              <a:buAutoNum type="circleNumDbPlain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 소비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정부투자 등 국민소득 계정과 연계해서 작성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12B63DB4-9A77-8E19-6133-4FAE3D856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E34D66B3-4E88-D2E2-200A-CC859AF09A76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1186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EE8FD-3770-110B-CB0F-A1E569832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45C872C-E519-521B-87C6-CB840FE87B8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5C37861-95BB-5F1F-F9FB-D590D1C35474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F721AB-A802-C04B-9240-F2C73A94C1AD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5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EEED60D-251B-3E2E-00EF-ED11444071A9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통합재정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317470-CC24-CCEF-5BCE-9229BC0ED3BA}"/>
              </a:ext>
            </a:extLst>
          </p:cNvPr>
          <p:cNvSpPr txBox="1"/>
          <p:nvPr/>
        </p:nvSpPr>
        <p:spPr>
          <a:xfrm>
            <a:off x="1080000" y="1671816"/>
            <a:ext cx="10800000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통합재정은 정부의 거래를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세입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b="1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세출및순융자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보전재원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으로 구분함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세입에서는 정부로 유입되는 수입 중 비상환성 수입만이 세입으로 기록됨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유동성 목적의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상환성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수입인 국채발행 수입이나 차입 등은 세입이 아니라 보전재원 수입으로 기록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세입은 경상수입과 자본수입으로 구분 → 경상수입은 조세수입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세외수입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수수료 등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 포함되며  자본수입은 자본재의 매각으로 발생한 수입금만 포함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세출및순융자는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정부의 모든 비상환성 지출과 유동성 목적이 아닌 정책적 목적의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상환성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지출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융자 지출에서 융자 회수를 차감한 부분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순융자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포함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F1418AA-B0D2-59F1-BE3F-915C3BEA9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2C263530-F6D6-FEE9-DCCF-8A555DCA376C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7265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7EF05-9F2E-529F-2F3D-A724B1801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317096B2-0973-D6C8-C8CF-16AB4B90EC90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0EC5982-5023-696B-ABA4-8025F2E2970F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7E3F52-9320-F761-09CE-0E85C98E0BC4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6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8DF01A-15D2-6BE7-B3CE-75AD2F43598C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통합재정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FFF4BF-44A7-79C2-6606-B80ED5300C8B}"/>
              </a:ext>
            </a:extLst>
          </p:cNvPr>
          <p:cNvSpPr txBox="1"/>
          <p:nvPr/>
        </p:nvSpPr>
        <p:spPr>
          <a:xfrm>
            <a:off x="1080000" y="1671816"/>
            <a:ext cx="10800000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보전재원은 재정수지를 보전하기 위한 국채발행과 차입을 의미함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보전재원의 크기는 세입과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세출및순융자의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차이와 같으며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유동성 목적의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상환성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수입과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상환성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지출거래가 포함됨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재정적자와 흑자를 보여주는 통합재정수지는 결국 보전재원의 크기와 같으며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부호만 다를 뿐임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따라서 통합재정수지는 재정활동의 건전성을 보여주는 지표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세입과 세출은 경상거래와 자본거래로 구분하는 경제적 분류를 활용 → 세출예산은 기능적 분류가 추가됨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98F1D2A-F359-B04A-41FD-3007FAF188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59CDA0C-2C9C-F6F8-7B1C-29FD3A5F6820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7423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63262-1AC0-0A5D-FA10-81865B5FE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13D3714-4134-538D-167B-4A296573D7BD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DCF9BAC-745B-B456-E028-DE56E7832C5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6B6D53-3D14-087B-F8CC-C982FB474E26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7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8950B7-6819-C487-76C5-F86850509151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통합재정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0981969-A8F4-102C-9A2E-A6D755FDF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B20DECE-11F8-A1D7-3D5D-6BB3BC3BD968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CFBFBDD-3C48-6C8B-4F9A-DA017B1639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277238"/>
              </p:ext>
            </p:extLst>
          </p:nvPr>
        </p:nvGraphicFramePr>
        <p:xfrm>
          <a:off x="2100403" y="1523673"/>
          <a:ext cx="8247707" cy="411001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944339">
                  <a:extLst>
                    <a:ext uri="{9D8B030D-6E8A-4147-A177-3AD203B41FA5}">
                      <a16:colId xmlns:a16="http://schemas.microsoft.com/office/drawing/2014/main" val="4145915751"/>
                    </a:ext>
                  </a:extLst>
                </a:gridCol>
                <a:gridCol w="3151684">
                  <a:extLst>
                    <a:ext uri="{9D8B030D-6E8A-4147-A177-3AD203B41FA5}">
                      <a16:colId xmlns:a16="http://schemas.microsoft.com/office/drawing/2014/main" val="4280085279"/>
                    </a:ext>
                  </a:extLst>
                </a:gridCol>
                <a:gridCol w="3151684">
                  <a:extLst>
                    <a:ext uri="{9D8B030D-6E8A-4147-A177-3AD203B41FA5}">
                      <a16:colId xmlns:a16="http://schemas.microsoft.com/office/drawing/2014/main" val="4218241197"/>
                    </a:ext>
                  </a:extLst>
                </a:gridCol>
              </a:tblGrid>
              <a:tr h="513752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통합재정 규모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통합재정 수입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세입＋보전재원</a:t>
                      </a: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436277256"/>
                  </a:ext>
                </a:extLst>
              </a:tr>
              <a:tr h="5137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8100" marR="3810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통합재정 지출</a:t>
                      </a:r>
                    </a:p>
                  </a:txBody>
                  <a:tcPr marL="17907" marR="17907" marT="17907" marB="17907" anchor="ctr"/>
                </a:tc>
                <a:tc>
                  <a:txBody>
                    <a:bodyPr/>
                    <a:lstStyle/>
                    <a:p>
                      <a:pPr marL="38100" marR="3810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 dirty="0" err="1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세출＋순융자</a:t>
                      </a:r>
                      <a:endParaRPr lang="ko-KR" altLang="en-US" sz="2000" kern="0" spc="0" dirty="0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17907" marR="17907" marT="17907" marB="17907" anchor="ctr"/>
                </a:tc>
                <a:extLst>
                  <a:ext uri="{0D108BD9-81ED-4DB2-BD59-A6C34878D82A}">
                    <a16:rowId xmlns:a16="http://schemas.microsoft.com/office/drawing/2014/main" val="1626906266"/>
                  </a:ext>
                </a:extLst>
              </a:tr>
              <a:tr h="513752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통합재정 수지</a:t>
                      </a:r>
                    </a:p>
                  </a:txBody>
                  <a:tcPr marL="17907" marR="17907" marT="17907" marB="17907" anchor="ctr"/>
                </a:tc>
                <a:tc gridSpan="2">
                  <a:txBody>
                    <a:bodyPr/>
                    <a:lstStyle/>
                    <a:p>
                      <a:pPr marL="38100" marR="3810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△보전재원</a:t>
                      </a:r>
                    </a:p>
                  </a:txBody>
                  <a:tcPr marL="17907" marR="17907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626669"/>
                  </a:ext>
                </a:extLst>
              </a:tr>
              <a:tr h="5137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38100" marR="3810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세입－</a:t>
                      </a:r>
                      <a:r>
                        <a:rPr lang="en-US" altLang="ko-KR" sz="2000" kern="0" spc="0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(</a:t>
                      </a:r>
                      <a:r>
                        <a:rPr lang="ko-KR" altLang="en-US" sz="2000" kern="0" spc="0" dirty="0" err="1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세출＋순융자</a:t>
                      </a:r>
                      <a:r>
                        <a:rPr lang="en-US" altLang="ko-KR" sz="2000" kern="0" spc="0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)</a:t>
                      </a:r>
                      <a:endParaRPr lang="ko-KR" altLang="en-US" sz="2000" kern="0" spc="0" dirty="0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17907" marR="17907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8076442"/>
                  </a:ext>
                </a:extLst>
              </a:tr>
              <a:tr h="5137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38100" marR="3810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2000" kern="0" spc="0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(</a:t>
                      </a:r>
                      <a:r>
                        <a:rPr lang="ko-KR" altLang="en-US" sz="2000" kern="0" spc="0" dirty="0" err="1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세입＋융자</a:t>
                      </a: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 회수</a:t>
                      </a:r>
                      <a:r>
                        <a:rPr lang="en-US" altLang="ko-KR" sz="2000" kern="0" spc="0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)</a:t>
                      </a: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－</a:t>
                      </a:r>
                      <a:r>
                        <a:rPr lang="en-US" altLang="ko-KR" sz="2000" kern="0" spc="0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(</a:t>
                      </a:r>
                      <a:r>
                        <a:rPr lang="ko-KR" altLang="en-US" sz="2000" kern="0" spc="0" dirty="0" err="1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세출＋융자</a:t>
                      </a: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 지출</a:t>
                      </a:r>
                      <a:r>
                        <a:rPr lang="en-US" altLang="ko-KR" sz="2000" kern="0" spc="0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)</a:t>
                      </a:r>
                      <a:endParaRPr lang="ko-KR" altLang="en-US" sz="2000" kern="0" spc="0" dirty="0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17907" marR="17907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3658000"/>
                  </a:ext>
                </a:extLst>
              </a:tr>
              <a:tr h="51375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세입</a:t>
                      </a:r>
                    </a:p>
                  </a:txBody>
                  <a:tcPr marL="17907" marR="17907" marT="17907" marB="17907" anchor="ctr"/>
                </a:tc>
                <a:tc gridSpan="2">
                  <a:txBody>
                    <a:bodyPr/>
                    <a:lstStyle/>
                    <a:p>
                      <a:pPr marL="38100" marR="3810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총수입－</a:t>
                      </a:r>
                      <a:r>
                        <a:rPr lang="en-US" altLang="ko-KR" sz="2000" kern="0" spc="0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(</a:t>
                      </a:r>
                      <a:r>
                        <a:rPr lang="ko-KR" altLang="en-US" sz="2000" kern="0" spc="0" dirty="0" err="1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차입금＋국채수입＋내부거래</a:t>
                      </a: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 수입</a:t>
                      </a:r>
                      <a:r>
                        <a:rPr lang="en-US" altLang="ko-KR" sz="2000" kern="0" spc="0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)</a:t>
                      </a:r>
                      <a:endParaRPr lang="ko-KR" altLang="en-US" sz="2000" kern="0" spc="0" dirty="0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17907" marR="17907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2140416"/>
                  </a:ext>
                </a:extLst>
              </a:tr>
              <a:tr h="51375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세출</a:t>
                      </a:r>
                    </a:p>
                  </a:txBody>
                  <a:tcPr marL="17907" marR="17907" marT="17907" marB="17907" anchor="ctr"/>
                </a:tc>
                <a:tc gridSpan="2">
                  <a:txBody>
                    <a:bodyPr/>
                    <a:lstStyle/>
                    <a:p>
                      <a:pPr marL="38100" marR="3810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총지출－</a:t>
                      </a:r>
                      <a:r>
                        <a:rPr lang="en-US" altLang="ko-KR" sz="2000" kern="0" spc="0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(</a:t>
                      </a: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채무 </a:t>
                      </a:r>
                      <a:r>
                        <a:rPr lang="ko-KR" altLang="en-US" sz="2000" kern="0" spc="0" dirty="0" err="1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상환＋내부거래</a:t>
                      </a: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 지출</a:t>
                      </a:r>
                      <a:r>
                        <a:rPr lang="en-US" altLang="ko-KR" sz="2000" kern="0" spc="0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)</a:t>
                      </a:r>
                      <a:endParaRPr lang="ko-KR" altLang="en-US" sz="2000" kern="0" spc="0" dirty="0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17907" marR="17907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951741"/>
                  </a:ext>
                </a:extLst>
              </a:tr>
              <a:tr h="51375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b="1" kern="0" spc="0" dirty="0" err="1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순융자</a:t>
                      </a:r>
                      <a:endParaRPr lang="ko-KR" altLang="en-US" sz="2000" b="1" kern="0" spc="0" dirty="0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17907" marR="17907" marT="17907" marB="17907" anchor="ctr"/>
                </a:tc>
                <a:tc gridSpan="2">
                  <a:txBody>
                    <a:bodyPr/>
                    <a:lstStyle/>
                    <a:p>
                      <a:pPr marL="38100" marR="38100" indent="0" algn="ctr" fontAlgn="base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융자 </a:t>
                      </a:r>
                      <a:r>
                        <a:rPr lang="ko-KR" altLang="en-US" sz="2000" kern="0" spc="0" dirty="0" err="1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지출－융자</a:t>
                      </a:r>
                      <a:r>
                        <a:rPr lang="ko-KR" altLang="en-US" sz="2000" kern="0" spc="0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 회수</a:t>
                      </a:r>
                    </a:p>
                  </a:txBody>
                  <a:tcPr marL="17907" marR="17907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1167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5650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09100-358F-076C-C65F-18C0B6877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EC6F0B2C-028F-1CEA-1E51-8F56B5C8A6F6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505BACC-B2EC-D974-B793-812D69F1850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682CCE-0DDA-9F62-9A2F-E9C980CD1090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8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811851-766C-BEA5-8978-2857EBF10731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통합재정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(4)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7341E78-BDCB-6BC9-0483-367D9CA7B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561623F-76AF-AB21-C174-D72B656E8F83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6ECDE63-6718-D17B-81C4-CC16769A6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5418212"/>
              </p:ext>
            </p:extLst>
          </p:nvPr>
        </p:nvGraphicFramePr>
        <p:xfrm>
          <a:off x="1539089" y="1523674"/>
          <a:ext cx="9578568" cy="411000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97321">
                  <a:extLst>
                    <a:ext uri="{9D8B030D-6E8A-4147-A177-3AD203B41FA5}">
                      <a16:colId xmlns:a16="http://schemas.microsoft.com/office/drawing/2014/main" val="3033941277"/>
                    </a:ext>
                  </a:extLst>
                </a:gridCol>
                <a:gridCol w="1197321">
                  <a:extLst>
                    <a:ext uri="{9D8B030D-6E8A-4147-A177-3AD203B41FA5}">
                      <a16:colId xmlns:a16="http://schemas.microsoft.com/office/drawing/2014/main" val="2138988482"/>
                    </a:ext>
                  </a:extLst>
                </a:gridCol>
                <a:gridCol w="1197321">
                  <a:extLst>
                    <a:ext uri="{9D8B030D-6E8A-4147-A177-3AD203B41FA5}">
                      <a16:colId xmlns:a16="http://schemas.microsoft.com/office/drawing/2014/main" val="791326020"/>
                    </a:ext>
                  </a:extLst>
                </a:gridCol>
                <a:gridCol w="1197321">
                  <a:extLst>
                    <a:ext uri="{9D8B030D-6E8A-4147-A177-3AD203B41FA5}">
                      <a16:colId xmlns:a16="http://schemas.microsoft.com/office/drawing/2014/main" val="3727836496"/>
                    </a:ext>
                  </a:extLst>
                </a:gridCol>
                <a:gridCol w="1197321">
                  <a:extLst>
                    <a:ext uri="{9D8B030D-6E8A-4147-A177-3AD203B41FA5}">
                      <a16:colId xmlns:a16="http://schemas.microsoft.com/office/drawing/2014/main" val="1943801121"/>
                    </a:ext>
                  </a:extLst>
                </a:gridCol>
                <a:gridCol w="1197321">
                  <a:extLst>
                    <a:ext uri="{9D8B030D-6E8A-4147-A177-3AD203B41FA5}">
                      <a16:colId xmlns:a16="http://schemas.microsoft.com/office/drawing/2014/main" val="3681248762"/>
                    </a:ext>
                  </a:extLst>
                </a:gridCol>
                <a:gridCol w="1197321">
                  <a:extLst>
                    <a:ext uri="{9D8B030D-6E8A-4147-A177-3AD203B41FA5}">
                      <a16:colId xmlns:a16="http://schemas.microsoft.com/office/drawing/2014/main" val="672274020"/>
                    </a:ext>
                  </a:extLst>
                </a:gridCol>
                <a:gridCol w="1197321">
                  <a:extLst>
                    <a:ext uri="{9D8B030D-6E8A-4147-A177-3AD203B41FA5}">
                      <a16:colId xmlns:a16="http://schemas.microsoft.com/office/drawing/2014/main" val="4001911384"/>
                    </a:ext>
                  </a:extLst>
                </a:gridCol>
              </a:tblGrid>
              <a:tr h="339925"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1" u="none" strike="noStrike" dirty="0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정부재정회계</a:t>
                      </a:r>
                      <a:endParaRPr lang="ko-KR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 grid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1" u="none" strike="noStrike" dirty="0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통합재정</a:t>
                      </a:r>
                      <a:endParaRPr lang="ko-KR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88361994"/>
                  </a:ext>
                </a:extLst>
              </a:tr>
              <a:tr h="339925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1" u="none" strike="noStrike" dirty="0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세입</a:t>
                      </a:r>
                      <a:endParaRPr lang="ko-KR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1" u="none" strike="noStrike" dirty="0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세출</a:t>
                      </a:r>
                      <a:endParaRPr lang="ko-KR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1" u="none" strike="noStrike" dirty="0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세입</a:t>
                      </a:r>
                      <a:endParaRPr lang="ko-KR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800" b="1" u="none" strike="noStrike" dirty="0" err="1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세출순융자</a:t>
                      </a:r>
                      <a:endParaRPr lang="ko-KR" alt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111526"/>
                  </a:ext>
                </a:extLst>
              </a:tr>
              <a:tr h="55933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u="none" strike="noStrike">
                          <a:effectLst/>
                        </a:rPr>
                        <a:t>조세수입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800" u="none" strike="noStrike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100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u="none" strike="noStrike" dirty="0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일반행정비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800" u="none" strike="noStrike" dirty="0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80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u="none" strike="noStrike" dirty="0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조세수입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800" u="none" strike="noStrike" dirty="0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100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u="none" strike="noStrike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일반행정비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800" u="none" strike="noStrike" dirty="0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80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27411176"/>
                  </a:ext>
                </a:extLst>
              </a:tr>
              <a:tr h="3399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u="none" strike="noStrike">
                          <a:effectLst/>
                        </a:rPr>
                        <a:t>세외수입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800" u="none" strike="noStrike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20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u="none" strike="noStrike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고정자산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800" u="none" strike="noStrike" dirty="0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60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u="none" strike="noStrike" dirty="0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세외수입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 rowSpan="3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800" u="none" strike="noStrike" dirty="0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20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u="none" strike="noStrike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고정자산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800" u="none" strike="noStrike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60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1003791"/>
                  </a:ext>
                </a:extLst>
              </a:tr>
              <a:tr h="3399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u="none" strike="noStrike">
                          <a:effectLst/>
                        </a:rPr>
                        <a:t>융자회수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800" u="none" strike="noStrike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30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u="none" strike="noStrike" dirty="0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융자지출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800" u="none" strike="noStrike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50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u="none" strike="noStrike" dirty="0" err="1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순융자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800" u="none" strike="noStrike" dirty="0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20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24579405"/>
                  </a:ext>
                </a:extLst>
              </a:tr>
              <a:tr h="3399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u="none" strike="noStrike">
                          <a:effectLst/>
                        </a:rPr>
                        <a:t>국채발행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800" u="none" strike="noStrike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50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u="none" strike="noStrike" dirty="0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국채상환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800" u="none" strike="noStrike" dirty="0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10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22039220"/>
                  </a:ext>
                </a:extLst>
              </a:tr>
              <a:tr h="3399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u="none" strike="noStrike">
                          <a:effectLst/>
                        </a:rPr>
                        <a:t>합계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800" u="none" strike="noStrike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200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u="none" strike="noStrike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합계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800" u="none" strike="noStrike" dirty="0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200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u="none" strike="noStrike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합계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800" u="none" strike="noStrike" dirty="0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120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u="none" strike="noStrike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합계</a:t>
                      </a: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800" u="none" strike="noStrike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160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0635053"/>
                  </a:ext>
                </a:extLst>
              </a:tr>
              <a:tr h="83127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u="none" strike="noStrike" dirty="0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보전재원</a:t>
                      </a:r>
                      <a:endParaRPr lang="en-US" altLang="ko-KR" sz="1800" u="none" strike="noStrike" dirty="0"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en-US" altLang="ko-KR" sz="1600" u="none" strike="noStrike" dirty="0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(</a:t>
                      </a:r>
                      <a:r>
                        <a:rPr lang="ko-KR" altLang="en-US" sz="1600" u="none" strike="noStrike" dirty="0" err="1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국채순발행</a:t>
                      </a:r>
                      <a:r>
                        <a:rPr lang="en-US" altLang="ko-KR" sz="1600" u="none" strike="noStrike" dirty="0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)</a:t>
                      </a:r>
                      <a:endParaRPr lang="en-US" altLang="ko-KR" sz="1600" b="0" i="0" u="none" strike="noStrike" dirty="0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800" u="none" strike="noStrike" dirty="0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40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9906093"/>
                  </a:ext>
                </a:extLst>
              </a:tr>
              <a:tr h="339925">
                <a:tc grid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u="none" strike="noStrike" dirty="0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재정규모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800" u="none" strike="noStrike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200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 grid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u="none" strike="noStrike" dirty="0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재정규모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800" u="none" strike="noStrike" dirty="0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160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59142043"/>
                  </a:ext>
                </a:extLst>
              </a:tr>
              <a:tr h="339925">
                <a:tc grid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u="none" strike="noStrike" dirty="0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재정수지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800" u="none" strike="noStrike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0</a:t>
                      </a:r>
                      <a:endParaRPr lang="en-US" altLang="ko-KR" sz="1800" b="0" i="0" u="none" strike="noStrike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 grid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800" u="none" strike="noStrike" dirty="0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재정수지</a:t>
                      </a: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altLang="ko-KR" sz="1800" u="none" strike="noStrike" dirty="0"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-40</a:t>
                      </a:r>
                      <a:endParaRPr lang="en-US" altLang="ko-KR" sz="1800" b="0" i="0" u="none" strike="noStrike" dirty="0">
                        <a:solidFill>
                          <a:srgbClr val="000000"/>
                        </a:solidFill>
                        <a:effectLst/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17346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9865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28DD8-2D22-04BB-0DDE-1E2969607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D509E1E2-D6AC-AEF1-1422-03F2B7C2286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A58BE5D-2E32-6DDE-158F-284364FA025C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65E8BA-9A41-3F5E-4888-B36F5A4D5B4E}"/>
              </a:ext>
            </a:extLst>
          </p:cNvPr>
          <p:cNvSpPr txBox="1"/>
          <p:nvPr/>
        </p:nvSpPr>
        <p:spPr>
          <a:xfrm>
            <a:off x="360000" y="722826"/>
            <a:ext cx="6440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32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9</a:t>
            </a:fld>
            <a:endParaRPr lang="ko-KR" altLang="en-US" sz="32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8A3D46-643E-5322-EBC4-3A23F44758A3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총지출 규모</a:t>
            </a: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AB79AE5-C9D9-2E1C-537B-13D5C8D411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2480C50-1EFC-4A88-BFC9-FF099E941B6B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E2ABEBC-B73F-FA82-1475-CEBE89ABFF2E}"/>
              </a:ext>
            </a:extLst>
          </p:cNvPr>
          <p:cNvSpPr txBox="1"/>
          <p:nvPr/>
        </p:nvSpPr>
        <p:spPr>
          <a:xfrm>
            <a:off x="1080000" y="1671816"/>
            <a:ext cx="10800000" cy="4201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총지출규모는 예산과 기금 총계에서 내부거래와 보전지출을 제외하여 산출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순계</a:t>
            </a:r>
            <a:r>
              <a:rPr lang="en-US" altLang="ko-KR" sz="2400" b="1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총지출규모는 국민의 입장에서 느끼는 정부의 지출규모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OECD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에서도 국가 간 재정 규모를 비교할 때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‘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일반정부 총지출 규모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’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를 활용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보전거래는 국채발행과 상환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차입 또는 차입금 상환 등을 의미하는데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이는 실질적인 수입과 지출의 확대 보다는 재정수지를 보전해주는 역할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총지출에서 제외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총지출과 통합재정 수지는 융자거래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융자지출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순융자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와 기업특별회계 산정방식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총계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부호에 따라 통합재정 수입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/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에서 차이가 있음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7275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10010-018D-70E7-A680-6FC72C54D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>
            <a:extLst>
              <a:ext uri="{FF2B5EF4-FFF2-40B4-BE49-F238E27FC236}">
                <a16:creationId xmlns:a16="http://schemas.microsoft.com/office/drawing/2014/main" id="{1FBCAF1E-D68B-12A4-9561-D4E9D9C48D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5221" y="2915218"/>
            <a:ext cx="9525000" cy="3180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B5C78BCC-FCA1-ADC6-BEE8-A2E53A14027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157942B-E58E-019A-BA0C-A2AAA001D95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F5BFD6-4E8A-A2B8-EF97-5610E07185D3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10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441CCC-E746-DDB3-C942-48B020A623A8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재정규모의 국가 간 비교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54AB15-D890-A164-A6F3-F288292374E5}"/>
              </a:ext>
            </a:extLst>
          </p:cNvPr>
          <p:cNvSpPr txBox="1"/>
          <p:nvPr/>
        </p:nvSpPr>
        <p:spPr>
          <a:xfrm>
            <a:off x="1080000" y="1671816"/>
            <a:ext cx="10800000" cy="1135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국가간 재정규모의 비교는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OECD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기준의 재정규모인 일반정부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중앙정부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+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지방정부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총지출 규모로 비교함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8A830F42-88DF-5B1F-B1A8-E996803C65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AC0D7039-40E6-2AC1-2779-76E8CF7FC032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43FD967-1D2D-74C6-E01D-F6409FBB0C1B}"/>
              </a:ext>
            </a:extLst>
          </p:cNvPr>
          <p:cNvSpPr txBox="1"/>
          <p:nvPr/>
        </p:nvSpPr>
        <p:spPr>
          <a:xfrm>
            <a:off x="3546696" y="6154473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altLang="ko-KR" b="1" i="0" dirty="0">
                <a:solidFill>
                  <a:srgbClr val="101D40"/>
                </a:solidFill>
                <a:effectLst/>
                <a:latin typeface="Noto Sans" panose="020B0502040504020204" pitchFamily="34" charset="0"/>
              </a:rPr>
              <a:t>2019</a:t>
            </a:r>
            <a:r>
              <a:rPr lang="ko-KR" altLang="en-US" b="1" i="0" dirty="0">
                <a:solidFill>
                  <a:srgbClr val="101D40"/>
                </a:solidFill>
                <a:effectLst/>
                <a:latin typeface="Noto Sans" panose="020B0502040504020204" pitchFamily="34" charset="0"/>
              </a:rPr>
              <a:t>년</a:t>
            </a:r>
            <a:r>
              <a:rPr lang="en-US" altLang="ko-KR" b="1" i="0" dirty="0">
                <a:solidFill>
                  <a:srgbClr val="101D40"/>
                </a:solidFill>
                <a:effectLst/>
                <a:latin typeface="Noto Sans" panose="020B0502040504020204" pitchFamily="34" charset="0"/>
              </a:rPr>
              <a:t>, 2023</a:t>
            </a:r>
            <a:r>
              <a:rPr lang="ko-KR" altLang="en-US" b="1" i="0" dirty="0">
                <a:solidFill>
                  <a:srgbClr val="101D40"/>
                </a:solidFill>
                <a:effectLst/>
                <a:latin typeface="Noto Sans" panose="020B0502040504020204" pitchFamily="34" charset="0"/>
              </a:rPr>
              <a:t>년 및 </a:t>
            </a:r>
            <a:r>
              <a:rPr lang="en-US" altLang="ko-KR" b="1" i="0" dirty="0">
                <a:solidFill>
                  <a:srgbClr val="101D40"/>
                </a:solidFill>
                <a:effectLst/>
                <a:latin typeface="Noto Sans" panose="020B0502040504020204" pitchFamily="34" charset="0"/>
              </a:rPr>
              <a:t>2024</a:t>
            </a:r>
            <a:r>
              <a:rPr lang="ko-KR" altLang="en-US" b="1" i="0" dirty="0">
                <a:solidFill>
                  <a:srgbClr val="101D40"/>
                </a:solidFill>
                <a:effectLst/>
                <a:latin typeface="Noto Sans" panose="020B0502040504020204" pitchFamily="34" charset="0"/>
              </a:rPr>
              <a:t>년 </a:t>
            </a:r>
            <a:r>
              <a:rPr lang="en-US" altLang="ko-KR" b="1" i="0" dirty="0">
                <a:solidFill>
                  <a:srgbClr val="101D40"/>
                </a:solidFill>
                <a:effectLst/>
                <a:latin typeface="Noto Sans" panose="020B0502040504020204" pitchFamily="34" charset="0"/>
              </a:rPr>
              <a:t>GDP </a:t>
            </a:r>
            <a:r>
              <a:rPr lang="ko-KR" altLang="en-US" b="1" i="0" dirty="0">
                <a:solidFill>
                  <a:srgbClr val="101D40"/>
                </a:solidFill>
                <a:effectLst/>
                <a:latin typeface="Noto Sans" panose="020B0502040504020204" pitchFamily="34" charset="0"/>
              </a:rPr>
              <a:t>대비 일반 정부 지출 비율</a:t>
            </a:r>
          </a:p>
        </p:txBody>
      </p:sp>
    </p:spTree>
    <p:extLst>
      <p:ext uri="{BB962C8B-B14F-4D97-AF65-F5344CB8AC3E}">
        <p14:creationId xmlns:p14="http://schemas.microsoft.com/office/powerpoint/2010/main" val="48555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28E25-04A8-737E-8D3A-5F41776A7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B188FCC-02FB-7128-64B6-D1D0DC51AA48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9FA2650-4C96-7C4C-C59D-DD19FD1C91B2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336F3C-36BC-740B-F6ED-4311FBD41E43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11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7D1136-DA8A-36F7-E3EA-C1EFAA7AC415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공공부문의 범위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7F80323-7DD4-62E7-9526-EA9C3AAFC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E3B8BF0-2F71-0D73-5F5F-D062C76DDF35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ACFBB3C6-704A-14EF-EFA9-32E16F95D641}"/>
              </a:ext>
            </a:extLst>
          </p:cNvPr>
          <p:cNvSpPr txBox="1"/>
          <p:nvPr/>
        </p:nvSpPr>
        <p:spPr>
          <a:xfrm>
            <a:off x="1080000" y="1671816"/>
            <a:ext cx="10800000" cy="405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재정통계의 변화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1)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회계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재원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단위에서 제도 단위로의 전환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2)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현금주의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회계에서 발생주의 회계로의 전환 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IMF GFS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(2001)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에 따르면 재정의 범위를 제도단위로 설정 → 일반정부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중앙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+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지방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외에 비영리공공기관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공기업 등을 포함하는 방향으로 전환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현금주의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회계는 미래의 경제적 자원에 대한 재정정보를 포함하지 못하는 문제가 있음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(e.g.,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대규모 현금으로 취득한 자산에 대한 정보와 감가상각 정보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연금 등 미래에 지불해야 하는 자금에 대한 정보 누락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→ 발생주의 회계를 통해 책임성과 운영성과 제고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24376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1C8A04-088B-5EA9-46A3-3307D1A9C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0218084-8BA0-5097-6437-61A04AE69B0F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38FF632-FE4F-CB2B-AC6D-EF8E0A29106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D9925C-BF3E-22AA-768F-B7691A1E0487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12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439280-46B7-84F1-5D74-B29671FB6DD2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공공부문의 범위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5D11D477-0BDF-D0B0-6F15-4DCDCB0EF5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7413B4F-4F82-5B6B-6C02-6BDB031EC6DF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624B7D5-5E2C-91A0-0A48-0E515290A39E}"/>
              </a:ext>
            </a:extLst>
          </p:cNvPr>
          <p:cNvSpPr txBox="1"/>
          <p:nvPr/>
        </p:nvSpPr>
        <p:spPr>
          <a:xfrm>
            <a:off x="1080000" y="1671817"/>
            <a:ext cx="5939074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일반정부 부문에는 중앙정부와 지방정부를 포함한 정부 단위와 비영리공공기관이 포함됨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공기업에는 중앙정부와 지방정부의 비금융공기업과 금융공기업이 모두 포함됨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비영리공공기관과 공기업의 구분은 모호함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공무원의 숫자도 일반정부를 기준으로 국가 간 비교가 이루어짐 → 큰 정부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작은 정부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37E4188-1450-D8BD-D387-00D0ECF504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9074" y="1791601"/>
            <a:ext cx="4860926" cy="3582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8453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A77D4-4317-3107-EF7F-93CDA3A56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AE6C2480-4AE3-5FA4-7CAB-01C186AECAB2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CD751B4-2672-0F54-8907-17244F1A915A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231CE9-6B2B-6485-1695-28BE54FBCDD8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13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0B0C46-C4EA-B5DE-5EB7-A5B946C70546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공공부문의 범위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(3)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D416807-68C0-7013-D59A-EDF01C6E8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6FF2361-2F81-5CFC-6285-2E7A9EDCB7C6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B56D6FF-6CCB-969F-D5C3-06790F44BD65}"/>
              </a:ext>
            </a:extLst>
          </p:cNvPr>
          <p:cNvSpPr txBox="1"/>
          <p:nvPr/>
        </p:nvSpPr>
        <p:spPr>
          <a:xfrm>
            <a:off x="1080000" y="1671817"/>
            <a:ext cx="5939074" cy="41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제도단위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기관은 의사결정이 가능하고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책임을 질 수 있음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+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유량과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저량에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대한 통합이 가능 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지배성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정부가 실질적으로 영향력을 행사하는가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?(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정부지원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50%,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인사권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의결권 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시장성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: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생산원가의 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50%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이상을 매출액으로 보전하는 경우 → 공기업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특수기준이 적용되면 일반정부로 분류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667B0BE-5EFD-62EA-42A2-9FDD6C56D5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636" y="1921080"/>
            <a:ext cx="4860926" cy="358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285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CABBE-1B35-854C-A1B5-64FBD0E62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5D25A652-3FCB-C29A-12AB-07BF360B6D4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2FA13AF-2F26-DCA7-F461-658678DF0EFB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948D83-4E3C-53CD-56B6-8978655123CF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14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C119C4-5AEF-9155-49E7-F6396E1056B1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공공부문의 범위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(4)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0DDC666C-6749-0027-5FBB-B98D278EC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D6700A48-2C8D-E079-8FEA-AB47131C3A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6800B29-BB62-D5D1-94FC-E66A1B1689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290691"/>
              </p:ext>
            </p:extLst>
          </p:nvPr>
        </p:nvGraphicFramePr>
        <p:xfrm>
          <a:off x="1303699" y="1523673"/>
          <a:ext cx="9687208" cy="423078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421802">
                  <a:extLst>
                    <a:ext uri="{9D8B030D-6E8A-4147-A177-3AD203B41FA5}">
                      <a16:colId xmlns:a16="http://schemas.microsoft.com/office/drawing/2014/main" val="3205968034"/>
                    </a:ext>
                  </a:extLst>
                </a:gridCol>
                <a:gridCol w="2421802">
                  <a:extLst>
                    <a:ext uri="{9D8B030D-6E8A-4147-A177-3AD203B41FA5}">
                      <a16:colId xmlns:a16="http://schemas.microsoft.com/office/drawing/2014/main" val="3530502190"/>
                    </a:ext>
                  </a:extLst>
                </a:gridCol>
                <a:gridCol w="2421802">
                  <a:extLst>
                    <a:ext uri="{9D8B030D-6E8A-4147-A177-3AD203B41FA5}">
                      <a16:colId xmlns:a16="http://schemas.microsoft.com/office/drawing/2014/main" val="4099530244"/>
                    </a:ext>
                  </a:extLst>
                </a:gridCol>
                <a:gridCol w="2421802">
                  <a:extLst>
                    <a:ext uri="{9D8B030D-6E8A-4147-A177-3AD203B41FA5}">
                      <a16:colId xmlns:a16="http://schemas.microsoft.com/office/drawing/2014/main" val="2864110369"/>
                    </a:ext>
                  </a:extLst>
                </a:gridCol>
              </a:tblGrid>
              <a:tr h="499952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b="0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유형구분</a:t>
                      </a:r>
                    </a:p>
                  </a:txBody>
                  <a:tcPr marL="47625" marR="47625" marT="95250" marB="9525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b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공통요건</a:t>
                      </a: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b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지정요건</a:t>
                      </a:r>
                      <a:r>
                        <a:rPr lang="en-US" altLang="ko-KR" b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(</a:t>
                      </a:r>
                      <a:r>
                        <a:rPr lang="ko-KR" altLang="en-US" b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원칙</a:t>
                      </a:r>
                      <a:r>
                        <a:rPr lang="en-US" altLang="ko-KR" b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)</a:t>
                      </a:r>
                    </a:p>
                  </a:txBody>
                  <a:tcPr marL="47625" marR="47625" marT="95250" marB="95250" anchor="ctr"/>
                </a:tc>
                <a:extLst>
                  <a:ext uri="{0D108BD9-81ED-4DB2-BD59-A6C34878D82A}">
                    <a16:rowId xmlns:a16="http://schemas.microsoft.com/office/drawing/2014/main" val="2505540408"/>
                  </a:ext>
                </a:extLst>
              </a:tr>
              <a:tr h="975692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공기업</a:t>
                      </a: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시장형 공기업</a:t>
                      </a:r>
                    </a:p>
                  </a:txBody>
                  <a:tcPr marL="47625" marR="47625" marT="95250" marB="9525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직원정원 ≥ </a:t>
                      </a:r>
                      <a:r>
                        <a:rPr lang="en-US" altLang="ko-KR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300</a:t>
                      </a:r>
                      <a:r>
                        <a:rPr lang="ko-KR" altLang="en-US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인</a:t>
                      </a:r>
                      <a:br>
                        <a:rPr lang="ko-KR" altLang="en-US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</a:br>
                      <a:r>
                        <a:rPr lang="ko-KR" altLang="en-US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총수입액 ≥ </a:t>
                      </a:r>
                      <a:r>
                        <a:rPr lang="en-US" altLang="ko-KR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200</a:t>
                      </a:r>
                      <a:r>
                        <a:rPr lang="ko-KR" altLang="en-US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억원</a:t>
                      </a:r>
                      <a:br>
                        <a:rPr lang="ko-KR" altLang="en-US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</a:br>
                      <a:r>
                        <a:rPr lang="ko-KR" altLang="en-US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자산 ≥ </a:t>
                      </a:r>
                      <a:r>
                        <a:rPr lang="en-US" altLang="ko-KR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30</a:t>
                      </a:r>
                      <a:r>
                        <a:rPr lang="ko-KR" altLang="en-US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억</a:t>
                      </a:r>
                      <a:br>
                        <a:rPr lang="ko-KR" altLang="en-US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</a:br>
                      <a:r>
                        <a:rPr lang="ko-KR" altLang="en-US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자체수입비율 ≥ </a:t>
                      </a:r>
                      <a:r>
                        <a:rPr lang="en-US" altLang="ko-KR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50%</a:t>
                      </a: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자체수입비율 ≥ </a:t>
                      </a:r>
                      <a:r>
                        <a:rPr lang="en-US" altLang="ko-KR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85%</a:t>
                      </a:r>
                      <a:r>
                        <a:rPr lang="ko-KR" altLang="en-US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인 기관</a:t>
                      </a:r>
                      <a:br>
                        <a:rPr lang="ko-KR" altLang="en-US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</a:br>
                      <a:r>
                        <a:rPr lang="en-US" altLang="ko-KR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(&amp; </a:t>
                      </a:r>
                      <a:r>
                        <a:rPr lang="ko-KR" altLang="en-US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자산</a:t>
                      </a:r>
                      <a:r>
                        <a:rPr lang="en-US" altLang="ko-KR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2</a:t>
                      </a:r>
                      <a:r>
                        <a:rPr lang="ko-KR" altLang="en-US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조원이상</a:t>
                      </a:r>
                      <a:r>
                        <a:rPr lang="en-US" altLang="ko-KR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)</a:t>
                      </a:r>
                    </a:p>
                  </a:txBody>
                  <a:tcPr marL="47625" marR="47625" marT="95250" marB="95250" anchor="ctr"/>
                </a:tc>
                <a:extLst>
                  <a:ext uri="{0D108BD9-81ED-4DB2-BD59-A6C34878D82A}">
                    <a16:rowId xmlns:a16="http://schemas.microsoft.com/office/drawing/2014/main" val="2383494694"/>
                  </a:ext>
                </a:extLst>
              </a:tr>
              <a:tr h="7378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준시장형 공기업</a:t>
                      </a:r>
                    </a:p>
                  </a:txBody>
                  <a:tcPr marL="47625" marR="47625" marT="95250" marB="9525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자체수입비율 </a:t>
                      </a:r>
                      <a:r>
                        <a:rPr lang="en-US" altLang="ko-KR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50% ~ 85%</a:t>
                      </a:r>
                    </a:p>
                  </a:txBody>
                  <a:tcPr marL="47625" marR="47625" marT="95250" marB="95250" anchor="ctr"/>
                </a:tc>
                <a:extLst>
                  <a:ext uri="{0D108BD9-81ED-4DB2-BD59-A6C34878D82A}">
                    <a16:rowId xmlns:a16="http://schemas.microsoft.com/office/drawing/2014/main" val="87986646"/>
                  </a:ext>
                </a:extLst>
              </a:tr>
              <a:tr h="737821"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준정부기관</a:t>
                      </a: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기금관리형 준정부기관</a:t>
                      </a:r>
                    </a:p>
                  </a:txBody>
                  <a:tcPr marL="47625" marR="47625" marT="95250" marB="9525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직원정원 ≥ </a:t>
                      </a:r>
                      <a:r>
                        <a:rPr lang="en-US" altLang="ko-KR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300</a:t>
                      </a:r>
                      <a:r>
                        <a:rPr lang="ko-KR" altLang="en-US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인</a:t>
                      </a:r>
                      <a:br>
                        <a:rPr lang="ko-KR" altLang="en-US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</a:br>
                      <a:r>
                        <a:rPr lang="ko-KR" altLang="en-US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총수입액 ≥ </a:t>
                      </a:r>
                      <a:r>
                        <a:rPr lang="en-US" altLang="ko-KR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200</a:t>
                      </a:r>
                      <a:r>
                        <a:rPr lang="ko-KR" altLang="en-US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억원</a:t>
                      </a:r>
                      <a:br>
                        <a:rPr lang="ko-KR" altLang="en-US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</a:br>
                      <a:r>
                        <a:rPr lang="ko-KR" altLang="en-US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자산 ≥ </a:t>
                      </a:r>
                      <a:r>
                        <a:rPr lang="en-US" altLang="ko-KR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30</a:t>
                      </a:r>
                      <a:r>
                        <a:rPr lang="ko-KR" altLang="en-US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억</a:t>
                      </a:r>
                      <a:br>
                        <a:rPr lang="ko-KR" altLang="en-US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</a:br>
                      <a:r>
                        <a:rPr lang="ko-KR" altLang="en-US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자체수입비율 ＜ </a:t>
                      </a:r>
                      <a:r>
                        <a:rPr lang="en-US" altLang="ko-KR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50%</a:t>
                      </a:r>
                    </a:p>
                  </a:txBody>
                  <a:tcPr marL="47625" marR="47625" marT="95250" marB="952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중앙정부 기금을 관리하는 기관</a:t>
                      </a:r>
                    </a:p>
                  </a:txBody>
                  <a:tcPr marL="47625" marR="47625" marT="95250" marB="95250" anchor="ctr"/>
                </a:tc>
                <a:extLst>
                  <a:ext uri="{0D108BD9-81ED-4DB2-BD59-A6C34878D82A}">
                    <a16:rowId xmlns:a16="http://schemas.microsoft.com/office/drawing/2014/main" val="1175274907"/>
                  </a:ext>
                </a:extLst>
              </a:tr>
              <a:tr h="73782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위탁집행형 준정부기관</a:t>
                      </a:r>
                    </a:p>
                  </a:txBody>
                  <a:tcPr marL="47625" marR="47625" marT="95250" marB="95250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기금관리형 아닌 준정부기관</a:t>
                      </a:r>
                    </a:p>
                  </a:txBody>
                  <a:tcPr marL="47625" marR="47625" marT="95250" marB="95250" anchor="ctr"/>
                </a:tc>
                <a:extLst>
                  <a:ext uri="{0D108BD9-81ED-4DB2-BD59-A6C34878D82A}">
                    <a16:rowId xmlns:a16="http://schemas.microsoft.com/office/drawing/2014/main" val="401336289"/>
                  </a:ext>
                </a:extLst>
              </a:tr>
              <a:tr h="499952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기타공공기관</a:t>
                      </a:r>
                    </a:p>
                  </a:txBody>
                  <a:tcPr marL="47625" marR="47625" marT="95250" marB="9525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altLang="en-US" dirty="0" err="1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공기업ㆍ준</a:t>
                      </a:r>
                      <a:r>
                        <a:rPr lang="ko-KR" altLang="en-US" dirty="0">
                          <a:solidFill>
                            <a:srgbClr val="000000"/>
                          </a:solidFill>
                          <a:effectLst/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 정부기관을 제외한 공공기관</a:t>
                      </a:r>
                    </a:p>
                  </a:txBody>
                  <a:tcPr marL="47625" marR="47625" marT="95250" marB="9525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830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6908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3ACFC-77B6-9749-790C-0B554567B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2817D936-C092-EFCC-691F-1C746F3B2C2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4B0374C-2024-116E-A065-66A7BD4CC7C5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33978C-C500-7592-6523-24EE0757AACB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15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091F80-C751-73C0-8014-15281C99ABFB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국가채무와 국가부채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(1)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F9BF6D0-9DFB-5EAE-8429-C5BD435BC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C2EED7D9-D44C-63EC-A25F-9E2245418D83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5D59568-82C2-6BEE-CC9B-44ED4B52B52A}"/>
              </a:ext>
            </a:extLst>
          </p:cNvPr>
          <p:cNvSpPr txBox="1"/>
          <p:nvPr/>
        </p:nvSpPr>
        <p:spPr>
          <a:xfrm>
            <a:off x="1080000" y="1671816"/>
            <a:ext cx="10800000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재정건전성과 지속가능성을 판단하는 주요 지표 중 하나는 국가채무임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국가채무는 국가의 회계 또는 기금이 부담하는 금전채무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국가재정법 제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91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국가채무는 채무의 존재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지급시기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금액이 확정되어 지급의무가 결정된 채무만을 대상으로 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국채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차입금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국고채무부담행위와 정부의 </a:t>
            </a:r>
            <a:r>
              <a:rPr lang="ko-KR" altLang="en-US" sz="2400" dirty="0" err="1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대지급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 이행이 확정된 보증채무 포함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)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국가채무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(D1)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은 중앙정부 및 지방정부의 부채를 포함하지만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비영리공공기관은 제외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국가채무는 현금주의 기준을 적용하며</a:t>
            </a:r>
            <a:r>
              <a:rPr lang="en-US" altLang="ko-KR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, </a:t>
            </a: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내부거래를 제외하는 통합 계산방식을 활용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49572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B583B-572B-7F7E-8B5A-0440D366B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8AFCE77-A49A-6498-636C-4F399D3A735E}"/>
              </a:ext>
            </a:extLst>
          </p:cNvPr>
          <p:cNvCxnSpPr>
            <a:cxnSpLocks/>
          </p:cNvCxnSpPr>
          <p:nvPr/>
        </p:nvCxnSpPr>
        <p:spPr>
          <a:xfrm>
            <a:off x="1080000" y="720000"/>
            <a:ext cx="10800000" cy="0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9D1C2E5-B40A-90F1-DD8B-1AEB64F59F3D}"/>
              </a:ext>
            </a:extLst>
          </p:cNvPr>
          <p:cNvSpPr/>
          <p:nvPr/>
        </p:nvSpPr>
        <p:spPr>
          <a:xfrm>
            <a:off x="360002" y="720001"/>
            <a:ext cx="644046" cy="584776"/>
          </a:xfrm>
          <a:prstGeom prst="rect">
            <a:avLst/>
          </a:prstGeom>
          <a:solidFill>
            <a:srgbClr val="7A23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A12BFC-EAFB-086B-DBCE-AAE849771577}"/>
              </a:ext>
            </a:extLst>
          </p:cNvPr>
          <p:cNvSpPr txBox="1"/>
          <p:nvPr/>
        </p:nvSpPr>
        <p:spPr>
          <a:xfrm>
            <a:off x="360000" y="722826"/>
            <a:ext cx="6440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8F421C37-73D4-46A2-9165-EFAC4D96952E}" type="slidenum">
              <a:rPr lang="en-US" altLang="ko-KR" sz="2800" b="1" smtClean="0">
                <a:solidFill>
                  <a:schemeClr val="bg1"/>
                </a:solidFill>
                <a:latin typeface="이사만루체 Bold" panose="00000800000000000000" pitchFamily="2" charset="-127"/>
                <a:ea typeface="이사만루체 Bold" panose="00000800000000000000" pitchFamily="2" charset="-127"/>
              </a:rPr>
              <a:t>16</a:t>
            </a:fld>
            <a:endParaRPr lang="ko-KR" altLang="en-US" sz="2800" b="1" dirty="0">
              <a:solidFill>
                <a:schemeClr val="bg1"/>
              </a:solidFill>
              <a:latin typeface="이사만루체 Bold" panose="00000800000000000000" pitchFamily="2" charset="-127"/>
              <a:ea typeface="이사만루체 Bold" panose="00000800000000000000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3E6D5C-C003-848A-A140-3104489177A7}"/>
              </a:ext>
            </a:extLst>
          </p:cNvPr>
          <p:cNvSpPr txBox="1"/>
          <p:nvPr/>
        </p:nvSpPr>
        <p:spPr>
          <a:xfrm>
            <a:off x="1235998" y="757300"/>
            <a:ext cx="55233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국가채무와 국가부채 </a:t>
            </a:r>
            <a:r>
              <a:rPr lang="en-US" altLang="ko-KR" sz="2800" dirty="0">
                <a:solidFill>
                  <a:srgbClr val="626262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</a:rPr>
              <a:t>(2)</a:t>
            </a:r>
            <a:endParaRPr lang="ko-KR" altLang="en-US" sz="2800" dirty="0">
              <a:solidFill>
                <a:srgbClr val="626262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DBE1D29-0A33-8A9F-6555-036E0AD8A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4B633F22-2D1F-CB5E-A0A0-EB2DCBC6CCF6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BFC1CD7-2E0D-72DE-F50E-DF28A30DC7B7}"/>
              </a:ext>
            </a:extLst>
          </p:cNvPr>
          <p:cNvSpPr txBox="1"/>
          <p:nvPr/>
        </p:nvSpPr>
        <p:spPr>
          <a:xfrm>
            <a:off x="1080000" y="1671816"/>
            <a:ext cx="10800000" cy="581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40404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KoPubWorld돋움체 Bold" panose="020B0600000101010101" charset="-127"/>
              </a:rPr>
              <a:t>국가부채는 국가채무를 포함하는 개념으로 금융 부채 외에 비금융부채까지 포함함</a:t>
            </a:r>
            <a:endParaRPr lang="en-US" altLang="ko-KR" sz="2400" dirty="0">
              <a:solidFill>
                <a:srgbClr val="40404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KoPubWorld돋움체 Bold" panose="020B0600000101010101" charset="-127"/>
            </a:endParaRPr>
          </a:p>
        </p:txBody>
      </p:sp>
      <p:pic>
        <p:nvPicPr>
          <p:cNvPr id="10242" name="Picture 2" descr="공공부문부채(D3) 73.5%! 일반정부부채(D2)는 53.5%, 2022회계연도 일반정부 및 공공부문부채 집계 결과와 과제! [이춘근  국가부채 티스토리 120회">
            <a:extLst>
              <a:ext uri="{FF2B5EF4-FFF2-40B4-BE49-F238E27FC236}">
                <a16:creationId xmlns:a16="http://schemas.microsoft.com/office/drawing/2014/main" id="{B5028110-6467-4296-ED30-B23433D81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3724" y="2413660"/>
            <a:ext cx="7824552" cy="3463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17923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C8635D4-D3E2-C1C1-2DF9-711C09D1EC0A}"/>
              </a:ext>
            </a:extLst>
          </p:cNvPr>
          <p:cNvCxnSpPr>
            <a:cxnSpLocks/>
          </p:cNvCxnSpPr>
          <p:nvPr/>
        </p:nvCxnSpPr>
        <p:spPr>
          <a:xfrm>
            <a:off x="2152783" y="717177"/>
            <a:ext cx="9727217" cy="2823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0DE01540-6402-0BA0-5B48-1A12659FE302}"/>
              </a:ext>
            </a:extLst>
          </p:cNvPr>
          <p:cNvSpPr txBox="1"/>
          <p:nvPr/>
        </p:nvSpPr>
        <p:spPr>
          <a:xfrm>
            <a:off x="4874350" y="3075057"/>
            <a:ext cx="2443298" cy="70788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rtlCol="0">
            <a:spAutoFit/>
          </a:bodyPr>
          <a:lstStyle/>
          <a:p>
            <a:pPr algn="dist"/>
            <a:r>
              <a:rPr lang="ko-KR" altLang="en-US" sz="4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경기천년제목 Bold" panose="02020803020101020101" pitchFamily="18" charset="-127"/>
                <a:ea typeface="경기천년제목 Bold" panose="02020803020101020101" pitchFamily="18" charset="-127"/>
                <a:cs typeface="KoPubWorld돋움체 Bold" panose="00000800000000000000" pitchFamily="2" charset="-127"/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9A27F3-6396-4A24-947F-2EDC13EB62AA}"/>
              </a:ext>
            </a:extLst>
          </p:cNvPr>
          <p:cNvCxnSpPr>
            <a:cxnSpLocks/>
          </p:cNvCxnSpPr>
          <p:nvPr/>
        </p:nvCxnSpPr>
        <p:spPr>
          <a:xfrm flipV="1">
            <a:off x="360000" y="6119999"/>
            <a:ext cx="9856067" cy="1"/>
          </a:xfrm>
          <a:prstGeom prst="line">
            <a:avLst/>
          </a:prstGeom>
          <a:ln w="19050">
            <a:solidFill>
              <a:srgbClr val="7A232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3755EA48-AAC8-8D9F-CFA6-5208CD71E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6067" y="5876845"/>
            <a:ext cx="1668309" cy="486309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C8A388A4-7040-6B9A-9AE1-834C88364A48}"/>
              </a:ext>
            </a:extLst>
          </p:cNvPr>
          <p:cNvGrpSpPr/>
          <p:nvPr/>
        </p:nvGrpSpPr>
        <p:grpSpPr>
          <a:xfrm>
            <a:off x="361144" y="531548"/>
            <a:ext cx="1635639" cy="371258"/>
            <a:chOff x="303023" y="453495"/>
            <a:chExt cx="1357980" cy="305606"/>
          </a:xfrm>
        </p:grpSpPr>
        <p:grpSp>
          <p:nvGrpSpPr>
            <p:cNvPr id="9" name="그룹 1004">
              <a:extLst>
                <a:ext uri="{FF2B5EF4-FFF2-40B4-BE49-F238E27FC236}">
                  <a16:creationId xmlns:a16="http://schemas.microsoft.com/office/drawing/2014/main" id="{C2047555-F6C8-2082-96FB-974FF14E9C11}"/>
                </a:ext>
              </a:extLst>
            </p:cNvPr>
            <p:cNvGrpSpPr/>
            <p:nvPr/>
          </p:nvGrpSpPr>
          <p:grpSpPr>
            <a:xfrm>
              <a:off x="303023" y="453495"/>
              <a:ext cx="305606" cy="305606"/>
              <a:chOff x="7252263" y="581291"/>
              <a:chExt cx="1251000" cy="1251000"/>
            </a:xfrm>
          </p:grpSpPr>
          <p:pic>
            <p:nvPicPr>
              <p:cNvPr id="12" name="Object 13">
                <a:extLst>
                  <a:ext uri="{FF2B5EF4-FFF2-40B4-BE49-F238E27FC236}">
                    <a16:creationId xmlns:a16="http://schemas.microsoft.com/office/drawing/2014/main" id="{A816CA28-ED33-29B0-8851-0B9BAB3111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7252263" y="581291"/>
                <a:ext cx="1251000" cy="1251000"/>
              </a:xfrm>
              <a:prstGeom prst="rect">
                <a:avLst/>
              </a:prstGeom>
            </p:spPr>
          </p:pic>
        </p:grpSp>
        <p:grpSp>
          <p:nvGrpSpPr>
            <p:cNvPr id="10" name="그룹 1007">
              <a:extLst>
                <a:ext uri="{FF2B5EF4-FFF2-40B4-BE49-F238E27FC236}">
                  <a16:creationId xmlns:a16="http://schemas.microsoft.com/office/drawing/2014/main" id="{E80146EE-C903-87DE-0B04-EFB7BD1B165A}"/>
                </a:ext>
              </a:extLst>
            </p:cNvPr>
            <p:cNvGrpSpPr/>
            <p:nvPr/>
          </p:nvGrpSpPr>
          <p:grpSpPr>
            <a:xfrm>
              <a:off x="681789" y="472805"/>
              <a:ext cx="979214" cy="286296"/>
              <a:chOff x="4978293" y="70686"/>
              <a:chExt cx="1725714" cy="504552"/>
            </a:xfrm>
          </p:grpSpPr>
          <p:pic>
            <p:nvPicPr>
              <p:cNvPr id="11" name="Object 22">
                <a:extLst>
                  <a:ext uri="{FF2B5EF4-FFF2-40B4-BE49-F238E27FC236}">
                    <a16:creationId xmlns:a16="http://schemas.microsoft.com/office/drawing/2014/main" id="{2EBFA3EB-50D2-8153-CCB7-97A94AEAF1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4978293" y="70686"/>
                <a:ext cx="1725714" cy="504552"/>
              </a:xfrm>
              <a:prstGeom prst="rect">
                <a:avLst/>
              </a:prstGeom>
            </p:spPr>
          </p:pic>
        </p:grpSp>
      </p:grp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948503B-7E35-726A-03B0-63A0FC981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38DD9-BE58-4515-BACA-5617C09A62E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0505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</TotalTime>
  <Words>1108</Words>
  <Application>Microsoft Office PowerPoint</Application>
  <PresentationFormat>와이드스크린</PresentationFormat>
  <Paragraphs>204</Paragraphs>
  <Slides>18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6" baseType="lpstr">
      <vt:lpstr>경기천년바탕 Regular</vt:lpstr>
      <vt:lpstr>경기천년제목 Bold</vt:lpstr>
      <vt:lpstr>경기천년제목 Light</vt:lpstr>
      <vt:lpstr>맑은 고딕</vt:lpstr>
      <vt:lpstr>이사만루체 Bold</vt:lpstr>
      <vt:lpstr>Arial</vt:lpstr>
      <vt:lpstr>Noto Sans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KKD</dc:creator>
  <cp:lastModifiedBy>KKD</cp:lastModifiedBy>
  <cp:revision>246</cp:revision>
  <dcterms:created xsi:type="dcterms:W3CDTF">2025-03-10T02:54:00Z</dcterms:created>
  <dcterms:modified xsi:type="dcterms:W3CDTF">2025-09-16T06:50:24Z</dcterms:modified>
</cp:coreProperties>
</file>