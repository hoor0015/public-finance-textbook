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89" r:id="rId3"/>
    <p:sldId id="356" r:id="rId4"/>
    <p:sldId id="357" r:id="rId5"/>
    <p:sldId id="336" r:id="rId6"/>
    <p:sldId id="358" r:id="rId7"/>
    <p:sldId id="359" r:id="rId8"/>
    <p:sldId id="360" r:id="rId9"/>
    <p:sldId id="337" r:id="rId10"/>
    <p:sldId id="361" r:id="rId11"/>
    <p:sldId id="362" r:id="rId12"/>
    <p:sldId id="363" r:id="rId13"/>
    <p:sldId id="364" r:id="rId14"/>
    <p:sldId id="365" r:id="rId15"/>
    <p:sldId id="366" r:id="rId16"/>
    <p:sldId id="25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545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8AC2-49E2-1B3B-4D4A-3F388F7E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C11C7F-7BE4-CB0D-4C98-015B672F7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33327A-EB3F-3327-AD38-C502311EF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10DEA-E060-B0EA-494B-6864C4628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857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803A6-3E8E-6FC9-15B4-F9DB9885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B60E08-125A-66E3-03FD-558BA0912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D16984-0146-C8D6-3707-772DEE69A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0DD35D-C17F-C631-9978-84793FDFE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00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38447-B8F4-A305-7A9A-25D803D3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565056-EF61-0B02-14D8-12704CEE4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F5B37A-87EF-15E4-CDBB-14F971E65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4E9C67-B289-C496-4504-9A81B4CB4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419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재정환경의 변화와 재정의 대응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불평등 구조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중산층 붕괴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신빈곤층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푸어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가계부채 급증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저출산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고령화의 인구 구조 변화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최저수준 출산율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생산가능 인구 감소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저성장 및 고용 없는 성장 기조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AI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인한 일자리 대체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긴축재정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비정규직 양산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과도한 노동시간 →  총 수요 부족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낮은 삶의 질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다만 재정은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건전성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지속가능성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제약조건을 가지기 때문에 이러한 문제들에 적극적으로 대응하는데 한계가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2717-EE6C-CC82-3607-CEC466E48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DC0E43-711D-B951-01E3-11067DB42A8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7A74B9-08A1-C8C2-BB7F-143D52F7BE7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7D626E-9590-B7BA-D074-BE53FE4BE71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0FEB64-EB61-2927-EA21-BBF5DA8E1B3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재정정책의 구조와 유형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EFBCD-D0C7-2F2E-2973-4A7CF67C53AB}"/>
              </a:ext>
            </a:extLst>
          </p:cNvPr>
          <p:cNvSpPr txBox="1"/>
          <p:nvPr/>
        </p:nvSpPr>
        <p:spPr>
          <a:xfrm>
            <a:off x="1080000" y="1671816"/>
            <a:ext cx="10800000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제정은 스칼라가 아닌 벡터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재정정책의 궁극적 목표는 국민의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존엄성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(Sperling, 2020)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세입측면에서 재정정책은 조세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세외수입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국공채 등 수단이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세출측면에서는 지출구조조정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특정분야 정책 수행 등 수단이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정책혼합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로는 재정 적자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흑자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긴축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확대 정책 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재정지출 확대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건전성 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낮은 조세 부담은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트릴레마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(trilemma)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수단의 계층제로 본다면 재정지출 확대가 목표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1FF537-3DD2-C227-945F-14656F4E5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F80A45F-6AE8-91EB-C6C6-25AFC1087C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76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EBEB-2434-1910-3FF5-70FD6C257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E7642B0-A083-1653-DA6B-DD71D1E3EF2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74577F-4DFE-D9B9-5009-658F04EA7E4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256296-53CB-D720-565A-97E45E9C6CD5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052BC2-4CBB-D587-1A59-AC4FA5D7AF1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재정정책의 구조와 유형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1867E7-5EA8-6AAF-EB28-639F70046D5A}"/>
              </a:ext>
            </a:extLst>
          </p:cNvPr>
          <p:cNvSpPr txBox="1"/>
          <p:nvPr/>
        </p:nvSpPr>
        <p:spPr>
          <a:xfrm>
            <a:off x="1080000" y="1671817"/>
            <a:ext cx="6033728" cy="396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재정정책의 유형은 재량적 재정정책과 자동적 재정정책으로 나뉨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재량적 재정정책은 경기가 불황이면 정부 지출의 증가나 조세 감면 등 팽창정책에 의해 경기를 활성화시키고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경기가 호황이면 정부 지출의 감축이나 세율 인상 등을 활용하여 긴축정책을 펴는 정책임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9EF6427-0D08-28C8-D28D-AF87028E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7C33AC8-E7BD-A62D-B73C-EF89700ACCB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공공지출 늘려 민간지출 커졌다면 '승수효과' 덕 - 매일경제">
            <a:extLst>
              <a:ext uri="{FF2B5EF4-FFF2-40B4-BE49-F238E27FC236}">
                <a16:creationId xmlns:a16="http://schemas.microsoft.com/office/drawing/2014/main" id="{B5F99A3B-E7D6-F6C8-33AB-B6CB47D4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728" y="1671816"/>
            <a:ext cx="48387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523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52E9-5552-6042-A5D2-2A8B8776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E7809F-B1D2-F7F4-4202-2481B40A11B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3B52D6-B691-EB96-B9F4-F058947C979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5B128-5A41-74F9-16C9-70AC06BB6281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C4BC6-495D-9D7F-D643-0B29FE7A28FE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재정정책의 구조와 유형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C9993C-6772-BAA2-E1FD-DC443142A1CF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자동적 재정정책은 경기가 상승하면 과열을 자동적으로 막고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경기가 하강하면 그것이 지나치게 하강하지 않도록 막게 하는 장치를 의미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누진세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실업수당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경기가 불황이면 누진율 구조 때문에 소득세 부담이 소득 감소보다 더 큰 비율로 감소하고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실업수당 지급은 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소비자 구매력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가처분소득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증가하고 경기후퇴는 완화됨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자동안정화 장치의 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(Lee &amp; Sheiner, 2019)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 잠재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GDP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실질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GDP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1%p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변화 시 재정수지의 자동적인 변화 크기를 측정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OECD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 중 한국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26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덴마크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스웨덴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프랑스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1~3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2EBE1F-7BFE-79EA-CF49-6022C13A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727BE53-6493-BC20-9655-730F71A1DA4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33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3519-456D-98D2-3618-4B9B0E8B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B73727B-35C4-3881-7638-B106667B546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E4FC62-5084-AD8D-2AF2-46FD4709E5D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45F66-6C43-FB74-42E4-AE564948325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E5B56-B04D-9F5A-CE4B-79C12FCC25F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참고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실업의 종류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4961B5-1642-5C01-0057-00A8740CBB7D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마찰적 실업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(Frictional Unemployment):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나은 조건의 일자리를 찾기 위해 스스로 실업을 택하고 있는 경우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직장에 갈 수 있지만 더 좋은 직장을 위해 실업을 선택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﻿ 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구조적 실업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(Structural Unemployment): 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전체적으로는 수요와 공급이 일치하더라도 특정 지역이나 산업에 수요 또는 공급이 부족한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경기적 실업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(Cyclical Unemployment):﻿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불경기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경기 침체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등에 총수요가 부족함으로써 발생하는 실업으로 일할 능력과 의사가 있음에도 불구하고 경제 전체적으로 일자리가 부족하여 생기는 실업 → 경기적 실업이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 상태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자연실업률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 고용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12B38E-3972-5BBC-023F-30AE4EEAF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F734E9A-B4EF-94E5-C1DE-2C6E77E37E1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14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2CBAB-EAE4-06F0-1424-F3BCD5C5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6BFBAAF-0309-5207-2EDC-A5A22934C37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47E6CB-3DD8-4D93-7E21-49CAA05FCF4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6AB94-39E6-A184-727B-628FD370E3E2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D88C94-C15A-42F0-A850-4FB3059C69A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확장적 재정정책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D845CC-0B01-50BD-578F-2B8CCC02D2FC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경기가 불황일 때 적자 재정을 편성하여 총수요를 증대한다면 경기 활성화에 기여할 뿐만 아니라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성장 잠재력의 배양에도 기여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 수 있다는 주장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이에 반해 국채발행을 통해 적자 재정을 편성하면 구축효과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(crowding-out effect)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발생해 민간 투자의 감소로 이어지기 때문에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 수요 진작효과가 미미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하다는 주장도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통화주의자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IMF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외환위기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(1997) vs.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아이슬란드 금융 위기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(2008)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확장적 재정정책을 통해 빈곤율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자살률 등의 증가를 낮출 수 있었음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36DC41E-A887-3647-2190-CB9ACD7F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9836A14-EB7F-7E7D-1F86-7EDEC78EE42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99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F549-9D8D-6ADC-FD05-A330D3CD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EAB5A90-3EB3-5C25-39E2-8D368AE5B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361" y="1486081"/>
            <a:ext cx="4647823" cy="445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EDC25D5-725D-C6E4-0571-D99890942E2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76D2D-605D-9B75-1216-9971E7F097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14BF06-916C-402C-D7F3-C1429799905B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EFB80E-6A35-4F12-1F4E-F2C7B469572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확장적 재정정책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BE39EA-B0F4-5508-7BDE-0AD09AE72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FCC1B9C-EFFB-F849-CB6A-5DCD2DE2699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박경민 기자">
            <a:extLst>
              <a:ext uri="{FF2B5EF4-FFF2-40B4-BE49-F238E27FC236}">
                <a16:creationId xmlns:a16="http://schemas.microsoft.com/office/drawing/2014/main" id="{CEC212AA-D628-A9B7-736A-62F853CE9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816" y="1304777"/>
            <a:ext cx="4058216" cy="453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197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477C-FE7E-E24D-2E8E-B3D9E2C0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15985D2-6AFE-BE2C-CA7B-24B97EC527D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920F94-56CF-1EB1-EE58-771C7884BAD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E73AB3-0F6E-F123-ACD0-31C38E6E3E4C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9F9E3-2CF4-EF72-8198-872C0168333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보편적 기본소득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5B2D7-371C-7FE3-DFA5-C129959FFA0E}"/>
              </a:ext>
            </a:extLst>
          </p:cNvPr>
          <p:cNvSpPr txBox="1"/>
          <p:nvPr/>
        </p:nvSpPr>
        <p:spPr>
          <a:xfrm>
            <a:off x="1080000" y="1671816"/>
            <a:ext cx="10800000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기본소득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(UBI)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개념은 모든 사람에게 자격 심사 없이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단위로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 요구 없이 무조건 전달되는 정기적인 현금 지급을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가구 단위가 아닌 개인 단위 지급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자격 심사 없이 모든 사람에게 지급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무조건성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수급의 대가로 노동이나 구직 활동을 요구하지 않음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④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정기성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일회성이 아닌 정기적 지급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⑤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현금 지급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현금 급여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EBAA5BB-C12A-2484-CD3F-A40FD2CB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1E735C1-4C7D-BC07-2C92-2DE3B1C14EB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00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23CB-D533-6377-7866-E0E7C50CC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1B7BF5-AAD0-5F60-3062-63151449ABC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D4FF76-E468-2F91-E9D7-F88D8675F01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98F20D-EF85-3F51-952A-E3757203E27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BE402F-237F-E09F-0727-51F7D1F2300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보편적 기본소득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2C80A9-BC2B-8319-3658-5DBCB83F4D75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기본소득의 목적은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만인의 실질적 자유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기본소득의 옹호자들은 토지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과거로부터 축적된 지식과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빅데이터 등 공유 재산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(common wealth)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시민의 권리 차원에서 정당화될 수 있다고 주장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복지모델의 역사에서는 공공부조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사회보험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사회서비스 모델에 이은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모델에 해당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하지만 감당할 수 없는 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불충분한 수혜 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복지급여보다 낮은 정책 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보편정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사회보장에 비해 낮은 소득 재분배 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낮은 소비 진작 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낮은 경기 조절 기능 등에서 다양한 비판이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7B8AF8-C9D9-7881-182B-AEFB386AB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EECE7B2-2315-B933-0609-BF0D3117200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38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F091-DDC0-89EA-2B7A-2081A4AF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2718A32-C5C9-8EE1-8C85-A0FBE4E1608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0098DE-594E-AFB6-4103-A17520FF4C8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1FAEE5-C5C7-054A-05DF-1FB872569C5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1B9C3-4241-344C-F23F-6EAEE2AB0DD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보편적 기본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서비스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A3E045-3D2A-3752-A00A-74730F85C997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기본서비스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(UBS)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개념은 정부가 서비스를 필요로 하는 모든 국민에게 소득이나 지위에 상관 없이 기본적인 공공서비스를 무료로 제공하는 사회보장 모델을 의미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공익에 기여하는 집합적 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국민의 요구를 충족시키는 필수적이고 충분한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지불 능력과 상관없이 모든 사람이 서비스 수혜자격을 가짐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필요에 따른 공공서비스 제공의 원칙을 통해 사회에 모두를 위한 공동의 바닥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(common floor)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만드는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9EF9714-DEC4-E210-46E1-F81A2A653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823C06A-081C-2E95-F000-FC505650F3E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20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68BB-1FDD-7919-02ED-C502C133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14B42AE-67A4-81C5-C785-44B661C14A1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B17B4B-558A-D86D-6869-2D8CD9872D9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199BFD-9667-E3C9-7003-D660BDA1CD0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D86E30-F555-D9C3-879F-D073E34938C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보편적 기본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서비스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9EE8FF-A4E6-AE6A-085C-908B10A5F5E8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북유럽 국가들의 보편적 복지 모델을 좀 더 발전 시킨 형태 → 경제적 번영이 아닌 사회적 번영을 달성하는 것이 목적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교육 이외에 주거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돌봄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음식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 등 영역에서도 양질의 접근가능한 서비스를 무료로 확대하는 것이 목표 → 빈곤 퇴치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불평등 축소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지속가능성 확보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기본서비스는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공유된 욕구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공동의 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을 강조 → 공공재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욕구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투자는 긍정적 외부효과를 가져올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공동의 책임을 공감하여 연대와 사회 서비스를 강화할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규모의 경제 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재분배의 사중손실 감소 → 생활비용 감소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950E83-8A9F-3BDD-1F32-683D206A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2DAEF16-80AC-395D-C525-A2C7919EAE0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767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2A0D-BCCA-2D99-811B-8E686250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2D2B7D-0979-6860-9C1D-EAA1CB9F50C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AD6453-C5C0-3FC7-8062-B443B023633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D4AD4-57B1-3AAF-BF9A-2EA4ECC2BA0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C7243-7D0F-33CB-C202-6DFF76704B2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보편적 기본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서비스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3203C1-6E28-A3FE-8A83-2942A3E5CF0B}"/>
              </a:ext>
            </a:extLst>
          </p:cNvPr>
          <p:cNvSpPr txBox="1"/>
          <p:nvPr/>
        </p:nvSpPr>
        <p:spPr>
          <a:xfrm>
            <a:off x="1080000" y="1671816"/>
            <a:ext cx="10800000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기본소득 모형만큼의 막대한 비용은 아니지만 보편적 기본서비스 확대에는 많은 재원이 필요하다는 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많은 재정과 행정력이 필요하기 때문에 중앙집권화와 가부장적 온정주의의 우려가 있다는 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마지막으로 기본서비스 공급에 큰 역할을 할 지방정부의 역량과 책임 수준이 불명확하다는 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기초 간 역할 및 재정 분담의 유기적인 협력관계 구축이 어렵다는 점 등에서 비판 받고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비전과 역량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시민사회의 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통해 어느정도 극복이 가능할지가 핵심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3F8327B-5495-9F34-7FDF-F5690ECA2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39F6AB6-C735-8E7D-076F-3FDDC1E8EBC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020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0C2C0-4881-0891-EBDE-2AC5CB15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16F3022-E6A6-567A-9EC4-A21C824A858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85349F-BC00-5AF9-44DB-6D982E8F2D6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9F76C1-4198-B1C9-8F48-7652B933546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4045E2-A020-DE4C-B4A8-947322D76B9D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보편적 기본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자산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2393CEA-70CF-B15F-D16D-E610675C7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A0CA5A-4CE0-99FB-2AF7-56140693A30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DAA7025C-037A-C04B-895F-84665535B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33445"/>
            <a:ext cx="91440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0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C6FF-BD69-ED31-4C7E-68763AAB4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241A7F-F46F-6404-5243-D3FBEA5C7E3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34E06F-7593-A738-1EE3-B153DD68AC1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A7AFBD-07A6-2F76-BCD7-EE675F97C39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865377-0C2A-D734-40E7-C9BD09C0724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보편적 기본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자산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B990B26-1C34-4A1A-A992-E12D63EE5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DE6D04-D5DD-9DCE-71D5-F4973E67CAF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173361-B609-E1F3-9195-B6C30C0C1958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자산의 양극화가 심한 상태에서 소득만으로는 불평등을 해소하는데 한계가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부의 대물림 구조에서 청년들은 기회 균등을 상실하게 되므로 이들을 위해 기본자산을 형성해주자는 주장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성인이 되면 일시금으로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지분 급여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 달러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지급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(Ackerman &amp; Alstott, 2010)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기본자산 제도는 계층이동 가능성을 높일 수 있다는 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 소득에 비해 필요한 재원규모가 작고 정책효과가 크다는 점에서 긍정적 평가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대상 연령을 지난 집단들이 반대하는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문턱효과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발생할 수 있다는 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166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1091</Words>
  <Application>Microsoft Office PowerPoint</Application>
  <PresentationFormat>와이드스크린</PresentationFormat>
  <Paragraphs>89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396</cp:revision>
  <dcterms:created xsi:type="dcterms:W3CDTF">2025-03-10T02:54:00Z</dcterms:created>
  <dcterms:modified xsi:type="dcterms:W3CDTF">2025-09-27T11:45:14Z</dcterms:modified>
</cp:coreProperties>
</file>