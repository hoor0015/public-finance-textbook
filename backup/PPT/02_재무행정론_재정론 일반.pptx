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58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3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재무행정론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538B085-AC77-42B4-3FD5-036694B9FEE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07BEF2-8BDF-9873-23B6-5F4C4A28C8A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D29FA3-9C64-9080-9086-F5F8B65AACB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619101-F57C-4715-0C74-06E95FADF831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재무행정 공부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?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D35132-B332-878F-08EB-8ED2D8C7BA03}"/>
              </a:ext>
            </a:extLst>
          </p:cNvPr>
          <p:cNvSpPr txBox="1"/>
          <p:nvPr/>
        </p:nvSpPr>
        <p:spPr>
          <a:xfrm>
            <a:off x="1080000" y="1671816"/>
            <a:ext cx="10800000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정부의 재정 현상에 대한 </a:t>
            </a:r>
            <a:r>
              <a:rPr lang="ko-KR" altLang="en-US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지식</a:t>
            </a:r>
            <a:r>
              <a:rPr lang="en-US" altLang="ko-KR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</a:t>
            </a:r>
            <a:r>
              <a:rPr lang="en-US" altLang="ko-KR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학습하는 것 → 이해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설명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처방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description, explanation, prediction, control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정부의 정책과 사업은 재정 속에 구현되어 있음 → 재정은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목표이면서 수단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재정은 일종의 비전이면서 제약조건이기도 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결론적으로 국민의 삶의 질을 높이고 행복을 추구하는 고차원의 방법론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재정을 알고 판독할 수 있는 사람은 국가의 운명을 해명할 수 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“- Joseph A. Schumpeter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9B1B26A-21F6-E711-96E7-89F232164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A05E07-8A4F-4BCB-88B6-01079662320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46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5BC18-D20A-C41C-B6CC-7E7C1D608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D00E3A3-347E-2EC6-2522-C278CE92B2A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557CA0-2AC8-F1A4-89C2-9C77885350A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156B29-6D30-8630-EB0C-24F9EB08B8D2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재정이란 무엇인가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?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EAE03D-7E1B-7EF1-198F-7E3960589976}"/>
              </a:ext>
            </a:extLst>
          </p:cNvPr>
          <p:cNvSpPr txBox="1"/>
          <p:nvPr/>
        </p:nvSpPr>
        <p:spPr>
          <a:xfrm>
            <a:off x="1080000" y="1671816"/>
            <a:ext cx="10800000" cy="301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정부가 공공욕구를 충족하기 위해 필요한 재원을 조달하고 관리 및 지출하는 경제활동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정부의 경제활동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예산은 매년 동안의 수입과 지출에 관한 예정적 수치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계획의 과정과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 ⊃ 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본질적 특성은 매우 유사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정의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일반회계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특별회계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기금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D580F6F-FDE1-4AAE-CAAF-EED9EE248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22C7652-235D-73D0-5748-9284027AA4E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3150FC4-FA54-6BD9-5E19-B4578CF8CE41}"/>
              </a:ext>
            </a:extLst>
          </p:cNvPr>
          <p:cNvSpPr txBox="1"/>
          <p:nvPr/>
        </p:nvSpPr>
        <p:spPr>
          <a:xfrm>
            <a:off x="360000" y="722826"/>
            <a:ext cx="644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7182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B9B7B-D076-B98B-75DF-051EB8A8A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D6FD098-B04D-B2AE-AB99-78310963960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431CF7-017D-A5B4-B096-A17B4BFA2C3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01F346-0137-32F0-A62B-0909AA5C1481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재정의 본질은 정책사업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85EA59-7845-87DF-A2BD-5E62E136B017}"/>
              </a:ext>
            </a:extLst>
          </p:cNvPr>
          <p:cNvSpPr txBox="1"/>
          <p:nvPr/>
        </p:nvSpPr>
        <p:spPr>
          <a:xfrm>
            <a:off x="1080000" y="1671816"/>
            <a:ext cx="10800000" cy="427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예산은 숫자의 개관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 – A.G.H. Wagner 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또는 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대한 결정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목표를 달성하기 위한 대안 선택의 과정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1,500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억을 요양원 신축에 쓸 것인가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노인돌봄서비스에 쓸 것인가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금액에 대한 결정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정책대안에 소요되는 비용을 계산해 화폐적 수치를 부여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두 결정은 상호 밀접한 연관 속에서 동시적 차원에서 이루어짐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B32FBE2-1853-0C66-DB6C-E4A4CFFAE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D063029-9508-CEC4-A939-F574509030E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093DA51-F711-645B-6290-B10F243E45FC}"/>
              </a:ext>
            </a:extLst>
          </p:cNvPr>
          <p:cNvSpPr txBox="1"/>
          <p:nvPr/>
        </p:nvSpPr>
        <p:spPr>
          <a:xfrm>
            <a:off x="359999" y="722826"/>
            <a:ext cx="644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D0DC07-9142-10FB-7F20-65AC60C2158E}"/>
              </a:ext>
            </a:extLst>
          </p:cNvPr>
          <p:cNvGrpSpPr/>
          <p:nvPr/>
        </p:nvGrpSpPr>
        <p:grpSpPr>
          <a:xfrm>
            <a:off x="2653381" y="2582347"/>
            <a:ext cx="6152538" cy="620157"/>
            <a:chOff x="2329049" y="3297571"/>
            <a:chExt cx="6152538" cy="620157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A074142-3FE2-6131-B820-BFFEA46F86F1}"/>
                </a:ext>
              </a:extLst>
            </p:cNvPr>
            <p:cNvSpPr/>
            <p:nvPr/>
          </p:nvSpPr>
          <p:spPr>
            <a:xfrm>
              <a:off x="2329049" y="3297571"/>
              <a:ext cx="3051018" cy="6178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노인돌봄서비스 </a:t>
              </a:r>
              <a:r>
                <a:rPr lang="en-US" altLang="ko-KR" dirty="0"/>
                <a:t>(</a:t>
              </a:r>
              <a:r>
                <a:rPr lang="ko-KR" altLang="en-US" dirty="0"/>
                <a:t>정책</a:t>
              </a:r>
              <a:r>
                <a:rPr lang="en-US" altLang="ko-KR" dirty="0"/>
                <a:t>/</a:t>
              </a:r>
              <a:r>
                <a:rPr lang="ko-KR" altLang="en-US" dirty="0"/>
                <a:t>사업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7C4B56E-3B26-5798-9E69-3BE210766E17}"/>
                </a:ext>
              </a:extLst>
            </p:cNvPr>
            <p:cNvSpPr/>
            <p:nvPr/>
          </p:nvSpPr>
          <p:spPr>
            <a:xfrm>
              <a:off x="6163900" y="3299830"/>
              <a:ext cx="2317687" cy="6178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1,500</a:t>
              </a:r>
              <a:r>
                <a:rPr lang="ko-KR" altLang="en-US" dirty="0"/>
                <a:t>억</a:t>
              </a:r>
              <a:r>
                <a:rPr lang="en-US" altLang="ko-KR" dirty="0"/>
                <a:t>(</a:t>
              </a:r>
              <a:r>
                <a:rPr lang="ko-KR" altLang="en-US" dirty="0"/>
                <a:t>금액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6" name="더하기 기호 5">
              <a:extLst>
                <a:ext uri="{FF2B5EF4-FFF2-40B4-BE49-F238E27FC236}">
                  <a16:creationId xmlns:a16="http://schemas.microsoft.com/office/drawing/2014/main" id="{3FB5F6D4-E1E2-C193-CB9F-5AC9F7224645}"/>
                </a:ext>
              </a:extLst>
            </p:cNvPr>
            <p:cNvSpPr/>
            <p:nvPr/>
          </p:nvSpPr>
          <p:spPr>
            <a:xfrm>
              <a:off x="5631655" y="3429000"/>
              <a:ext cx="280657" cy="301023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811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B4874-ED00-5633-DA6E-9A7604BD5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9BBFA03-101B-106F-7A69-F9E8781E463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4D8681C-2D3E-BC95-97B9-C3CCF5D6E68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EF0867-D531-CAB5-F947-549DB4529116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=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가치판단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+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사실판단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E9DF90-FDA1-9CB2-DEA1-88DD024861B1}"/>
              </a:ext>
            </a:extLst>
          </p:cNvPr>
          <p:cNvSpPr txBox="1"/>
          <p:nvPr/>
        </p:nvSpPr>
        <p:spPr>
          <a:xfrm>
            <a:off x="1080000" y="1671816"/>
            <a:ext cx="10800000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정책결정자는 </a:t>
            </a:r>
            <a:r>
              <a:rPr lang="ko-KR" altLang="en-US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가치판단과 사실판단</a:t>
            </a:r>
            <a:r>
              <a:rPr lang="en-US" altLang="ko-KR" sz="2400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양자의 연결관계에 대한 판단</a:t>
            </a:r>
            <a:r>
              <a:rPr lang="ko-KR" altLang="en-US" sz="2400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따라 결정함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예산에 대한 결정도 마찬가지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재원의 지출이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어떠한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인과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효과를 가질 것인가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)” 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고속철도를 확장하면 여객 수송이 늘어날 것인가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효과는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바람직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또는 다른 지출에 비해 더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중요한가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)” 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여객 수송이 증가하는 것은 바람직한가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도로를 건설하는 것에 비해 철도를 건설하는 것이 좋은가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6231980-2E61-FBE7-8E46-9725980CB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DB937FD-EAB9-C91C-9E8C-F9DD137B34F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4759E50-271A-9BFE-ABC1-F621CE16B4E5}"/>
              </a:ext>
            </a:extLst>
          </p:cNvPr>
          <p:cNvSpPr txBox="1"/>
          <p:nvPr/>
        </p:nvSpPr>
        <p:spPr>
          <a:xfrm>
            <a:off x="359999" y="722826"/>
            <a:ext cx="644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0202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FB234-1FB2-C5C5-7343-707C6815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F2B39FA-571E-7727-B4C1-F1BF33CB430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BA07AB2-F520-5834-BC1D-B858AA37EA6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F384E4-A6AA-2D0C-D335-968722921FB8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결과물로서의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예산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6D2800-FD43-CA00-22AA-6310A6958F00}"/>
              </a:ext>
            </a:extLst>
          </p:cNvPr>
          <p:cNvSpPr txBox="1"/>
          <p:nvPr/>
        </p:nvSpPr>
        <p:spPr>
          <a:xfrm>
            <a:off x="1080000" y="1671816"/>
            <a:ext cx="10800000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예산은 특정 조직의 상태에 대한 묘사임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얼마의 금액으로 무엇을 구입해 어떤 일을 하며 무엇을 달성하였는지를 기술함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조직의 목표와 의지가 담겨있음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예산은 인과관계의 설명임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인력과 물자를 조달해 어떤 일을 하면 어떤 결과가 나온다는 것을 가정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활동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인과적 과정을 가정함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(feat.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예산심의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타당성 조사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예산은 선호나 가치의 언명임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결정자의 개별적 선호일수도 있고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협상과 타협을 거친 집합적 선호일 수도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예산은 정치 과정이며 국가적 우선순위를 나타낸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936CAED-C195-3A42-A85E-A7EA7B10A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E2091ED-EDA9-19D1-7FB1-4C461993429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25896AC-FB7E-4FC7-2C91-6B8437E4B58C}"/>
              </a:ext>
            </a:extLst>
          </p:cNvPr>
          <p:cNvSpPr txBox="1"/>
          <p:nvPr/>
        </p:nvSpPr>
        <p:spPr>
          <a:xfrm>
            <a:off x="359999" y="722826"/>
            <a:ext cx="644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3867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1BA97-8A38-A283-9C1E-A44891143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5555976-8FB7-FF39-BBB4-7F1F2CE8EC7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0FF4849-AADF-E500-2295-24FB8765BE5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C019B3-1141-DCE1-4F94-3494840764EB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공공부문에서의 희소성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AE0964-8198-56E5-A2EC-186F68AA8B1B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재화를 생산할 충분한 자원이 없기 때문에 재화는 항상 욕구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(wants)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비해 부족함 →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희소성의 법칙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욕구와 자원의 양면적 조건은 주관적이고 상대적인 개념이기 때문에 희소성은 수요와 공급의 인지된 관계에 의해서 결정됨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(Schick, 1980)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→ 희소성의 정도는 상황에 따라 달라짐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코로나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19;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만성적 재정적자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희소성 때문에 공공자원을 어떻게 배분할 것인가의 문제가 발생함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이때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배분의 우선순위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정한 것이 바로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5EDD20E-16E0-33C2-7167-978BACF53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B30D6C6-55EB-0D69-A44B-D9DF7CFA9FE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10765AB-921A-4183-E732-4E1EE10D51D9}"/>
              </a:ext>
            </a:extLst>
          </p:cNvPr>
          <p:cNvSpPr txBox="1"/>
          <p:nvPr/>
        </p:nvSpPr>
        <p:spPr>
          <a:xfrm>
            <a:off x="359999" y="722826"/>
            <a:ext cx="644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8353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997B0-022D-77D7-5A82-4F9AF70FF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C441673-70CC-4E31-B189-70F87041037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942E80A-C624-FCE6-3DF7-78D9C2D0B96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0F10C9-9C8C-A959-0EDB-E7778541B91B}"/>
              </a:ext>
            </a:extLst>
          </p:cNvPr>
          <p:cNvSpPr txBox="1"/>
          <p:nvPr/>
        </p:nvSpPr>
        <p:spPr>
          <a:xfrm>
            <a:off x="1235998" y="757300"/>
            <a:ext cx="4648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배분의 정치경제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거시적 배분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47A131-A3C2-32FA-07C7-1C4BEEEBC795}"/>
              </a:ext>
            </a:extLst>
          </p:cNvPr>
          <p:cNvSpPr txBox="1"/>
          <p:nvPr/>
        </p:nvSpPr>
        <p:spPr>
          <a:xfrm>
            <a:off x="1080000" y="1671816"/>
            <a:ext cx="5755366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재정의 핵심 문제는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자원배분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공공과 민간 사이의 배분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거시적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공공내 여러 대안에 대한 배분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미시적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나뉨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거시적 배분은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정부의 적정 규모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관련된 배분 문제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소비와 투자 면에서 사회의 총 자원 중 얼마의 비율이 정부의 선택에 의해 결정되어야 하는가를 표현한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80CC869-435A-F91D-1AD9-AEF6C296D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16F1624-FEC4-789F-7B5F-3E15EA05647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797FD4-7DB5-EF4C-CB3D-25D0DE5A273D}"/>
              </a:ext>
            </a:extLst>
          </p:cNvPr>
          <p:cNvSpPr txBox="1"/>
          <p:nvPr/>
        </p:nvSpPr>
        <p:spPr>
          <a:xfrm>
            <a:off x="359999" y="722826"/>
            <a:ext cx="644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61CB710-97EF-60A5-DD0C-1B64B3B4D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458" y="2096803"/>
            <a:ext cx="4016610" cy="303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578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311D7-7723-A0B2-DDB2-5BC97F97C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BA749A4-DE19-D1F8-D59C-C14AFF9479B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4A7808E-E9CA-FB3A-6FF7-05567A3949D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88B3F6-3F1C-35F7-FC3F-060BD92CE507}"/>
              </a:ext>
            </a:extLst>
          </p:cNvPr>
          <p:cNvSpPr txBox="1"/>
          <p:nvPr/>
        </p:nvSpPr>
        <p:spPr>
          <a:xfrm>
            <a:off x="1235999" y="757300"/>
            <a:ext cx="453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배분의 정치경제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거시적 배분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F4B529-41CA-6CEE-9B4E-A26E3E22C879}"/>
              </a:ext>
            </a:extLst>
          </p:cNvPr>
          <p:cNvSpPr txBox="1"/>
          <p:nvPr/>
        </p:nvSpPr>
        <p:spPr>
          <a:xfrm>
            <a:off x="1079999" y="1671816"/>
            <a:ext cx="10517489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거시적 배분은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재정의 총 규모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또는 재정 총액의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GDP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대한 비율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 표시됨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e.g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673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3,000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시장이 정부보다 효율적이라고 보는 것이 일반적이지만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자연독점</a:t>
            </a:r>
            <a:r>
              <a:rPr lang="en-US" altLang="ko-KR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외부효과</a:t>
            </a:r>
            <a:r>
              <a:rPr lang="en-US" altLang="ko-KR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공공재</a:t>
            </a:r>
            <a:r>
              <a:rPr lang="en-US" altLang="ko-KR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정보비대칭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등으로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시장실패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발생하면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정부가 개입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하여 이를 해결하고자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순수공공재 생산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치안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시장기능의 작동을 위한 법률적 조건 확립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반독점법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사회안전망 구축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사회보험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경제안정화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물가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vs.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등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최근에는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정부실패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비용과 수입의 분리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내부성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분배적 불공평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초점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186A8A2-BA30-1072-5956-BB31294FB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45B22AC-6674-AB74-6EF4-CDB5920370A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21AEC1C-BAA7-73A0-8BCE-F2C49D0E752A}"/>
              </a:ext>
            </a:extLst>
          </p:cNvPr>
          <p:cNvSpPr txBox="1"/>
          <p:nvPr/>
        </p:nvSpPr>
        <p:spPr>
          <a:xfrm>
            <a:off x="359999" y="722826"/>
            <a:ext cx="644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5991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CD00C-9F8D-8A58-9E47-E3EB4F602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E7B4F4F-5F44-E458-46F2-02ED5F77FDE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DAC2C3-14E9-CD32-8B31-FF7859875D8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720689-77AE-2947-ADE3-6C8B2EE288C5}"/>
              </a:ext>
            </a:extLst>
          </p:cNvPr>
          <p:cNvSpPr txBox="1"/>
          <p:nvPr/>
        </p:nvSpPr>
        <p:spPr>
          <a:xfrm>
            <a:off x="1235999" y="757300"/>
            <a:ext cx="4540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배분의 정치경제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거시적 배분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D16244-5198-496A-6399-16EA9D0AE2EE}"/>
              </a:ext>
            </a:extLst>
          </p:cNvPr>
          <p:cNvSpPr txBox="1"/>
          <p:nvPr/>
        </p:nvSpPr>
        <p:spPr>
          <a:xfrm>
            <a:off x="1079999" y="1671816"/>
            <a:ext cx="5016001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자원배분의 선택은 시장 또는 정부의 이분법적 선택이 아니라 양자 간 상이한 조합의 선택이거나 서로 다른 정도의 자원 배분 유형에 대한 선택임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결국 재정은 정부가 해야 할 것과 하지 말아야 할 것에 대한 선택이라고 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3A63A68-CAF3-C321-A81D-58C5D0848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2B6A86B-B2C2-555D-2BC1-2274CCE554C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FE70F50-44E4-D0E0-A269-51B7C8AA583B}"/>
              </a:ext>
            </a:extLst>
          </p:cNvPr>
          <p:cNvSpPr txBox="1"/>
          <p:nvPr/>
        </p:nvSpPr>
        <p:spPr>
          <a:xfrm>
            <a:off x="359999" y="722826"/>
            <a:ext cx="644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68BAB6C-1689-0859-9F32-70DD5746D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564235"/>
              </p:ext>
            </p:extLst>
          </p:nvPr>
        </p:nvGraphicFramePr>
        <p:xfrm>
          <a:off x="6650128" y="1810712"/>
          <a:ext cx="4938306" cy="297542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54783">
                  <a:extLst>
                    <a:ext uri="{9D8B030D-6E8A-4147-A177-3AD203B41FA5}">
                      <a16:colId xmlns:a16="http://schemas.microsoft.com/office/drawing/2014/main" val="3829747139"/>
                    </a:ext>
                  </a:extLst>
                </a:gridCol>
                <a:gridCol w="1892174">
                  <a:extLst>
                    <a:ext uri="{9D8B030D-6E8A-4147-A177-3AD203B41FA5}">
                      <a16:colId xmlns:a16="http://schemas.microsoft.com/office/drawing/2014/main" val="900731764"/>
                    </a:ext>
                  </a:extLst>
                </a:gridCol>
                <a:gridCol w="2091349">
                  <a:extLst>
                    <a:ext uri="{9D8B030D-6E8A-4147-A177-3AD203B41FA5}">
                      <a16:colId xmlns:a16="http://schemas.microsoft.com/office/drawing/2014/main" val="1760182710"/>
                    </a:ext>
                  </a:extLst>
                </a:gridCol>
              </a:tblGrid>
              <a:tr h="210123">
                <a:tc>
                  <a:txBody>
                    <a:bodyPr/>
                    <a:lstStyle/>
                    <a:p>
                      <a:pPr marL="38100" marR="3810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-윤고딕310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 err="1">
                          <a:solidFill>
                            <a:srgbClr val="000000"/>
                          </a:solidFill>
                          <a:effectLst/>
                        </a:rPr>
                        <a:t>배제적</a:t>
                      </a: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>
                          <a:solidFill>
                            <a:srgbClr val="000000"/>
                          </a:solidFill>
                          <a:effectLst/>
                        </a:rPr>
                        <a:t>비배제적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775011085"/>
                  </a:ext>
                </a:extLst>
              </a:tr>
              <a:tr h="8298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경합적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 err="1">
                          <a:solidFill>
                            <a:srgbClr val="000000"/>
                          </a:solidFill>
                          <a:effectLst/>
                        </a:rPr>
                        <a:t>사적재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민간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 err="1">
                          <a:solidFill>
                            <a:srgbClr val="000000"/>
                          </a:solidFill>
                          <a:effectLst/>
                        </a:rPr>
                        <a:t>공유재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정부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민간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</a:p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e.g., </a:t>
                      </a: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자연자원</a:t>
                      </a:r>
                      <a:r>
                        <a:rPr lang="en-US" altLang="ko-KR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,</a:t>
                      </a: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 막히는 국도</a:t>
                      </a:r>
                      <a:r>
                        <a:rPr lang="en-US" altLang="ko-KR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무료 국립공원</a:t>
                      </a:r>
                      <a:r>
                        <a:rPr lang="en-US" altLang="ko-KR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ko-KR" altLang="en-US" sz="1200" b="0" i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773016294"/>
                  </a:ext>
                </a:extLst>
              </a:tr>
              <a:tr h="124655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>
                          <a:solidFill>
                            <a:srgbClr val="000000"/>
                          </a:solidFill>
                          <a:effectLst/>
                        </a:rPr>
                        <a:t>비경합적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 err="1">
                          <a:solidFill>
                            <a:srgbClr val="000000"/>
                          </a:solidFill>
                          <a:effectLst/>
                        </a:rPr>
                        <a:t>클럽재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정부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민간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</a:p>
                    <a:p>
                      <a:pPr marL="38100" marR="3810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e.g., </a:t>
                      </a: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한산한 유료국립공원</a:t>
                      </a:r>
                      <a:r>
                        <a:rPr lang="en-US" altLang="ko-KR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한산한 유료고속도로</a:t>
                      </a:r>
                      <a:r>
                        <a:rPr lang="en-US" altLang="ko-KR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한산한 수영장</a:t>
                      </a:r>
                      <a:r>
                        <a:rPr lang="en-US" altLang="ko-KR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케이블 </a:t>
                      </a:r>
                      <a:r>
                        <a:rPr lang="en-US" altLang="ko-KR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TV</a:t>
                      </a:r>
                      <a:endParaRPr lang="ko-KR" altLang="en-US" sz="1200" b="0" i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순수공공재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8100" marR="3810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정부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</a:p>
                    <a:p>
                      <a:pPr marL="38100" marR="3810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e.g., </a:t>
                      </a: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국방</a:t>
                      </a:r>
                      <a:r>
                        <a:rPr lang="en-US" altLang="ko-KR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치안</a:t>
                      </a:r>
                      <a:r>
                        <a:rPr lang="en-US" altLang="ko-KR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공중파 </a:t>
                      </a:r>
                      <a:r>
                        <a:rPr lang="en-US" altLang="ko-KR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TV, </a:t>
                      </a: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무료공원</a:t>
                      </a:r>
                      <a:r>
                        <a:rPr lang="en-US" altLang="ko-KR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한산한 국도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676317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197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E0005-A54F-FC15-DF5D-010B86441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B340368-4515-6DE4-E9EF-9CD23AA649F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D54A8F-52F9-C765-173C-71CF0E2F323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826A67-4078-DA94-9057-DBDEADDD7E92}"/>
              </a:ext>
            </a:extLst>
          </p:cNvPr>
          <p:cNvSpPr txBox="1"/>
          <p:nvPr/>
        </p:nvSpPr>
        <p:spPr>
          <a:xfrm>
            <a:off x="1235998" y="757300"/>
            <a:ext cx="4730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배분의 정치경제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거시적 배분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BBF438-D364-7439-CB97-EB58B5D38654}"/>
              </a:ext>
            </a:extLst>
          </p:cNvPr>
          <p:cNvSpPr txBox="1"/>
          <p:nvPr/>
        </p:nvSpPr>
        <p:spPr>
          <a:xfrm>
            <a:off x="1079999" y="1671816"/>
            <a:ext cx="5016001" cy="2797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중앙정부 지방정부 간 기능의 배분과 재정 부담의 배분 문제 → 공공재의 성격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가분성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외부효과의 파급 범위와 편익의 귀착 문제에 따라 달라질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2B0E0E6-A675-4B48-E1FE-ED418EA49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CA85AD0-9FAE-4C8A-6F5E-BF969AD218F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23D9499-5FEE-B944-5EAF-AB5BF68F9724}"/>
              </a:ext>
            </a:extLst>
          </p:cNvPr>
          <p:cNvSpPr txBox="1"/>
          <p:nvPr/>
        </p:nvSpPr>
        <p:spPr>
          <a:xfrm>
            <a:off x="360000" y="720003"/>
            <a:ext cx="6440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0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30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E917472-7958-191F-693A-A7F8B1105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045355"/>
              </p:ext>
            </p:extLst>
          </p:nvPr>
        </p:nvGraphicFramePr>
        <p:xfrm>
          <a:off x="6480000" y="1383029"/>
          <a:ext cx="5016003" cy="427072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06759">
                  <a:extLst>
                    <a:ext uri="{9D8B030D-6E8A-4147-A177-3AD203B41FA5}">
                      <a16:colId xmlns:a16="http://schemas.microsoft.com/office/drawing/2014/main" val="2301644558"/>
                    </a:ext>
                  </a:extLst>
                </a:gridCol>
                <a:gridCol w="906759">
                  <a:extLst>
                    <a:ext uri="{9D8B030D-6E8A-4147-A177-3AD203B41FA5}">
                      <a16:colId xmlns:a16="http://schemas.microsoft.com/office/drawing/2014/main" val="408210563"/>
                    </a:ext>
                  </a:extLst>
                </a:gridCol>
                <a:gridCol w="1067495">
                  <a:extLst>
                    <a:ext uri="{9D8B030D-6E8A-4147-A177-3AD203B41FA5}">
                      <a16:colId xmlns:a16="http://schemas.microsoft.com/office/drawing/2014/main" val="314760399"/>
                    </a:ext>
                  </a:extLst>
                </a:gridCol>
                <a:gridCol w="1067495">
                  <a:extLst>
                    <a:ext uri="{9D8B030D-6E8A-4147-A177-3AD203B41FA5}">
                      <a16:colId xmlns:a16="http://schemas.microsoft.com/office/drawing/2014/main" val="4036888070"/>
                    </a:ext>
                  </a:extLst>
                </a:gridCol>
                <a:gridCol w="1067495">
                  <a:extLst>
                    <a:ext uri="{9D8B030D-6E8A-4147-A177-3AD203B41FA5}">
                      <a16:colId xmlns:a16="http://schemas.microsoft.com/office/drawing/2014/main" val="387992965"/>
                    </a:ext>
                  </a:extLst>
                </a:gridCol>
              </a:tblGrid>
              <a:tr h="351365">
                <a:tc rowSpan="2" gridSpan="2">
                  <a:txBody>
                    <a:bodyPr/>
                    <a:lstStyle/>
                    <a:p>
                      <a:pPr marL="38100" marR="3810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kern="0" spc="0" dirty="0">
                        <a:solidFill>
                          <a:srgbClr val="000000"/>
                        </a:solidFill>
                        <a:effectLst/>
                        <a:latin typeface="-윤고딕310"/>
                      </a:endParaRPr>
                    </a:p>
                  </a:txBody>
                  <a:tcPr marL="17907" marR="17907" marT="17907" marB="17907" anchor="ctr"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kern="0" spc="0">
                          <a:solidFill>
                            <a:srgbClr val="000000"/>
                          </a:solidFill>
                          <a:effectLst/>
                        </a:rPr>
                        <a:t>0% </a:t>
                      </a: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</a:rPr>
                        <a:t>← 외부성</a:t>
                      </a:r>
                      <a:r>
                        <a:rPr lang="en-US" altLang="ko-KR" sz="1100" b="1" kern="0" spc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</a:rPr>
                        <a:t>사회적 편익</a:t>
                      </a:r>
                      <a:r>
                        <a:rPr lang="en-US" altLang="ko-KR" sz="1100" b="1" kern="0" spc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</a:rPr>
                        <a:t>→ </a:t>
                      </a:r>
                      <a:r>
                        <a:rPr lang="en-US" altLang="ko-KR" sz="1100" b="1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  <a:endParaRPr lang="ko-KR" altLang="en-US" sz="1100" b="1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457950"/>
                  </a:ext>
                </a:extLst>
              </a:tr>
              <a:tr h="69134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 err="1">
                          <a:solidFill>
                            <a:srgbClr val="000000"/>
                          </a:solidFill>
                          <a:effectLst/>
                        </a:rPr>
                        <a:t>사적재</a:t>
                      </a:r>
                      <a:endParaRPr lang="en-US" altLang="ko-KR" sz="11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</a:rPr>
                        <a:t>수익자 부담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ko-KR" altLang="en-US" sz="11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</a:rPr>
                        <a:t>준공공재</a:t>
                      </a:r>
                      <a:endParaRPr lang="en-US" altLang="ko-KR" sz="11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b="1" kern="0" spc="0" dirty="0" err="1">
                          <a:solidFill>
                            <a:srgbClr val="000000"/>
                          </a:solidFill>
                          <a:effectLst/>
                        </a:rPr>
                        <a:t>조세＋수익자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</a:rPr>
                        <a:t> 부담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ko-KR" altLang="en-US" sz="11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</a:rPr>
                        <a:t>공공재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</a:rPr>
                        <a:t>조세 부담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ko-KR" altLang="en-US" sz="11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526335371"/>
                  </a:ext>
                </a:extLst>
              </a:tr>
              <a:tr h="691340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  <a:endParaRPr lang="ko-KR" altLang="en-US" sz="1100" b="1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</a:rPr>
                        <a:t>↑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</a:rPr>
                        <a:t>가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</a:rPr>
                        <a:t>분 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</a:rPr>
                        <a:t>성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</a:rPr>
                        <a:t>↓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kern="0" spc="0">
                          <a:solidFill>
                            <a:srgbClr val="000000"/>
                          </a:solidFill>
                          <a:effectLst/>
                        </a:rPr>
                        <a:t>100</a:t>
                      </a:r>
                      <a:endParaRPr lang="ko-KR" altLang="en-US" sz="1100" b="1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kern="0" spc="0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endParaRPr lang="ko-KR" altLang="en-US" sz="1100" b="1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</a:rPr>
                        <a:t>전 국민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고속도로 철도 우편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의무교육 </a:t>
                      </a:r>
                      <a:r>
                        <a:rPr lang="ko-KR" altLang="en-US" sz="1200" b="0" i="1" kern="0" spc="0" dirty="0" err="1">
                          <a:solidFill>
                            <a:srgbClr val="000000"/>
                          </a:solidFill>
                          <a:effectLst/>
                        </a:rPr>
                        <a:t>외교</a:t>
                      </a:r>
                      <a:r>
                        <a:rPr lang="ko-KR" altLang="en-US" sz="1200" b="0" i="1" kern="0" spc="-50" dirty="0" err="1">
                          <a:solidFill>
                            <a:srgbClr val="000000"/>
                          </a:solidFill>
                          <a:effectLst/>
                        </a:rPr>
                        <a:t>ㆍ</a:t>
                      </a:r>
                      <a:r>
                        <a:rPr lang="ko-KR" altLang="en-US" sz="1200" b="0" i="1" kern="0" spc="0" dirty="0" err="1">
                          <a:solidFill>
                            <a:srgbClr val="000000"/>
                          </a:solidFill>
                          <a:effectLst/>
                        </a:rPr>
                        <a:t>국방</a:t>
                      </a: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 경찰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911188893"/>
                  </a:ext>
                </a:extLst>
              </a:tr>
              <a:tr h="6913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</a:rPr>
                        <a:t>전 시민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고등교육 지하철 병원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소방 주민등록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162910244"/>
                  </a:ext>
                </a:extLst>
              </a:tr>
              <a:tr h="6913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</a:rPr>
                        <a:t>지역주민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1" kern="0" spc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유치원 상하수도 탁아소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청소 공원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352917230"/>
                  </a:ext>
                </a:extLst>
              </a:tr>
              <a:tr h="6913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</a:rPr>
                        <a:t>개인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주차장 택지 분양 묘지 분양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사회보험 요리교육 음악교실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i="1" kern="0" spc="0" dirty="0">
                          <a:solidFill>
                            <a:srgbClr val="000000"/>
                          </a:solidFill>
                          <a:effectLst/>
                        </a:rPr>
                        <a:t>공공부조 의료보호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46203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2139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BCD04-4C63-362B-EDB2-8F51034E6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A2EB088-2D6F-8619-5105-5A8CE65E1D6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2CA678-CC0B-A3E4-8F09-B17BE0490BC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CCB6F6-1DD5-79F3-8B7E-E897E4362E7F}"/>
              </a:ext>
            </a:extLst>
          </p:cNvPr>
          <p:cNvSpPr txBox="1"/>
          <p:nvPr/>
        </p:nvSpPr>
        <p:spPr>
          <a:xfrm>
            <a:off x="1235998" y="757300"/>
            <a:ext cx="4322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배분의 정치경제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미시적 배분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845AB16-C3E9-0457-4037-831843B7A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D5B40B5-741C-E703-DC33-05150A7DDFA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5AAE56-AD22-8AB5-0914-03392E7C86F3}"/>
              </a:ext>
            </a:extLst>
          </p:cNvPr>
          <p:cNvSpPr txBox="1"/>
          <p:nvPr/>
        </p:nvSpPr>
        <p:spPr>
          <a:xfrm>
            <a:off x="360000" y="720003"/>
            <a:ext cx="6440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0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30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3222E2-5241-B96D-B50F-62D381F1FF15}"/>
              </a:ext>
            </a:extLst>
          </p:cNvPr>
          <p:cNvSpPr txBox="1"/>
          <p:nvPr/>
        </p:nvSpPr>
        <p:spPr>
          <a:xfrm>
            <a:off x="1079999" y="1671816"/>
            <a:ext cx="10517489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미시적 배분은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주어진 예산 총액의 범위 내에서 각 대안 간에 자금을 배분하는 것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수입 측면에서 배분은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세입예산을 편성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하는 것이며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국민의 부담을 결정하는 것임 → 어느 계층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어느 집단에 부담을 지울 것인가는 소득분배의 문제와 관련됨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 측면에서 배분은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세출예산을 편성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하는 것이며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정부의 기능 간 또는 사업 간 우선순위에 따라 각 분야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프로그램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단위사업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세부사업 별로 예산을 배분하는 것임 → 프로그램 예산제도가 활용됨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6963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30409-C153-A7A2-2B62-2DE5EAC78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FA247B4-CEE7-8B35-7F25-4C1B937F455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ECD097-982D-26E6-75A4-26ED2764617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70A08E-0774-0BE7-0B52-198D810B6050}"/>
              </a:ext>
            </a:extLst>
          </p:cNvPr>
          <p:cNvSpPr txBox="1"/>
          <p:nvPr/>
        </p:nvSpPr>
        <p:spPr>
          <a:xfrm>
            <a:off x="1235998" y="757300"/>
            <a:ext cx="4322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배분의 정치경제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경제적 측면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10885B1-6B2A-E439-2B6A-A2ADA4E19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70B3A3A-47B8-1685-C546-862F42DB6D0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0BABEC1-C275-DEDB-87D2-569C5B280D22}"/>
              </a:ext>
            </a:extLst>
          </p:cNvPr>
          <p:cNvSpPr txBox="1"/>
          <p:nvPr/>
        </p:nvSpPr>
        <p:spPr>
          <a:xfrm>
            <a:off x="360000" y="720003"/>
            <a:ext cx="6440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0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30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89066F-6C74-7AC6-5187-A197AD323466}"/>
              </a:ext>
            </a:extLst>
          </p:cNvPr>
          <p:cNvSpPr txBox="1"/>
          <p:nvPr/>
        </p:nvSpPr>
        <p:spPr>
          <a:xfrm>
            <a:off x="1079999" y="1671816"/>
            <a:ext cx="10517489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재정배분 메커니즘은 경제적 측면과 정치적 측면을 내포하고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경제적 측면은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어떻게 예산상의 이득을 극대화할 것인가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초점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합리적 재정배분을 통해 사회후생을 극대화하는 것이 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파레토 최적의 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 분석을 통해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순편익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또는 비용편익비율을 극대화하는 방식으로 상대적 효율성을 달성하고자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경제적 합리성은 총체주의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(comprehensive)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예산결정으로 이어짐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4476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B262F-8AD9-F8F0-C1E0-6A4B90108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C8E6192-4474-BDB0-AA70-45A501594F4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D1883B-E027-B977-29EB-90BD060D715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5123BD-750C-FDAF-33A0-9E7177D60B86}"/>
              </a:ext>
            </a:extLst>
          </p:cNvPr>
          <p:cNvSpPr txBox="1"/>
          <p:nvPr/>
        </p:nvSpPr>
        <p:spPr>
          <a:xfrm>
            <a:off x="1235998" y="757300"/>
            <a:ext cx="4322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배분의 정치경제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정치적 측면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988209E-97F3-5698-A480-2B2ED2647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B2D7020-8718-E450-43ED-B910864942F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935E693-C9CD-D48A-7A28-D1D8156803C1}"/>
              </a:ext>
            </a:extLst>
          </p:cNvPr>
          <p:cNvSpPr txBox="1"/>
          <p:nvPr/>
        </p:nvSpPr>
        <p:spPr>
          <a:xfrm>
            <a:off x="360000" y="720003"/>
            <a:ext cx="6440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0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30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57251A-FA19-2D03-10F4-2E133B34B53C}"/>
              </a:ext>
            </a:extLst>
          </p:cNvPr>
          <p:cNvSpPr txBox="1"/>
          <p:nvPr/>
        </p:nvSpPr>
        <p:spPr>
          <a:xfrm>
            <a:off x="1079999" y="1671816"/>
            <a:ext cx="10517489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측면은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누가 얼마만큼 예산적 이득을 향유할 것인가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초점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합리성 또는 정치적 실현가능성을 기준으로 한 몫의 극대화가 목적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분석에 따른 효율성 보다는 협상과 타협을 활용하여 배분에 대한 정당성을 확보하는 것이 핵심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예산과정은 곧 정치과정이다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”- A. </a:t>
            </a: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Wildavsky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배분 방법은 모색에 의한 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(muddling through)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대표적이며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총체적이기보다는 단편적이고 분할적인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(disjointed)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결정이 이뤄짐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정치적 합리성은 점증주의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(incrementalism)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예산결정으로 이어짐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8621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EB33D-96EF-2A44-BE0A-D32FAA937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F6F8A42-DFFA-BF7D-87D8-A95B4D12508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83E54C-4C5F-3A44-2B23-8659B08BCBB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3F0066-C396-4906-E89C-2283E866E37C}"/>
              </a:ext>
            </a:extLst>
          </p:cNvPr>
          <p:cNvSpPr txBox="1"/>
          <p:nvPr/>
        </p:nvSpPr>
        <p:spPr>
          <a:xfrm>
            <a:off x="1235998" y="757300"/>
            <a:ext cx="6486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배분의 정치경제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경제원리와 정치원리의 조화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6DDA057-B4C5-2B63-C353-4EA211BD5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F910B4D-663D-9FCD-876D-0977228C342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CAB82FA-BBB5-735C-9DCC-BD8068FBDB9F}"/>
              </a:ext>
            </a:extLst>
          </p:cNvPr>
          <p:cNvSpPr txBox="1"/>
          <p:nvPr/>
        </p:nvSpPr>
        <p:spPr>
          <a:xfrm>
            <a:off x="360000" y="720003"/>
            <a:ext cx="6440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0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30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735E86-271B-79D5-90F6-72C0A3F623AB}"/>
              </a:ext>
            </a:extLst>
          </p:cNvPr>
          <p:cNvSpPr txBox="1"/>
          <p:nvPr/>
        </p:nvSpPr>
        <p:spPr>
          <a:xfrm>
            <a:off x="1079999" y="1671816"/>
            <a:ext cx="10517489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재정배분의 결정은 정치와 효율성의 중간영역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(twilight zone)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이뤄짐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Wildavsky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1961)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정치경제학적 접근의 필요성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Grizzle(1986:196)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경제논리와 정치논리의 조화방안으로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상황론적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접근방법을 제안함 → 준공공재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공유재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클럽재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대해서는 정치논리 적용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계속 사업보다는 신규사업에 분석의 영향이 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분석가들의 정치적 영향력이 강하거나 분석의 질이 높을 때는 경제원리가 더 큰 영향을 미침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논쟁이 이미 시작된 이후에는 분석은 기존 입장을 지지하기 위해서 활용됨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2074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1163</Words>
  <Application>Microsoft Office PowerPoint</Application>
  <PresentationFormat>와이드스크린</PresentationFormat>
  <Paragraphs>131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경기천년제목 Bold</vt:lpstr>
      <vt:lpstr>경기천년제목 Light</vt:lpstr>
      <vt:lpstr>맑은 고딕</vt:lpstr>
      <vt:lpstr>-윤고딕310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94</cp:revision>
  <dcterms:created xsi:type="dcterms:W3CDTF">2025-03-10T02:54:00Z</dcterms:created>
  <dcterms:modified xsi:type="dcterms:W3CDTF">2025-09-02T06:43:35Z</dcterms:modified>
</cp:coreProperties>
</file>