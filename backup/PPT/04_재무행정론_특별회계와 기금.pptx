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6"/>
  </p:notesMasterIdLst>
  <p:sldIdLst>
    <p:sldId id="256" r:id="rId2"/>
    <p:sldId id="289" r:id="rId3"/>
    <p:sldId id="294" r:id="rId4"/>
    <p:sldId id="291" r:id="rId5"/>
    <p:sldId id="292" r:id="rId6"/>
    <p:sldId id="293" r:id="rId7"/>
    <p:sldId id="295" r:id="rId8"/>
    <p:sldId id="296" r:id="rId9"/>
    <p:sldId id="297" r:id="rId10"/>
    <p:sldId id="298" r:id="rId11"/>
    <p:sldId id="300" r:id="rId12"/>
    <p:sldId id="301" r:id="rId13"/>
    <p:sldId id="302" r:id="rId14"/>
    <p:sldId id="258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39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8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0498F0-E222-4130-B559-E26B0B605E46}" type="datetimeFigureOut">
              <a:rPr lang="ko-KR" altLang="en-US" smtClean="0"/>
              <a:t>2025-09-09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3D4FCB-31F1-4D49-A262-D5EAFE6F4D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8811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64346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518BB-8BD4-4307-22DE-42D27CC5A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3B3D36E-FBE8-E284-88F6-6326B8D618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2CC0F97-7906-79E7-6176-5DC42692E1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3CEB48-B0CB-D20D-75C3-08C9962F8A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44247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5C9C1-EEB5-AA9C-83CE-E78E5C06A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1C104CF-EC52-8DF8-3989-3A5785F660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169861D-BEBF-92B8-E7B2-AAB70F9120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CB9186-1DA8-8CA7-70FB-262002E064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54324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5E043-6D93-7F51-94EE-2E69F29B2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BC72C9-E959-F0AB-5398-09708B2F70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F95D8EF-A710-C8AD-D5D6-B44756789C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59A7C9-2778-A382-37E5-CD1E8FBA40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23678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C40E1-0578-A84D-B471-1EB9A230E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B8C5EA6-8F30-EEC8-B159-0B6BA35F86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EBFF18D-41F1-252A-44E4-63BD11E58C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43A684-D5BD-3A35-D4B4-252302325E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83159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35CF4-DC86-0946-5E4C-5528CC6D6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618C456-9FFA-69FC-7EF8-AA7199BAC6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19AA2B3-73FD-2745-A741-0E28F3DF72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1C7F48-C60B-473A-4BA2-F01202F7D7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4485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C6845-D07B-6331-5578-B2246704E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B3B902B-BC78-C8BA-BD93-A96436E2FB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5DC4C45-6987-0588-0C0B-B0386274CF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E9A0EF-EE82-72AC-2B2D-F11C293C69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81168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47300-18E2-F89D-1139-986CCC663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12678B8-09B9-96BC-EDFF-2FF266B49B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EFE9126-CEED-3C9A-61D7-1A50538B28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70A49E-FF66-3613-1B2A-DF9F2DFB6C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32895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500A2-B662-28B8-4F10-6BBE5AE8F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BE1C840-8C75-E0C1-1289-6BF970E18D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979799C-05C5-1532-11F9-3B71EA7E24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A6DD38-FB2F-B135-21D3-38D1B26548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89638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36FE37-B45E-702D-9B96-4299560E33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6E08DEC-7BB0-FA22-8DA3-B1AB8DEFC9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83A6BA-1565-C464-F4EB-3906E7373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7C39A-0473-4F06-BAED-15A0495CDC03}" type="datetime1">
              <a:rPr lang="ko-KR" altLang="en-US" smtClean="0"/>
              <a:t>2025-09-09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BC19E9-6DDD-6434-8E6B-06EF96BBE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85B267-7A29-ED1D-ACA4-7E277B84F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755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8B7FEF-A226-AA76-1459-1FDB0A4E5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A804A3-2F1B-0A55-13C5-3650E2677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F0C730-8C26-635F-3C55-9A7C0301F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B99A3-FCEB-4DA1-9F62-29D8C0003628}" type="datetime1">
              <a:rPr lang="ko-KR" altLang="en-US" smtClean="0"/>
              <a:t>2025-09-09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B7EFE1-B630-48F3-8A5C-C662E88B8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2850C1-CA85-ED3E-2330-22B834CB7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9009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EE0D3C-3680-19BF-4C67-D4B4784C2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5C665B-B2AA-B08F-C279-912EC2D10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D66F2D-16A0-557C-3CCB-8FFB7554D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900D-BC70-4759-8B81-959479FDE631}" type="datetime1">
              <a:rPr lang="ko-KR" altLang="en-US" smtClean="0"/>
              <a:t>2025-09-09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FBDE22-BDA4-74CE-8C4C-E4E73812C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8D6EA0-E1DE-BF0E-0912-85915DD8D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0163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6F7B9F-6A11-CC5A-7A36-44D8AD919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783DDB-E592-C2D4-A180-B5DEDBF7BE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F51331B-C0B4-8EDC-103E-47B36BBE59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0767AC-DDFA-8913-983C-6DA9B0A67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5B54D-7A36-44B1-8C28-43CC23156252}" type="datetime1">
              <a:rPr lang="ko-KR" altLang="en-US" smtClean="0"/>
              <a:t>2025-09-09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DDBFE1A-421D-107D-5DF2-1870DCECC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2004D5-4E92-0B4C-7EE6-FAB9D429C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9766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D0A58D-AA06-16B9-3770-41AD164C9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96E662-B7C3-7FD5-CD89-C526ED31F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8B9CFFF-D7AA-F586-9E75-BF93A17113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9418F7E-3EA8-DC1E-43BE-7D850C4686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F1E95F9-9077-E721-07CD-4CA2411616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CEFD06E-78D1-0213-E60C-58C7C880A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9D56D-5F5D-4386-8229-7B3FCE23A9DB}" type="datetime1">
              <a:rPr lang="ko-KR" altLang="en-US" smtClean="0"/>
              <a:t>2025-09-09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BA4C8D-33C2-7987-6D00-869244A5B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D2AB68B-4F6B-A0AD-F831-29C6E58A1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982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AAD11A-F73C-0207-0712-CC5C19669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8CC1D79-BC19-4316-F46D-F86B3936C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DD53D-D905-4ACB-AC18-AA7FCF8F80DE}" type="datetime1">
              <a:rPr lang="ko-KR" altLang="en-US" smtClean="0"/>
              <a:t>2025-09-09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D50F371-759C-8971-0893-79AC08C88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A58D82D-21E7-57EF-BE11-B67FED116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3146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2DEECEE-D8EA-089C-FBE6-ADF6F763B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BD813-ACF2-4610-9984-BFC3E3445E99}" type="datetime1">
              <a:rPr lang="ko-KR" altLang="en-US" smtClean="0"/>
              <a:t>2025-09-09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56F723E-2C54-55A9-296D-F360D200E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62517F-6DF0-37E6-743B-70F38A8A8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220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08B69-7F2C-A92C-998A-A211E4A43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C4434C-27A6-FC8C-2488-5BF688F521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07BAD0-6B32-5C64-3F97-CF151C3C79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F30F74-FB46-CA2D-CE2A-520ACD1A3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359E2-8CCE-47B9-BB7A-030AE3600AA0}" type="datetime1">
              <a:rPr lang="ko-KR" altLang="en-US" smtClean="0"/>
              <a:t>2025-09-09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9900CC-E9D2-5A28-AF25-307ADC6E3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CB32BB5-82AE-8482-2D75-FF89DE29E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5764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CA0DA8-0481-0840-93EF-373E4CAC2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35C5FCC-6E56-4B61-8A3A-806032224D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03281E-513F-2090-6B6C-30573828E1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5C8138-7D38-BAA2-991C-DD73FA9AC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92EE-1CF8-4367-A084-DA2FF58DBBDB}" type="datetime1">
              <a:rPr lang="ko-KR" altLang="en-US" smtClean="0"/>
              <a:t>2025-09-09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8DCA6D2-D45C-5920-4860-B918D7BB0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E13D3DA-09E9-2079-3755-86D4E6609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5974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35BFF0-B5FD-B1C9-7990-6E39B598F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BA3334E-6A42-25D9-36F5-3E2B606E35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E5EBEB-6DD2-0DC1-0485-D095141E0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E0889-A16A-434F-93C1-A64A52D175C8}" type="datetime1">
              <a:rPr lang="ko-KR" altLang="en-US" smtClean="0"/>
              <a:t>2025-09-09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47268B-0A1F-2E11-B10F-6214EB64A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646C17-DF9E-4AA3-63E2-DF71DCBC8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1524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1D2B582-D262-AA95-51F3-7DB2368588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E71DB97-E146-2A4B-9A20-568C9C345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D1D531-D2EA-FDE0-273E-A182CC962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027F3-8B5B-4B0E-A74B-00FCFC008BFB}" type="datetime1">
              <a:rPr lang="ko-KR" altLang="en-US" smtClean="0"/>
              <a:t>2025-09-09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F24463-153E-992E-0670-078E99ED1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574CB5-B661-FD9B-8604-B864DDCEA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4507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4896CC-D357-0B15-BD4E-82985503F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76DE65-3AA6-CB13-9141-59D0783E05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9FD434-1997-7C62-7EE2-A5C4A20CF3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04A376-E7CB-4754-856D-B8EF9D28E97C}" type="datetime1">
              <a:rPr lang="ko-KR" altLang="en-US" smtClean="0"/>
              <a:t>2025-09-09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F7F881-B52B-6E21-A008-2784312083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AB78CF-D66F-B729-696F-488DF175C1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146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kdkim@kipa.re.kr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10ED8B-338F-5AA3-7E4C-9CE149942F70}"/>
              </a:ext>
            </a:extLst>
          </p:cNvPr>
          <p:cNvSpPr txBox="1"/>
          <p:nvPr/>
        </p:nvSpPr>
        <p:spPr>
          <a:xfrm>
            <a:off x="303023" y="5307578"/>
            <a:ext cx="198419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</a:rPr>
              <a:t>김경동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  <a:p>
            <a:r>
              <a:rPr lang="ko-KR" altLang="en-US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</a:rPr>
              <a:t>행정학과 조교수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  <a:p>
            <a:r>
              <a:rPr lang="en-US" altLang="ko-KR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  <a:hlinkClick r:id="rId2"/>
              </a:rPr>
              <a:t>kdkim@kw.ac.kr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9AC125-E49A-1BDE-4CB3-1DDFDD1917F7}"/>
              </a:ext>
            </a:extLst>
          </p:cNvPr>
          <p:cNvSpPr txBox="1"/>
          <p:nvPr/>
        </p:nvSpPr>
        <p:spPr>
          <a:xfrm>
            <a:off x="1938662" y="2215148"/>
            <a:ext cx="8314676" cy="160043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2025</a:t>
            </a:r>
            <a:r>
              <a:rPr lang="ko-KR" altLang="en-US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년도 가을학기</a:t>
            </a:r>
            <a:endParaRPr lang="en-US" altLang="ko-KR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경기천년제목 Bold" panose="02020803020101020101" pitchFamily="18" charset="-127"/>
              <a:ea typeface="경기천년제목 Bold" panose="02020803020101020101" pitchFamily="18" charset="-127"/>
              <a:cs typeface="KoPubWorld돋움체 Bold" panose="00000800000000000000" pitchFamily="2" charset="-127"/>
            </a:endParaRPr>
          </a:p>
          <a:p>
            <a:pPr algn="ctr"/>
            <a:r>
              <a:rPr lang="ko-KR" altLang="en-US" sz="6600" b="1">
                <a:solidFill>
                  <a:srgbClr val="761F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재무행정론</a:t>
            </a:r>
            <a:endParaRPr lang="ko-KR" alt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경기천년제목 Bold" panose="02020803020101020101" pitchFamily="18" charset="-127"/>
              <a:ea typeface="경기천년제목 Bold" panose="02020803020101020101" pitchFamily="18" charset="-127"/>
              <a:cs typeface="KoPubWorld돋움체 Bold" panose="00000800000000000000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3C7D5DA-9E30-A35C-384A-368E3B235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F4A3564C-61B8-C23D-8A58-2BDFC3C0594F}"/>
              </a:ext>
            </a:extLst>
          </p:cNvPr>
          <p:cNvGrpSpPr/>
          <p:nvPr/>
        </p:nvGrpSpPr>
        <p:grpSpPr>
          <a:xfrm>
            <a:off x="361144" y="531548"/>
            <a:ext cx="1635639" cy="371258"/>
            <a:chOff x="303023" y="453495"/>
            <a:chExt cx="1357980" cy="305606"/>
          </a:xfrm>
        </p:grpSpPr>
        <p:grpSp>
          <p:nvGrpSpPr>
            <p:cNvPr id="9" name="그룹 1004">
              <a:extLst>
                <a:ext uri="{FF2B5EF4-FFF2-40B4-BE49-F238E27FC236}">
                  <a16:creationId xmlns:a16="http://schemas.microsoft.com/office/drawing/2014/main" id="{6E7012C1-2889-777F-5077-8BBDEF2B9805}"/>
                </a:ext>
              </a:extLst>
            </p:cNvPr>
            <p:cNvGrpSpPr/>
            <p:nvPr/>
          </p:nvGrpSpPr>
          <p:grpSpPr>
            <a:xfrm>
              <a:off x="303023" y="453495"/>
              <a:ext cx="305606" cy="305606"/>
              <a:chOff x="7252263" y="581291"/>
              <a:chExt cx="1251000" cy="1251000"/>
            </a:xfrm>
          </p:grpSpPr>
          <p:pic>
            <p:nvPicPr>
              <p:cNvPr id="12" name="Object 13">
                <a:extLst>
                  <a:ext uri="{FF2B5EF4-FFF2-40B4-BE49-F238E27FC236}">
                    <a16:creationId xmlns:a16="http://schemas.microsoft.com/office/drawing/2014/main" id="{E0BA23DB-DD41-E0E9-8BD7-770B6BCB4C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7252263" y="581291"/>
                <a:ext cx="1251000" cy="1251000"/>
              </a:xfrm>
              <a:prstGeom prst="rect">
                <a:avLst/>
              </a:prstGeom>
            </p:spPr>
          </p:pic>
        </p:grpSp>
        <p:grpSp>
          <p:nvGrpSpPr>
            <p:cNvPr id="10" name="그룹 1007">
              <a:extLst>
                <a:ext uri="{FF2B5EF4-FFF2-40B4-BE49-F238E27FC236}">
                  <a16:creationId xmlns:a16="http://schemas.microsoft.com/office/drawing/2014/main" id="{719BD9D4-EA27-8883-6C3A-3B4D22263CD7}"/>
                </a:ext>
              </a:extLst>
            </p:cNvPr>
            <p:cNvGrpSpPr/>
            <p:nvPr/>
          </p:nvGrpSpPr>
          <p:grpSpPr>
            <a:xfrm>
              <a:off x="681789" y="472805"/>
              <a:ext cx="979214" cy="286296"/>
              <a:chOff x="4978293" y="70686"/>
              <a:chExt cx="1725714" cy="504552"/>
            </a:xfrm>
          </p:grpSpPr>
          <p:pic>
            <p:nvPicPr>
              <p:cNvPr id="11" name="Object 22">
                <a:extLst>
                  <a:ext uri="{FF2B5EF4-FFF2-40B4-BE49-F238E27FC236}">
                    <a16:creationId xmlns:a16="http://schemas.microsoft.com/office/drawing/2014/main" id="{74972B61-1483-C590-C007-CB56962870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4978293" y="70686"/>
                <a:ext cx="1725714" cy="50455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999096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29EAF-E542-DF3A-2695-853BC9C9A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4D0CEF8-B52D-DB8C-1594-BB8B62C1FF5E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9E32A99-2B7A-AE6B-472D-3D3066666C4C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EA155A-6C01-1457-F19B-BA4B053FEFD3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BF75ED-31AA-39A9-DC85-90AE55A9CE1B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정부재정의 기본구조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5D437B-3E14-B500-6DD6-4D4CE1E3EEAF}"/>
              </a:ext>
            </a:extLst>
          </p:cNvPr>
          <p:cNvSpPr txBox="1"/>
          <p:nvPr/>
        </p:nvSpPr>
        <p:spPr>
          <a:xfrm>
            <a:off x="1080000" y="1671816"/>
            <a:ext cx="10800000" cy="3573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정부재정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=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+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기금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=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세입예산과 세출예산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=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일반회계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+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특별회계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국가재정법 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4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 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항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일반회계란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조세수입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등을 주요 세입으로 하여 국가의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일반적인 세출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에 충당하기 위하여 설치한 것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국가재정법 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4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 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2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항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정부재정은 그 전체를 용이하게 파악하기 위하여 모든 세입과 세출을 하나로 통일하여 관리하는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 단일주의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 원칙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93DBDF90-15CA-3CFA-FB7F-44240F89F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AD92805-807F-CB3C-F622-91A50E3D14A7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254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CCA63-9984-773B-F593-C385FAEED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8FBE51A0-1F13-DAD9-5519-82B1FDEE811C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068D3F2-BC0E-BD78-8027-87AA869793EF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E12A7B-AA24-A4E9-690B-FC6CF6F27D1D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7E8FD0-33FC-6458-1968-CB0A32D8CAC5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정부재정의 기본구조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DA73CA02-EAA7-58C5-F0AA-0569A90815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03933172-F39C-3438-2D58-BA92CF376428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7147DC52-85B9-778B-E22F-4DB4CF8AF6B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247" t="31801" r="26783" b="17739"/>
          <a:stretch>
            <a:fillRect/>
          </a:stretch>
        </p:blipFill>
        <p:spPr>
          <a:xfrm>
            <a:off x="2181885" y="1523673"/>
            <a:ext cx="7441949" cy="4240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2830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EE8FD-3770-110B-CB0F-A1E569832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45C872C-E519-521B-87C6-CB840FE87B8E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5C37861-95BB-5F1F-F9FB-D590D1C35474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F721AB-A802-C04B-9240-F2C73A94C1AD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3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EEED60D-251B-3E2E-00EF-ED11444071A9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특별회계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5317470-CC24-CCEF-5BCE-9229BC0ED3BA}"/>
              </a:ext>
            </a:extLst>
          </p:cNvPr>
          <p:cNvSpPr txBox="1"/>
          <p:nvPr/>
        </p:nvSpPr>
        <p:spPr>
          <a:xfrm>
            <a:off x="1080000" y="1671816"/>
            <a:ext cx="10800000" cy="405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특별회계는 특정한 목적을 위한 세입과 세출을 별도로 관리하는 제도임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국가재정법 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4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 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3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항은 ① 국가에서 특정한 사업을 운영하고자 할 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② 특정한 자금을 보유하여 운용하고자 할 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③ 특정한 세입으로 특정한 세출에 충당함으로써 일반회계와 구분하여 회계처리할 필요가 있을 때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법률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로서 설치하도록 규정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특별회계설치 근거 법률은 동법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[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별표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1]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에서 규정하고 있으며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이 법률에 의하지 아니하고는 특별회계를 설치할 수 없음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(e.g.,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지방자치분권 및 지역균형발전에 관한 특별법 → 지역균형발전특별회계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환경정책기본법 → 환경개선특별회계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F1418AA-B0D2-59F1-BE3F-915C3BEA98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2C263530-F6D6-FEE9-DCCF-8A555DCA376C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7265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10010-018D-70E7-A680-6FC72C54D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B5C78BCC-FCA1-ADC6-BEE8-A2E53A14027E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157942B-E58E-019A-BA0C-A2AAA001D95D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F5BFD6-4E8A-A2B8-EF97-5610E07185D3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4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441CCC-E746-DDB3-C942-48B020A623A8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특별회계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54AB15-D890-A164-A6F3-F288292374E5}"/>
              </a:ext>
            </a:extLst>
          </p:cNvPr>
          <p:cNvSpPr txBox="1"/>
          <p:nvPr/>
        </p:nvSpPr>
        <p:spPr>
          <a:xfrm>
            <a:off x="1080000" y="1671816"/>
            <a:ext cx="10800000" cy="405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왜 예산단일주의의 예외로 특별회계를 인정하는가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?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① 단일회계로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계리될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때 특정한 정부사업의 재정수지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(=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수입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-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 분명하게 파악되지 않는 경우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② 특별회계를 담당하는 재정운영 주체의 자율성 증대를 통해 재정운영의 효율성을 높이기 위함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특별회계를 인정하는 경우 예산제도가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복잡해져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정부의 세입과 세출을 용이하게 파악하기 어렵다는 단점 → 특별회계는 어디까지나 보완적인 역할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특별회계를 신설하고자 할 때는 특별회계 신설 계획서를 기재부 장관에게 제출하여 타당성에 대한 심사를 받아야 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국가재정법 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14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8A830F42-88DF-5B1F-B1A8-E996803C65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AC0D7039-40E6-2AC1-2779-76E8CF7FC032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5556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537B5-C07E-529F-C31E-05AF72871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A54D8CB-E793-6A3F-8EB7-48438249BCC6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D18E55B-5713-50CE-8808-F59C78971D55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861FBC-0B05-B030-8E5F-7ED33CE4565D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5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3B2FAD-E5E2-9914-F362-4B7EE50CC806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특별회계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(3)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FE8DC8-670A-1161-CA85-8733D4BC8A6C}"/>
              </a:ext>
            </a:extLst>
          </p:cNvPr>
          <p:cNvSpPr txBox="1"/>
          <p:nvPr/>
        </p:nvSpPr>
        <p:spPr>
          <a:xfrm>
            <a:off x="1080000" y="1671816"/>
            <a:ext cx="10800000" cy="397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특별회계가 ① 설치 목적을 달성한 경우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② 설치 목적의 달성이 불가능하다고 판단되는 경우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③ 특별회계와 기금 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또는 특별회계 및 기금 상호간에 유사하거나 중복되게 설치된 경우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④ 그 밖에 재정운용의 효율성 및 투명성을 높이기 위해 일반회계에서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통합운용하는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것이 바람직하다고 판단되는 경우 특별회계를 폐지하거나 다른 특별회계 또는 기금과 통합할 수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2025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 현재 특별회계는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21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개 운영 중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 기업특별회계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5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양곡관리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우체국예금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우편사업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+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책임운영기관특별회계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개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+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기타특별회계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16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개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D9C6A624-4CC0-0F56-D540-2344F24F70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7BD67A10-E5BE-60AB-39C8-468B694B3974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2531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BB7DF-718F-320F-8B30-DEB0AE017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1F3152A8-F88D-95DD-4417-405BACF48F3A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8A4055E-ECE8-7189-DE32-75BDC893FF0A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9D42B3-1E8A-91C0-A683-3D035026E97C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6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1B8B25D-2A21-64A2-966E-829F02ACECB7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기금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0684FD-B91E-B265-83E6-DEA3A6585BAB}"/>
              </a:ext>
            </a:extLst>
          </p:cNvPr>
          <p:cNvSpPr txBox="1"/>
          <p:nvPr/>
        </p:nvSpPr>
        <p:spPr>
          <a:xfrm>
            <a:off x="1080000" y="1671816"/>
            <a:ext cx="10800000" cy="405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기금은 국가가 특정한 목적을 위해 특정한 자금을 신축적으로 운용할 필요가 있을 때 법률로써 설취하되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정부의 출연금 또는 법률에 따른 민간부담금을 재원으로 하는 기금은 국가재정법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[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별표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2]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에 규정된 법률에 의해서 설치함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국가재정법 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5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 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항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기금은 사업성기금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관광진흥개발기금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국민체육진흥기금 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사회보험성 기금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고용보험기금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공무원연금기금 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계정성기금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공공자금관리기금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복권기금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금융성기금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기술보증기금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무역보험기금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으로 구분할 수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기금은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세입세출예산에 의하지 아니하고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운용할 수 있다고 규정함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동법 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5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 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2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항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0845317-F8EC-D1F5-5844-8A27EA449D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24714158-5CD5-B2DE-C6C0-DD6965941414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66755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5916D-05B4-8401-D809-1E4B59C69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3453B32-C885-834C-C146-274AAC93DFAD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F208E9D-EA58-F46C-DD4A-BF8805F077CF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C0DAA7-F244-027F-7794-DEA3D771E9B4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7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206C2A-F93B-F768-5078-8D48A5E12F18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기금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6E6C79-08CF-1079-D9E5-45AD7C317DE4}"/>
              </a:ext>
            </a:extLst>
          </p:cNvPr>
          <p:cNvSpPr txBox="1"/>
          <p:nvPr/>
        </p:nvSpPr>
        <p:spPr>
          <a:xfrm>
            <a:off x="1080000" y="1671816"/>
            <a:ext cx="10800000" cy="405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기금을 예산외로 운용하는 이유는 특정 분야의 사업에 대해 지속적이고 안정적인 자금 지원이 필요하거나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사업 추진에 탄력적인 집행이 필요한 경우에 대응하기 위함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예를 들어 연금사업의 경우 지출 소요의 변화를 정확하게 추정하기 어렵기 때문에 일단 수립된 기금운용계획의 집행 도중에 수시로 수정해야 함 → 예산으로 하면 매번 추경을 편성해야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하므로 사실상 불가능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기금운용계획안과 기금결산에 대해서는 예산과 마찬가지로 국회의 심의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의결을 받도록 되어있음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국가재정법 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68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70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73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 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05166C11-0F37-718D-232A-DC03CDF246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B1972C7C-E391-3767-5E0A-0B73A3420160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07088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4BFED-BCCB-5D69-791B-728138999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62DE317-9A9D-61E3-95C8-F2120844C570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A001085-CC94-E546-ADC3-9129257CBE03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92BAFB-FBFF-EDA0-B369-3A915C6D5E40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8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205224-07B8-66A7-8F92-C5A9F98F1599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기금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(3)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AD38B27A-EC3F-FE97-0DF4-47AC2D29FA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CB55F491-FF12-DCC8-77B5-4324DDA15011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2CC396-BD76-B2BA-BEBA-8CF8ADC327E3}"/>
              </a:ext>
            </a:extLst>
          </p:cNvPr>
          <p:cNvSpPr txBox="1"/>
          <p:nvPr/>
        </p:nvSpPr>
        <p:spPr>
          <a:xfrm>
            <a:off x="1080000" y="1671816"/>
            <a:ext cx="10800000" cy="405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기금과 예산의 차이는 예산은 회계연도 내 모두 지출하여야 하는 반면 기금은 조성된 자금을 계속 적립해 나간다는 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특정 수입과 지출의 연계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기금운용의 탄력성 등임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기금은 주요항목 지출금액의 범위 안에서 예측할 수 없는 소요나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긴급한 소요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기존사업을 보완하는 경우 세부 항목 지출 금액을 변경할 수 있음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20~30%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범위 안에서는 국회에 제출하지 않고 변경해서 집행 가능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금융성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기금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30%,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비금융성기금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20%)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이를 초과하는 경우에는 기재부 장관의 협의 조정을 마련한 변경안을 국무회의 심의를 거쳐 대통령 승인을 얻은 후 국회에 제출해야 함</a:t>
            </a:r>
          </a:p>
        </p:txBody>
      </p:sp>
    </p:spTree>
    <p:extLst>
      <p:ext uri="{BB962C8B-B14F-4D97-AF65-F5344CB8AC3E}">
        <p14:creationId xmlns:p14="http://schemas.microsoft.com/office/powerpoint/2010/main" val="12524790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AEF50-55CE-3546-655E-E9EA03C54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C067E2F0-5536-201C-B529-609BA55204BC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4529A68-A5D6-7D92-4CBF-E5D29C02E162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90C0C1-7346-CCC0-AD6D-05B17EB85283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9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D3411A-536C-AF47-3439-C156FC2FDA90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기금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(4)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3466F09D-DAD0-DF24-760C-E8522E51B5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EE2B3B1C-3F27-F6C6-F877-177EACE1974E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DFB036E-1C1A-1D9F-074A-1CE34F8F6877}"/>
              </a:ext>
            </a:extLst>
          </p:cNvPr>
          <p:cNvSpPr txBox="1"/>
          <p:nvPr/>
        </p:nvSpPr>
        <p:spPr>
          <a:xfrm>
            <a:off x="1080000" y="1671816"/>
            <a:ext cx="10800000" cy="4127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기금의 신설과 폐지는 특별회계와 유사한 절차를 거쳐서 이루어짐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기금의 운용은 당해 연도의 수입과 지출로 구성되는 기금운용계획에 따라 운용되는데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기금의 총수입과 총지출은 일치하여야 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기금의 조달방법은 기금의 근거 법률에 따라 달라지는데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일반적으로 정부출연금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민간부담금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차입금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운용수입 등이 주된 재원임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기재부 장관은 회계연도마다 전체 기금 중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1/3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이상의 기금에 대한 운용실태를 조사해 평가해야 하며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매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3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 마다 전체 재정 체계를 고려해 기금의 존치 여부를 평가해야 함</a:t>
            </a:r>
          </a:p>
        </p:txBody>
      </p:sp>
    </p:spTree>
    <p:extLst>
      <p:ext uri="{BB962C8B-B14F-4D97-AF65-F5344CB8AC3E}">
        <p14:creationId xmlns:p14="http://schemas.microsoft.com/office/powerpoint/2010/main" val="27451945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33F19-C899-7500-3EF3-2A8EA1D5B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F8A1B6B-1C3A-E99D-3C2C-88E489866B70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B84A2DB-CDC1-21B0-B606-B14764067983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97567E-0361-DDAB-F5E9-163DB7967D43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10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3F11E4-8149-15B3-DAAC-B7A330655A28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세입예산과 세출예산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317A3E9A-67F2-5475-D81E-B0B923A3EB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D128A3C5-FF61-E20B-50A9-E8D4C092A30D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28BEA54-EC98-8E02-4BDA-83EE9D035603}"/>
              </a:ext>
            </a:extLst>
          </p:cNvPr>
          <p:cNvSpPr txBox="1"/>
          <p:nvPr/>
        </p:nvSpPr>
        <p:spPr>
          <a:xfrm>
            <a:off x="1080000" y="1671816"/>
            <a:ext cx="10800000" cy="4127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세입예산과 세출예산은 동전의 양면과 같음 → 세입예산은 정부재정의 동원방법을 나타내며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세출예산은 정부가 국가의 기능을 수행하는데 필요한 재원의 지출 용도를 나타냄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세입예산과 세출예산의 총 규모는 동일하지만 그 효력은 서로 차이가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세입예산의 수치는 경제적 여건을 고려한 수입의 추정치에 불과함 → 구속력을 갖지 않으며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임의적 성격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세입으로 예상한 금액과 실제 세입이 다른 경우는 그냥 오차로 받아들임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조세의 부과 및 변경은 반드시 법률에 근거해야 하지만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이러한 원칙은 추정된 세입금액과는 무관함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과소분을 더 걷지도 않고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과다분을 돌려주지도 않음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549826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06066-C56F-488A-D456-72B1A291F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81F508E4-6E38-0757-E284-93373C545FDB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1F11527-DB36-7900-B40A-10E865976039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0A398A-8F63-26A5-298D-462BCF2EB9F1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11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283690-07D6-2908-95A0-1E26948EA55A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세입예산과 세출예산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C9A884AA-C944-DAA4-B0EB-1EBB26CB27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B4B0EAB7-8D8A-72F8-19FD-D4407E193EF2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EA247DD-4C6E-86A2-A951-0688BBD6F9A3}"/>
              </a:ext>
            </a:extLst>
          </p:cNvPr>
          <p:cNvSpPr txBox="1"/>
          <p:nvPr/>
        </p:nvSpPr>
        <p:spPr>
          <a:xfrm>
            <a:off x="1080000" y="1671816"/>
            <a:ext cx="10800000" cy="4127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반면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세출예산의 수치는 국회의 심의를 거쳐 확정된 것으로 구속력을 가짐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강제적 성격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).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따라서 세출예산은 입법부에서 지출 권한을 부여한 지출 한도액이라고 할 수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세출예산은 예산과목에 의해 지출 목적이 정해진 경우 이것 이외의 목적을 위해 지출할 수 없음 →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목적 외 사용 금지의 원칙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’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세출예산에 계상된 금액을 초과해서 지출할 수 없음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과소지출은 가능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→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초과 지출 금지의 원칙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’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매 회계연도에 책정된 세출예산은 다음 연도에 사용 불가 →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회계연도 독립의 원칙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’</a:t>
            </a:r>
          </a:p>
        </p:txBody>
      </p:sp>
    </p:spTree>
    <p:extLst>
      <p:ext uri="{BB962C8B-B14F-4D97-AF65-F5344CB8AC3E}">
        <p14:creationId xmlns:p14="http://schemas.microsoft.com/office/powerpoint/2010/main" val="20813693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7B19B-A27D-A2FA-7386-AA3FCCAAA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1F9E18A-D52B-9838-4C63-213683454943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668435F-06A1-BE4A-7D54-E8F36CC423D4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20F774-EA0F-940E-298D-BAAEFF32A0A8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12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10BD6CB-B771-CB78-8042-1BCBD4D0D684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세입예산과 세출예산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(3)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A801B90A-3877-6091-7521-ACD334A7B3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F40A9133-D3B3-CB8A-2280-388362E07CDE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0077D85-6F9F-2851-5590-118DA06B85A4}"/>
              </a:ext>
            </a:extLst>
          </p:cNvPr>
          <p:cNvSpPr txBox="1"/>
          <p:nvPr/>
        </p:nvSpPr>
        <p:spPr>
          <a:xfrm>
            <a:off x="1080000" y="1671816"/>
            <a:ext cx="10800000" cy="1689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세출예산은 목적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금액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시기 면에서 구속력을 갖지만 실제 예산 집행과정에서는 신축성을 유지하기 위해서 여러가지 예외적인 제도적 장치를 마련하고 있음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(e.g.,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/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/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변경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/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</p:txBody>
      </p:sp>
      <p:pic>
        <p:nvPicPr>
          <p:cNvPr id="1026" name="Picture 2" descr="예산의 이용&#10;예산의 전용 변경사용이체구분&#10;">
            <a:extLst>
              <a:ext uri="{FF2B5EF4-FFF2-40B4-BE49-F238E27FC236}">
                <a16:creationId xmlns:a16="http://schemas.microsoft.com/office/drawing/2014/main" id="{98879A0A-CF36-7D1E-5EF2-77913B071C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0471" y="3696554"/>
            <a:ext cx="7495211" cy="1838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20492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C8635D4-D3E2-C1C1-2DF9-711C09D1EC0A}"/>
              </a:ext>
            </a:extLst>
          </p:cNvPr>
          <p:cNvCxnSpPr>
            <a:cxnSpLocks/>
          </p:cNvCxnSpPr>
          <p:nvPr/>
        </p:nvCxnSpPr>
        <p:spPr>
          <a:xfrm>
            <a:off x="2152783" y="717177"/>
            <a:ext cx="9727217" cy="2823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DE01540-6402-0BA0-5B48-1A12659FE302}"/>
              </a:ext>
            </a:extLst>
          </p:cNvPr>
          <p:cNvSpPr txBox="1"/>
          <p:nvPr/>
        </p:nvSpPr>
        <p:spPr>
          <a:xfrm>
            <a:off x="4874350" y="3075057"/>
            <a:ext cx="2443298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rtlCol="0">
            <a:spAutoFit/>
          </a:bodyPr>
          <a:lstStyle/>
          <a:p>
            <a:pPr algn="dist"/>
            <a:r>
              <a:rPr lang="ko-KR" altLang="en-US" sz="40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감사합니다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89A27F3-6396-4A24-947F-2EDC13EB62AA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3755EA48-AAC8-8D9F-CFA6-5208CD71E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C8A388A4-7040-6B9A-9AE1-834C88364A48}"/>
              </a:ext>
            </a:extLst>
          </p:cNvPr>
          <p:cNvGrpSpPr/>
          <p:nvPr/>
        </p:nvGrpSpPr>
        <p:grpSpPr>
          <a:xfrm>
            <a:off x="361144" y="531548"/>
            <a:ext cx="1635639" cy="371258"/>
            <a:chOff x="303023" y="453495"/>
            <a:chExt cx="1357980" cy="305606"/>
          </a:xfrm>
        </p:grpSpPr>
        <p:grpSp>
          <p:nvGrpSpPr>
            <p:cNvPr id="9" name="그룹 1004">
              <a:extLst>
                <a:ext uri="{FF2B5EF4-FFF2-40B4-BE49-F238E27FC236}">
                  <a16:creationId xmlns:a16="http://schemas.microsoft.com/office/drawing/2014/main" id="{C2047555-F6C8-2082-96FB-974FF14E9C11}"/>
                </a:ext>
              </a:extLst>
            </p:cNvPr>
            <p:cNvGrpSpPr/>
            <p:nvPr/>
          </p:nvGrpSpPr>
          <p:grpSpPr>
            <a:xfrm>
              <a:off x="303023" y="453495"/>
              <a:ext cx="305606" cy="305606"/>
              <a:chOff x="7252263" y="581291"/>
              <a:chExt cx="1251000" cy="1251000"/>
            </a:xfrm>
          </p:grpSpPr>
          <p:pic>
            <p:nvPicPr>
              <p:cNvPr id="12" name="Object 13">
                <a:extLst>
                  <a:ext uri="{FF2B5EF4-FFF2-40B4-BE49-F238E27FC236}">
                    <a16:creationId xmlns:a16="http://schemas.microsoft.com/office/drawing/2014/main" id="{A816CA28-ED33-29B0-8851-0B9BAB3111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7252263" y="581291"/>
                <a:ext cx="1251000" cy="1251000"/>
              </a:xfrm>
              <a:prstGeom prst="rect">
                <a:avLst/>
              </a:prstGeom>
            </p:spPr>
          </p:pic>
        </p:grpSp>
        <p:grpSp>
          <p:nvGrpSpPr>
            <p:cNvPr id="10" name="그룹 1007">
              <a:extLst>
                <a:ext uri="{FF2B5EF4-FFF2-40B4-BE49-F238E27FC236}">
                  <a16:creationId xmlns:a16="http://schemas.microsoft.com/office/drawing/2014/main" id="{E80146EE-C903-87DE-0B04-EFB7BD1B165A}"/>
                </a:ext>
              </a:extLst>
            </p:cNvPr>
            <p:cNvGrpSpPr/>
            <p:nvPr/>
          </p:nvGrpSpPr>
          <p:grpSpPr>
            <a:xfrm>
              <a:off x="681789" y="472805"/>
              <a:ext cx="979214" cy="286296"/>
              <a:chOff x="4978293" y="70686"/>
              <a:chExt cx="1725714" cy="504552"/>
            </a:xfrm>
          </p:grpSpPr>
          <p:pic>
            <p:nvPicPr>
              <p:cNvPr id="11" name="Object 22">
                <a:extLst>
                  <a:ext uri="{FF2B5EF4-FFF2-40B4-BE49-F238E27FC236}">
                    <a16:creationId xmlns:a16="http://schemas.microsoft.com/office/drawing/2014/main" id="{2EBFA3EB-50D2-8153-CCB7-97A94AEAF1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978293" y="70686"/>
                <a:ext cx="1725714" cy="504552"/>
              </a:xfrm>
              <a:prstGeom prst="rect">
                <a:avLst/>
              </a:prstGeom>
            </p:spPr>
          </p:pic>
        </p:grpSp>
      </p:grp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948503B-7E35-726A-03B0-63A0FC981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0505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617</TotalTime>
  <Words>915</Words>
  <Application>Microsoft Office PowerPoint</Application>
  <PresentationFormat>와이드스크린</PresentationFormat>
  <Paragraphs>74</Paragraphs>
  <Slides>14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0" baseType="lpstr">
      <vt:lpstr>경기천년제목 Bold</vt:lpstr>
      <vt:lpstr>경기천년제목 Light</vt:lpstr>
      <vt:lpstr>맑은 고딕</vt:lpstr>
      <vt:lpstr>이사만루체 Bold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KKD</dc:creator>
  <cp:lastModifiedBy>KKD</cp:lastModifiedBy>
  <cp:revision>192</cp:revision>
  <dcterms:created xsi:type="dcterms:W3CDTF">2025-03-10T02:54:00Z</dcterms:created>
  <dcterms:modified xsi:type="dcterms:W3CDTF">2025-09-09T08:52:00Z</dcterms:modified>
</cp:coreProperties>
</file>