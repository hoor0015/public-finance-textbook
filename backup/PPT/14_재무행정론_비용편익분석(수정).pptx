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89" r:id="rId3"/>
    <p:sldId id="443" r:id="rId4"/>
    <p:sldId id="444" r:id="rId5"/>
    <p:sldId id="445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4" r:id="rId15"/>
    <p:sldId id="455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5" r:id="rId25"/>
    <p:sldId id="464" r:id="rId26"/>
    <p:sldId id="466" r:id="rId27"/>
    <p:sldId id="467" r:id="rId28"/>
    <p:sldId id="468" r:id="rId29"/>
    <p:sldId id="469" r:id="rId30"/>
    <p:sldId id="470" r:id="rId31"/>
    <p:sldId id="471" r:id="rId32"/>
    <p:sldId id="472" r:id="rId33"/>
    <p:sldId id="25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6" autoAdjust="0"/>
    <p:restoredTop sz="94737"/>
  </p:normalViewPr>
  <p:slideViewPr>
    <p:cSldViewPr snapToGrid="0">
      <p:cViewPr varScale="1">
        <p:scale>
          <a:sx n="106" d="100"/>
          <a:sy n="106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31CF-4914-81DD-2107-FC520ABC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56A031-2DC6-BBF8-E0EE-2F2AE04B6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F1DC1-9434-77B6-18DD-59C2FA38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2F20D0-D1CF-330D-1A9C-566E3947E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816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00EEF-6AB0-0177-5700-DAC48A3A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94239-1DA4-CD2A-4529-98A02B98F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E70894-7A28-41B0-CDBD-F2846AD38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BB20C-5DF9-6105-AD25-23806FC1B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6971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D9E5-8A45-0CC8-3CDE-7D3E8F3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895130-81ED-30CC-A55E-7E1E20BAF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478BF1-F5C9-4574-AD48-717CD6EFA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2C796-26F5-23F3-E1E4-6DAF13B6A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572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1871-6CF8-8A76-5021-AAD470CD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199FBC-2015-2A4C-DD92-DBC3B62B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EF2972-AC7C-8A2C-5075-B0FBD0EA8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3F42EF-F2DE-E38A-8C9D-E1A39609F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35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3096-B816-D039-0238-ACEE57D37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8FBCF-0EA4-E4CC-5F58-1B8BD3224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7D301D-FDC1-BA86-888B-9ED5C2F45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91F935-120F-5276-ABA6-62A2FC89E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362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85DF-796E-4F31-55DE-B1E2F6A0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BB3AF6-1F0B-5070-7EBE-C8F798384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806B3E-4006-26A7-9567-5535C79C2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70036-9961-2FA1-8CD1-8641F15CA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798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BF9A6-1CCC-D194-CA43-B836688F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313ED7-7302-F69A-393E-115F10C87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334C9-9829-34A8-2523-4EB97F758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B99CB-021C-5E47-5650-78F39863C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421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B9B77-15E8-94B6-1C76-1F2A9215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72F483-6F18-DE08-83AE-C33852EFC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5D6D2D-CBC5-D29C-9800-F9C64160F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CED0B-8106-E9A6-DA82-D667F86C7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538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65B1E-898E-0956-9FC9-CEB64E712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0E26E-3B6B-5188-30E7-69CA298DB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1FB03F-AD9F-A7AC-D130-DB42E950D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03206-43CC-74D7-382A-148FE8337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66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F4D4-83F9-995D-AB33-A488CFB0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796429-DD43-AFAA-68E6-F41F22AF2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E12D0B-F354-2698-1584-F946706BD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A12321-E456-88D0-1F10-BEC5ECEC9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645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4C06-B10B-25F5-2B9D-CE7DED43B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CEB510-EE52-8F19-C3D3-01BD9F2A1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75F1C-7AE7-9904-CC70-5610DF2A8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A89540-034C-AED7-D343-3BD58D3C6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800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5916-C3C7-A94E-C0BB-C69AC37A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7F1360-80D5-EE77-98AD-21A1E99DD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BA3D61-90EC-C892-C0BE-E25456024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AB7A52-68D2-2873-6458-1921B2305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38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09B5-4EC2-1A9B-00BC-3B6D908E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6840D-DA11-DBE4-388E-F6CA2BE21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8EDFB0-95B1-757F-C5AD-EE542E6F2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CED7D8-DF36-8564-CF36-5CCA5B840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906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C0709-A1A2-3DA4-FAC1-1295E801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F61FF-EEB1-73C0-5B99-DACFE85FE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9587C0-E13B-BA06-9D86-7C5952137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83C536-43BE-F0BB-DDD5-653BF85D0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595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0DCC-669D-30AA-1FC9-60E34ED4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F27876-1F5A-276C-2EED-BA6F7844D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9C8F4-73D1-79DC-0B9B-4B4354CE6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FF980D-2FF0-62D7-2972-615B4A7C7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182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2284-76D9-10AE-636F-A695CD08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84C81-772B-7CC6-5EA0-43F935DC5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9412E3-8E29-6625-AB88-F2AC628A3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85D774-A9CB-7829-654F-3F19F09E9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145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0ED3F-1742-3672-40E9-09B14FE5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2DD42D-56F8-65A4-4E9B-284141E39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793C5A-AAC2-8CF4-AB2D-D97222F2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3276D0-E344-3B41-798D-354FF1883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642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3BA4-0FAC-4FC3-FFEF-11CC86DB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5B3CA3-3EB0-D5A6-139E-49348C2A4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4C7DFF-9D89-7430-519E-F1A86C4C7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3F4C3-998E-6F55-F2E0-3E5B80523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370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E306-2629-EABD-88E8-62ED134A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53D290-585D-C731-0B77-B948407A5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A52A0D-67C4-7440-42CF-93968EAB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D3EE95-887B-4883-5F2F-DB75AC1DA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011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D860-F73A-AAE3-E8AA-4D3ACD5C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5B7AC7-CF12-FCD5-D4D8-F25733E3A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45B674-060F-B4E7-7726-B429DB269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BFD6A-08D6-399A-E4FD-2E851AC94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496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49C8-4CF5-2CC4-31B8-43D060A8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2E3DBE-1F7F-FB73-11AF-9DCD410BE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83516A-7477-32F9-0EA0-64434220A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7B7322-DEE1-675A-E604-DC9AF2F2A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325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8051-8721-884C-E0CE-02DBE0D2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0BCE56-EB36-3AD6-3098-ED5AB2A0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3AB1D6-8CF4-0673-B42D-35FF6014A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583B1-3963-44D4-AA3C-8D1FD874B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617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2CB4-740D-AC6E-C000-A1CC769F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8C83E-8FED-4DDA-F18F-7E78C777B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7DF605-7D99-EF6E-4EBF-98D4D958B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30505-409B-80F5-E366-432BBFA79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407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D9C86-C02B-B3D2-EBA4-0279D684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0522FB-48A3-2075-0C9F-2D330199E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BF0C04-1FF9-8DA5-E988-7FDD8E8B1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B4B61-0E25-E374-7A8D-7E9AE9FD4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16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07CB-CCB0-16FB-4014-1EF724B3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88D1A7-C142-094A-93C6-999D80CC8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B2099B-C8BA-D4CB-FCE4-88AB71C52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D601B-BBB0-293B-976B-98540BE51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958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F7E8-CA67-799E-21A1-C02D3783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EC07EA-4D8B-F437-4ABD-1617A870B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4C5188-C17C-1DCF-0071-A44FCA63B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F620B7-36D8-4A42-C553-C6773B1BD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6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8753-8F68-6D6B-735E-B02F152D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B11D5E-9C08-0689-0398-161EF6DD8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03C06-D7F4-AE64-417C-D750D653B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724C3E-E7B6-F0D1-88E5-E2E642D96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5668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593A-5741-129A-8FF2-041BDF998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A3A7B-A7F5-783F-21FA-B0B844275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B679D1-4CDA-1401-E86C-9E9890646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56725B-6434-3D5D-B750-964BAF1F6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637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950C-6B55-21B3-BB2F-8DFE5C01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7CEB6C-1730-24EF-B7F5-844F9653B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381845-D682-FAAB-C1A5-0055E764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3A59C5-E78F-D329-902B-2BC7EAAC2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93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사업분석의 의의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예산결정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=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사업에 대한 결정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금액에 대한 결정 → 예산을 편성하기 위해서는 먼저 사업에 대한 분석을 통해 어떤 사업을 추진할지를 결정해야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선택문제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예산의 경제논리를 구현하는 가장 핵심적인 방법으로 비용과 편익을 기준으로 대안을 체계적으로 검토해 의사결정자에게 선택이 갖는 의미를 분명히 밝혀주는 것을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사업은 정책의 하위 개념으로 이해할 수 있으므로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수단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계층제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),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 사업분석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(program 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은 정책분석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(policy 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의 하위개념으로 볼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9A96-ABDE-C7C2-B855-AA1BE6F4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83176A-7BF9-C6A6-72F4-05D499C4E59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15B08A-DC04-97D5-5747-FB1854DE86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A4944-2E24-A415-19D1-F2460AC5DB4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1C8F05-47C3-28BA-0F7A-2CB8A401B34F}"/>
              </a:ext>
            </a:extLst>
          </p:cNvPr>
          <p:cNvSpPr txBox="1"/>
          <p:nvPr/>
        </p:nvSpPr>
        <p:spPr>
          <a:xfrm>
            <a:off x="1235998" y="757300"/>
            <a:ext cx="8522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사업분석의 의의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61BC7-D237-2E67-6325-511482165883}"/>
              </a:ext>
            </a:extLst>
          </p:cNvPr>
          <p:cNvSpPr txBox="1"/>
          <p:nvPr/>
        </p:nvSpPr>
        <p:spPr>
          <a:xfrm>
            <a:off x="1080000" y="1671816"/>
            <a:ext cx="10800000" cy="362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무엇을 위해 얼마만큼의 비용을 투입할 가치가 있는가를 결정하는 것 → 자원배분 문제의 핵심은 특정 사업의 경제적 타당성 또는 사업 간 우선순위를 결정하는 분석적 활동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사업분석은 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사업에 소요되는 투입과 사업의 성과 간의 인과관계를 가정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Lynch(1985)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는 이러한 인과관계 가정이 타당한지를 살펴보는 것이 예산분석의 핵심이라고 이를 사업영향이론이라고 부르기도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투입과 성과 간 인과관계를 가정하고 대안 간 비교를 수행하는 방법으로 체제분석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운영연구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비용편익분석 등이 존재 →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비용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-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편익 분석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sym typeface="Wingdings" pitchFamily="2" charset="2"/>
              </a:rPr>
              <a:t>이 가장 널리 활용되는 방법임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  <a:sym typeface="Wingdings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EA1842-9DDB-18D1-6A6C-6AD4CFEF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7FB29B6-ACE0-B3FE-8FDE-3AAA5C365A3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1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10267-6AEE-6CA5-94A4-56CBE6C0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D81EA9-E1CE-D368-FF8F-AEED1386788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75E608-A37E-C30E-9CE3-0E45D0E3731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6D04-A310-9070-7462-CCE3A08BACB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166C4-EFA7-A229-A77C-B0AF9036099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의의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DF8AAFC-2B78-69E7-3F93-AB026DC12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33C009E-C3FC-BA5B-E76A-72396CA5D57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FB5F0D0-BF50-3FB0-3085-BDCEB70F346C}"/>
              </a:ext>
            </a:extLst>
          </p:cNvPr>
          <p:cNvSpPr txBox="1"/>
          <p:nvPr/>
        </p:nvSpPr>
        <p:spPr>
          <a:xfrm>
            <a:off x="1080000" y="1671816"/>
            <a:ext cx="108000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(cost-benefit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analysis)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특정 선택 문제를 체계적으로 검토하기 위한 하나의 개념 틀이며 경제적 분석 방법임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의사결정자가 결정 결과를 더 잘 이해할 수 있도록 일련의 대안들의 비용과 편익을 각각 검토하는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(McKenna, 1980)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분석은 장기적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 수명의 전 기간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이고 넓은 안목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간접적이고 무형적인 것도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평가하는 분석도구임 → 예산과정에서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편익분석은 사업의 타당성과 우선순위를 식별하는 분석도구임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(PPBS)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영기준예산제도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(ZBB)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편익분석은 더욱 핵심적인 역할을 담당함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344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8631-97D9-A57D-01DE-D11B5BAA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A521B13-060C-5076-8509-F52DF22DFB0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6BCA97-7E55-1298-873E-F4F3EC7C6B5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56F8E-BA4C-9F28-ED07-7B041F62849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66C669-8FA4-757B-DCFD-8E6437AFACA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특징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383F6A0-BD1C-CD4E-F73D-F4448B861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1ACB13E-A20C-E4E5-C739-EFF20451098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C7830B-FAC4-93F2-E1CD-74095BD06CD9}"/>
              </a:ext>
            </a:extLst>
          </p:cNvPr>
          <p:cNvSpPr txBox="1"/>
          <p:nvPr/>
        </p:nvSpPr>
        <p:spPr>
          <a:xfrm>
            <a:off x="1080000" y="1671816"/>
            <a:ext cx="10800000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개별 투자사업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(project)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평가하는 경제적 분석의 한 분야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넓은 의미로는 프로그램이나 정책을 평가하는 것을 포함하지만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주로 개별 사업 단위에 대한 평가를 의미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 차원의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재무적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분석과 달리 사회적 관점 또는 국민 경제 전체의 관점에서 비용과 편익을 파악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 경제 관점이란 특정 사업의 국민 생산에 대한 공헌을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비용은 국가 자원의 낭비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셋째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공공사업의 추진 및 운영 과정에서 발생하는 모든 비용과 편익을 장기적 시각에서 종합적으로 평가함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관점에서 시간은 그 기간이 훨씬 길기 때문에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할인율의 선택이나 위험에 대한 대응도 장기적 관점에서 수행되어야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602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C468-3012-3A85-EBFF-3D44C6D4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6FF811-4A50-7E95-8268-B5951B4E42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87"/>
          <a:stretch>
            <a:fillRect/>
          </a:stretch>
        </p:blipFill>
        <p:spPr>
          <a:xfrm>
            <a:off x="6717444" y="1490440"/>
            <a:ext cx="5162556" cy="3585172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704E0CA-202A-BDBE-4C8F-C4E335277FC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AE5A00-AE0D-EB7F-FD31-CB7A0C3272B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9F9D43-27E3-99A4-D349-025DAAB4C38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E8A85C-E15A-6F01-E656-90404B6E901E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과정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5ECD165-7F26-AA88-1CF7-F6CC53505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FB66F93-128A-CD00-E8BD-884D4226990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3C6176-12DD-B41D-2329-F48047CCD22E}"/>
              </a:ext>
            </a:extLst>
          </p:cNvPr>
          <p:cNvSpPr txBox="1"/>
          <p:nvPr/>
        </p:nvSpPr>
        <p:spPr>
          <a:xfrm>
            <a:off x="1080000" y="1671816"/>
            <a:ext cx="5637444" cy="322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사업이 의도하고 있는 바람직한 효과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가능한 자원의 이용과 접근 방법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편익과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편익은 사회후생이 향상되는 결과이며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비용은 거기에 소비된 자원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대안의 특성과 결과와의 관계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대안선택의 기준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565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4C91-6573-282A-1662-4C17B621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F14B224-307F-B941-80E4-E24B3756935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356AF6-C0B2-7E15-D02C-C90BF95B6E1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E7A8B-78F9-7535-B65D-FE038D8C5B5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6202D-0135-DE09-45A8-1A72688CD52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추정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5A5119C-BA08-EF41-7999-913C24AA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5A00A1-8E9F-7562-76B4-8F390FB31C1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0FE8A8-B50C-1BDB-CA6E-8B8354B895A5}"/>
              </a:ext>
            </a:extLst>
          </p:cNvPr>
          <p:cNvSpPr txBox="1"/>
          <p:nvPr/>
        </p:nvSpPr>
        <p:spPr>
          <a:xfrm>
            <a:off x="1080000" y="1671816"/>
            <a:ext cx="10291152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비용과 편익의 측정과 관련해서는 그 유형을 구분할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실질적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금전적 비용과 편익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실질적 편익은 사회후생의 증가를 통해 공공사업의 최종 소비자가 실제로 얻는 혜택을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실질적 비용은 자원의 기회비용을 의미함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반면 금전적 비용과 편익은 공공사업에 의해 발생한 화폐적 가격의 변화 때문에 발생한 비용과 편익을 의미함 →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 분석에서는 실질적 비용과 편익만 고려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건설로 인해 주위의 토지가 개발되어 생산성 증대 → 실질적 편익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건설로 인해 투기 심리가 자극되어 주위 땅값이 상승 → 금전적 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편익은 타 지역의 수입 감소를 유발하므로 사회 전체의 이득이 되지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090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8219-C7E3-E15F-96A7-CD28B227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9437F12-279C-4C6E-23FD-36758E438DA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A68AF0-122B-C1CE-65AA-140EF836FF6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A02BD-2DD1-60F6-B729-F9CE988F6F0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295AC2-F079-975D-3420-FE525791CE36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추정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ACCD09-9DF6-0CEB-B340-7F4867207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F934350-6A45-C699-7520-4DFDFF6F30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D916EB4-2A59-2DC2-9FC2-769E2C2717E6}"/>
              </a:ext>
            </a:extLst>
          </p:cNvPr>
          <p:cNvSpPr txBox="1"/>
          <p:nvPr/>
        </p:nvSpPr>
        <p:spPr>
          <a:xfrm>
            <a:off x="1080000" y="1671816"/>
            <a:ext cx="10291152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내부적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외부적 비용과 편익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내부적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편익은 공공사업 그 자체에 의해 내부적으로 발생하는 비용과 편익을 의미함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반면 외부적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편익은 외부효과를 통해 간접적으로 발생하는 비용과 편익을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수력발전소 건설 → 전기 발전량 증가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내부적 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댐건설로 인한 홍수 방지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식수 공급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외부적 편익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외부적 편익은 금전적 편익과 다르게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편익분석에서 고려되어야 한다고 보는 것이 일반적 → 이는 투입과 효과 간의 인과관계가 있는지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해당 효과를 투입의 효과로 귀속시킬 수 있는지가 핵심 기준임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21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8BAA-0381-D3DD-01E7-64926A88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575C230-39AE-3BA0-5250-9FEA15B17C0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281A894-75B4-470C-D0E0-279EE20C205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FDB17-364A-94B5-78F8-7D879048599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6EE98-08EA-D697-C306-1239EBADB5F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추정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9407B8F-247A-CB33-3CAF-7C7B487E4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D8A4DE-C6B7-FA36-6805-6D2A58EF0D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CCFCCE4-24AC-5F05-8D2F-9CB1B916A342}"/>
              </a:ext>
            </a:extLst>
          </p:cNvPr>
          <p:cNvSpPr txBox="1"/>
          <p:nvPr/>
        </p:nvSpPr>
        <p:spPr>
          <a:xfrm>
            <a:off x="1080000" y="1671816"/>
            <a:ext cx="102911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직접적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간접적 비용과 편익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직접적 비용과 편익은 공공사업의 일차적인 목적과 관련된 것을 말하며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간접적 비용과 편익은 이차적인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부산물의 성격을 갖는 것을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양자간 구분은 항상 명확한 것은 아니지만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간접적 편익과 비용도 반드시 고려해야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유형적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vs.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무형적 비용과 편익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유형적 비용과 편익은 시장에서 평가 가능한 가시적인 것을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무형적 비용과 편익은 시장에서 평가할 수 없는 것으로서 대부분의 외부적 편익과 비용이 이에 해당함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무형적 비용과 편익도 측정방법을 개발하여 분석에 포함하는 것이 바람직함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98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024B-3E83-710D-3A3D-3C4240A8F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D4A73B7-1F40-C2C3-A8B2-48EF4281FFF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88FA33-32FC-697E-67AF-B4344D0CA65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AA354-3507-E0DD-CC83-20D17BD5D0A2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6486F-E56C-14A5-CDA0-F90D4520892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추정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CCC19F9-5F65-EE6F-02D0-0B04C2CB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01DCA8-5ACD-29FB-ED8F-5934B9749D6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B65BF815-4AE9-BE0D-7055-D32054A04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855" y="1414350"/>
            <a:ext cx="6544228" cy="45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0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2B8E-BE15-731B-96E1-C254018F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102C44D-774A-CCBE-7054-E799E85D6BE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CBDBB7-436C-CB1B-B2E2-424C7D4A07E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4267F5-5826-819D-2C0B-120E187FC206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48B54-D588-BF83-7A9C-B3503CBA290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B143847-F8FF-D98D-B769-C09771F96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AD2E77F-79F8-55BA-87D8-BD7AD9A6723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1962EC9-E21D-A202-1892-C69815958A85}"/>
              </a:ext>
            </a:extLst>
          </p:cNvPr>
          <p:cNvSpPr txBox="1"/>
          <p:nvPr/>
        </p:nvSpPr>
        <p:spPr>
          <a:xfrm>
            <a:off x="1080000" y="1671816"/>
            <a:ext cx="102911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잠재가격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편익분석에서 비용과 편익을 측정할 때 적용할 시장이 완전경쟁시장이라면 시장가격을 활용해 측정하면 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완전경쟁시장에서의 시장가격은 자원의 기회비용을 의미함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상품시장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뿐만 아니라 외환시장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노동시장에서도 동일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독과점시장에서 시장가격은 진정한 사회 가치를 반영하지 못한 가격임 → 독점시장에서의 가격은 시장가격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독과점 이윤이 더해진 가격이기 때문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따라서 조정된 가격을 활용해야 하는데 이러한 조정가격을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잠재가격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이라고 부름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잠재가격은 시장에서 관찰되지 않기 때문에 잠재가격을 측정하기 위한 다양한 방법들이 개발되어 활용되고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272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88EC8-8E75-E295-32B8-A5507DFBC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D74EFB4-E212-30BD-5267-E2D2BF0DEB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8F6788-24FA-FC47-1150-E4F4AE611C6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620D22-7D0B-3E5C-2203-1DE990547D20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103D40-148A-E08D-29F8-4D5848CC388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53BD483-4B56-6322-E31C-C5EA0D482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7906606-FEFD-D18D-B07B-ED63D724503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32981BD-918A-4325-31DC-DB62EC32949F}"/>
              </a:ext>
            </a:extLst>
          </p:cNvPr>
          <p:cNvSpPr txBox="1"/>
          <p:nvPr/>
        </p:nvSpPr>
        <p:spPr>
          <a:xfrm>
            <a:off x="1080000" y="1671816"/>
            <a:ext cx="1029115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헤도닉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가격법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(Hedonic Pricing;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드러난 선호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RP)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임금 등의 관측 가격을 품질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속성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벡터로 분해하여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속성별 한계가격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(∂P/∂z)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회귀분석으로 추정해 잠재가격을 식별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(Rosen, 1974)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경쟁균형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원활한 이동성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속성의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외생성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함수형 선택의 타당성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적용 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대기오염 규제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Clean Air Act)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주택가격 효과 추정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(Chay &amp; Greenstone, 2005).②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슈퍼펀드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유해폐기물 정화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사이트 정화의 주택시장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(Greenstone &amp; Gallagher, 2008)</a:t>
            </a:r>
          </a:p>
        </p:txBody>
      </p:sp>
    </p:spTree>
    <p:extLst>
      <p:ext uri="{BB962C8B-B14F-4D97-AF65-F5344CB8AC3E}">
        <p14:creationId xmlns:p14="http://schemas.microsoft.com/office/powerpoint/2010/main" val="1108922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CA4C-3485-01B2-5B30-2101F80F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1632D0-A6AF-D604-9397-3A70A86F6F5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FF6379-F79B-19A9-1F10-B0A359B0D38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E14D0C-A5B7-72BF-A658-577063F6BA7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E33942-E100-C6BA-6EF9-C2554C5474F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A26FDE-AD81-A475-D0BC-BA9D02C3E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8A0D29C-74D1-5A5F-435E-2152C424BA0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904910-54DE-625F-7065-813720F736BF}"/>
              </a:ext>
            </a:extLst>
          </p:cNvPr>
          <p:cNvSpPr txBox="1"/>
          <p:nvPr/>
        </p:nvSpPr>
        <p:spPr>
          <a:xfrm>
            <a:off x="1080000" y="1671816"/>
            <a:ext cx="10291152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조건부가치측정법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(Contingent Valuation, CVM;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진술 선호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SP)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가상의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시나리오를 제시하고 응답자의 지불의사액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(WTP/WTA)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직접 질문하여 비시장재 가치를 추정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(Mitchell &amp; Carson, 1989; Arrow et al., 1993)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시나리오의 ‘결과연계성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(consequentiality)’,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유인적합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특히 단일 경매형식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가상편의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전략적 응답 최소화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내재적 일관성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적용 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엑손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발데즈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(Exxon Valdez)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유류유출 사건에서 ‘수동적 이용가치’ 손실의 화폐화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(Carson et al., 2003) 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문화유산 보전 사업의 사회적 편익 계측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(Arrow et al., 1993; Carson, 2012)</a:t>
            </a:r>
          </a:p>
        </p:txBody>
      </p:sp>
    </p:spTree>
    <p:extLst>
      <p:ext uri="{BB962C8B-B14F-4D97-AF65-F5344CB8AC3E}">
        <p14:creationId xmlns:p14="http://schemas.microsoft.com/office/powerpoint/2010/main" val="3668237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FFD36-48D8-2AF2-1AE3-D50E53B0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AF94322-6D56-B564-AB6B-836B234756C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EAD972-8ED8-4A2A-582E-9EF1A64FF0B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F415A-1D5B-6F6E-F2C2-EAF1A8EEAD4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D589D-5F37-6265-D8AB-810894DFB444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57C5AE5-C935-87E3-A56F-32E4EFBE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67A5D22-629D-6DEB-E69F-6E4C5744636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3EE4E0-B4F1-EDAE-210F-043887E3398B}"/>
              </a:ext>
            </a:extLst>
          </p:cNvPr>
          <p:cNvSpPr txBox="1"/>
          <p:nvPr/>
        </p:nvSpPr>
        <p:spPr>
          <a:xfrm>
            <a:off x="1080000" y="1671816"/>
            <a:ext cx="10291152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대기질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개선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프로그램’을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실시하면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PM2.5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20–30%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감소하고 최소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년간 유지됩니다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 사업을 위해 귀하가 매년 추가로 납부할 의향이 있는 금액은 최대 얼마입니까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?[ ]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산업단지 확장으로 향후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PM2.5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20–30%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증가하고 최소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년간 지속될 것으로 예측됩니다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 사업을 수락하기 위한 최소 연간 보상액은 얼마입니까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?[ ]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WTP vs WTA: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동일한 변동이라도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 체계적으로 큰 경향이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알려져있음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소유효과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대체가능성 제약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; Horowitz &amp; McConnell, 2002).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공공부문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CBA·RIA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NOAA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패널 권고에 따라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표준으로 삼는 경우가 많음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(Arrow et al., 1993; Boardman et al., 2018)</a:t>
            </a:r>
          </a:p>
        </p:txBody>
      </p:sp>
    </p:spTree>
    <p:extLst>
      <p:ext uri="{BB962C8B-B14F-4D97-AF65-F5344CB8AC3E}">
        <p14:creationId xmlns:p14="http://schemas.microsoft.com/office/powerpoint/2010/main" val="219832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160BE-9002-EE93-5E3E-90744F58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0941B3E-22F4-1FB9-FCC1-686014BD21F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8A22B7-667E-A74B-34EE-E1B30186756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FB663-A558-B4DE-5C0B-885D75D0A8A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FAC2F-1172-B303-3B73-625D1445608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1AD8A8-5982-584B-6EA7-8706ED258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CBA48E7-8863-816D-C8C0-744973DB32D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777A5A-9082-1ECD-9D61-C199F2DDAAFF}"/>
              </a:ext>
            </a:extLst>
          </p:cNvPr>
          <p:cNvSpPr txBox="1"/>
          <p:nvPr/>
        </p:nvSpPr>
        <p:spPr>
          <a:xfrm>
            <a:off x="1080000" y="1671816"/>
            <a:ext cx="10291152" cy="451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선택실험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이산선택모형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Choice Experiment/DCE; SP):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다속성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대안 묶음을 반복 제시해 선택을 관측하고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무작위효용모형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(RUM)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기반으로 속성별 한계효용을 추정한 뒤 비용속성과의 비율로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WTP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식별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(Louviere,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Hensher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&amp; Swait, 2000; Train, 2009)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RUM(IIA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완화는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혼합로짓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무모수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혼합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설계의 정합성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정균형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차별가능성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정보제시의 이해가능성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적용 예시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생물다양성 등 환경속성의 한계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WTP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(Hanley, Wright, &amp; Adamowicz, 1998) 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재생에너지 프로젝트의 입지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송전선 속성 가치평가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(Bergmann, Hanley, &amp; Wright, 2006)</a:t>
            </a:r>
          </a:p>
        </p:txBody>
      </p:sp>
    </p:spTree>
    <p:extLst>
      <p:ext uri="{BB962C8B-B14F-4D97-AF65-F5344CB8AC3E}">
        <p14:creationId xmlns:p14="http://schemas.microsoft.com/office/powerpoint/2010/main" val="3696558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A0729-0295-5216-3539-2C36B5A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048141-F3D8-C61A-EDFA-E857576DFBB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2E1FC0-9687-D22D-70EB-B3DB3B961D5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F1906-E6EA-3752-67DC-4D26EAE9E15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C55032-085C-6855-6FDD-B4616D6BE4D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잠재가격의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4040E17-CA7C-9949-B2FC-9DE38D7D4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B62A54D-4BB2-5B47-6D58-9DA394897A8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730C59-C622-D3BA-DF50-1C151084B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748870"/>
              </p:ext>
            </p:extLst>
          </p:nvPr>
        </p:nvGraphicFramePr>
        <p:xfrm>
          <a:off x="1235997" y="1523674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215865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386230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5112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51142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정책안 </a:t>
                      </a: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정책안 </a:t>
                      </a:r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상태유지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076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PM2.5 </a:t>
                      </a:r>
                      <a:r>
                        <a:rPr lang="ko-KR" altLang="en-US" dirty="0"/>
                        <a:t>감소율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554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적용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주거지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학교 중심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 지역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현행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073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정보공개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월별 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실시간 공개</a:t>
                      </a:r>
                      <a:r>
                        <a:rPr lang="en-US" altLang="ko-KR" dirty="0"/>
                        <a:t>+</a:t>
                      </a:r>
                      <a:r>
                        <a:rPr lang="ko-KR" altLang="en-US" dirty="0"/>
                        <a:t>독립감사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분기별 공개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36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연간 추가부담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40,000</a:t>
                      </a:r>
                      <a:r>
                        <a:rPr lang="ko-KR" altLang="en-US"/>
                        <a:t>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120,000</a:t>
                      </a:r>
                      <a:r>
                        <a:rPr lang="ko-KR" altLang="en-US" dirty="0"/>
                        <a:t>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360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귀하의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11724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9088A33-08A2-77C1-465B-586E9B6C2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072997"/>
              </p:ext>
            </p:extLst>
          </p:nvPr>
        </p:nvGraphicFramePr>
        <p:xfrm>
          <a:off x="1235997" y="3839442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241995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594663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144231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873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정책안 </a:t>
                      </a:r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정책안 </a:t>
                      </a:r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상태유지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96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PM2.5 </a:t>
                      </a:r>
                      <a:r>
                        <a:rPr lang="ko-KR" altLang="en-US" dirty="0"/>
                        <a:t>감소율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92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적용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핵심도로 중심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 지역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340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정보공개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감사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분기별 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월별 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474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연간 추가부담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10,000</a:t>
                      </a:r>
                      <a:r>
                        <a:rPr lang="ko-KR" altLang="en-US"/>
                        <a:t>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80,000</a:t>
                      </a:r>
                      <a:r>
                        <a:rPr lang="ko-KR" altLang="en-US"/>
                        <a:t>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013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귀하의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219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711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67EA-04C7-9986-2BE0-AB9F4EA1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71F1DDC-E994-F5A2-326B-789B473702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2387A4-AA59-9A89-A3CC-AC9C551DEFC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2C5C7-7389-C199-6FFC-3EAF8C736D6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869B8-C470-FE0D-0D96-772B1271C483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현재가치의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3A2782-9957-8738-11F4-F94DD891A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2D1389B-74C9-C9CC-BF77-0FB3B8F9B0E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F21D07-1F5F-159B-FF77-E8C7D36D401B}"/>
              </a:ext>
            </a:extLst>
          </p:cNvPr>
          <p:cNvSpPr txBox="1"/>
          <p:nvPr/>
        </p:nvSpPr>
        <p:spPr>
          <a:xfrm>
            <a:off x="1080000" y="1671816"/>
            <a:ext cx="10291152" cy="362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 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원과 가치가 다름 → 서로 다른 시점에서 발생하는 비용과 편익을 일정 시점의 가치로 환산하는 작업이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비용과 편익의 시간적 흐름 분석이라고 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여기에서 가장 중요한 고려요인은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할인율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이자율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기간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이자율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금전의 시간적 가치를 뜻하며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 할인액을 계산하는데 사용하는 방법은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단리접근법과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복리접근법이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일반적으로 복리접근법을 활용하며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기간은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단위로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3843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B949-FA68-6A3D-5C39-FF44AF34F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9C49170-B611-D477-9290-C0940A3F11A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14869B-1E07-D784-B6F8-CA82D34F6F3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FEA787-18FA-070D-455E-151566AB7C5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1DD914-3AFE-E3C4-B01F-DB16AF133AE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현재가치의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E469FC4-8E23-CA68-46D2-17378D17E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5A90A4B-E798-399D-97AC-82769076183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CECEE4-4ABC-978B-ED0A-C191C59A534C}"/>
              </a:ext>
            </a:extLst>
          </p:cNvPr>
          <p:cNvSpPr txBox="1"/>
          <p:nvPr/>
        </p:nvSpPr>
        <p:spPr>
          <a:xfrm>
            <a:off x="1080000" y="1671816"/>
            <a:ext cx="10291152" cy="418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예를 들어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A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은행에서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원을 받기로 되어 있는데 이를 지금 받고자 한다면 얼마를 받을 수 있을까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이자율은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6%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 = 200,000 / (1+0.06)</a:t>
            </a:r>
            <a:r>
              <a:rPr lang="en-US" altLang="ko-KR" sz="2400" baseline="30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178,000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일반화해서 어떤 기간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말에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금액을 매번 받는다고 할 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금전 흐름의 현재 가격의 합은 다음과 같다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이자율은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%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P = </a:t>
            </a:r>
            <a:r>
              <a:rPr lang="el-GR" altLang="ko-KR" dirty="0"/>
              <a:t>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[X / (1+i)</a:t>
            </a:r>
            <a:r>
              <a:rPr lang="en-US" altLang="ko-KR" sz="2400" baseline="30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]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사업이 매년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1,000,000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원의 편익을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동안 가져온다고 할 때 이것의 현재 가치는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이자율은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737887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69D7F-3BC1-4DC3-D7BF-E79F87BE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DEC18A1-B2A7-DFA0-CFC4-D2CDDF131A1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0EBCB5-F926-0EDF-30CA-0442DF16A9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8D2E8A-5FC0-46F7-BAC9-CECDC9B71C9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AC61F-C038-4A85-02FB-63CC4A135C4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현재가치의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BF7DCA8-20E5-594C-A989-808F0E26D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5415EFA-FE3B-6EF1-0582-9331703809B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66F968-E81B-1D05-09D4-12B4C61D8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793146"/>
              </p:ext>
            </p:extLst>
          </p:nvPr>
        </p:nvGraphicFramePr>
        <p:xfrm>
          <a:off x="1339026" y="1484965"/>
          <a:ext cx="9811840" cy="4391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2368">
                  <a:extLst>
                    <a:ext uri="{9D8B030D-6E8A-4147-A177-3AD203B41FA5}">
                      <a16:colId xmlns:a16="http://schemas.microsoft.com/office/drawing/2014/main" val="617138072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2235007209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2474094074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3911581757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1864987336"/>
                    </a:ext>
                  </a:extLst>
                </a:gridCol>
              </a:tblGrid>
              <a:tr h="59724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 dirty="0"/>
                        <a:t>연도 </a:t>
                      </a:r>
                      <a:r>
                        <a:rPr lang="en-US" altLang="ko-KR" sz="1700" dirty="0"/>
                        <a:t>(</a:t>
                      </a:r>
                      <a:r>
                        <a:rPr lang="en-US" sz="1700" dirty="0"/>
                        <a:t>t)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/>
                        <a:t>연간 편익</a:t>
                      </a:r>
                      <a:r>
                        <a:rPr lang="en-US" altLang="ko-KR" sz="1700"/>
                        <a:t>(</a:t>
                      </a:r>
                      <a:r>
                        <a:rPr lang="ko-KR" altLang="en-US" sz="1700"/>
                        <a:t>원</a:t>
                      </a:r>
                      <a:r>
                        <a:rPr lang="en-US" altLang="ko-KR" sz="1700"/>
                        <a:t>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 dirty="0"/>
                        <a:t>할인계수 </a:t>
                      </a:r>
                      <a:r>
                        <a:rPr lang="en-US" altLang="ko-KR" sz="1700" dirty="0"/>
                        <a:t>(1/(1+i)</a:t>
                      </a:r>
                      <a:r>
                        <a:rPr lang="en-US" altLang="ko-KR" sz="1700" baseline="30000" dirty="0"/>
                        <a:t>t</a:t>
                      </a:r>
                      <a:r>
                        <a:rPr lang="en-US" altLang="ko-KR" sz="1700" dirty="0"/>
                        <a:t>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/>
                        <a:t>해당연도 현재가치</a:t>
                      </a:r>
                      <a:r>
                        <a:rPr lang="en-US" altLang="ko-KR" sz="1700"/>
                        <a:t>(</a:t>
                      </a:r>
                      <a:r>
                        <a:rPr lang="ko-KR" altLang="en-US" sz="1700"/>
                        <a:t>원</a:t>
                      </a:r>
                      <a:r>
                        <a:rPr lang="en-US" altLang="ko-KR" sz="1700"/>
                        <a:t>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/>
                        <a:t>누적 현재가치</a:t>
                      </a:r>
                      <a:r>
                        <a:rPr lang="en-US" altLang="ko-KR" sz="1700"/>
                        <a:t>(</a:t>
                      </a:r>
                      <a:r>
                        <a:rPr lang="ko-KR" altLang="en-US" sz="1700"/>
                        <a:t>원</a:t>
                      </a:r>
                      <a:r>
                        <a:rPr lang="en-US" altLang="ko-KR" sz="1700"/>
                        <a:t>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45217228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0.952381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952,381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952,381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85959239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0.907029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907,029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1,859,410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60894451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3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0.863838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863,838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2,723,248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9894506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4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0.822702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822,702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3,545,951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5497510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0.783526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783,526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4,329,477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95368342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6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0.746215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746,215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5,075,692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20091421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7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0.710681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710,681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5,786,373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21545736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8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0.676839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676,839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6,463,213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81310222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0.644609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644,609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7,107,822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238477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1,000,000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/>
                        <a:t>0.613913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dirty="0"/>
                        <a:t>613,913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b="1" dirty="0"/>
                        <a:t>7,721,735</a:t>
                      </a:r>
                      <a:endParaRPr lang="ko-KR" altLang="en-US" sz="1700" dirty="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21661593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 sz="1700" b="1"/>
                        <a:t>합계</a:t>
                      </a:r>
                      <a:endParaRPr lang="ko-KR" alt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ko-KR" alt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ko-KR" alt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700" b="1"/>
                        <a:t>7,721,735</a:t>
                      </a:r>
                      <a:endParaRPr lang="ko-KR" altLang="en-US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ko-KR" altLang="en-US" sz="1700" dirty="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91611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800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0BEC-E52A-6A6E-86A6-BD62913C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E39134E-ACC6-4A54-DE5E-9A26376872B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1047D4-C38B-9D63-7E63-3C8A597104E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7C573-5D97-A6CB-368F-B2FDF747B85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B77369-BE3B-DFAB-FFF2-82A83811FC2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현재가치의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7765525-99E6-51E3-E384-1BD7A4A9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1A0EFA-34AF-1948-AE11-BA226D12EE9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9D8F1DE-7385-F612-8CCC-6D1E1D267956}"/>
              </a:ext>
            </a:extLst>
          </p:cNvPr>
          <p:cNvSpPr txBox="1"/>
          <p:nvPr/>
        </p:nvSpPr>
        <p:spPr>
          <a:xfrm>
            <a:off x="1080000" y="1671816"/>
            <a:ext cx="10291152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공공사업은 수년에 걸쳐 비용과 편익이 발생하므로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타당성 여부를 평가하기 위해서는 미래의 편익과 비용을 모두 현재가치로 환산해서 비교해야 함 → 이때 적용하는 이자율이 할인율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높은 할인율을 적용하면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현재에 더 많은 가치를 부여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편익이 단기간에 집약적으로 발생하는 단기 투자에 유리하고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낮은 할인율을 적용하면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미래에 더 많은 가치를 부여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장기간에 걸쳐 편익이 발생하는 장기투자에 유리함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할인율의 선택은 사업의 선택과 매우 밀접한 관련이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공공부문의 할인율은 민간할인율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할인율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자본의 기회비용이 고려됨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4790-EFE5-9624-E9B7-5290C201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7BEB69-D86B-3968-C610-12A79A23D4F7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200A17-EFEE-767F-F1D9-5C589A09BE2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B33225-7EE5-856B-FF48-27E8FC8F009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2080F8-4033-B8DB-DC88-B277A7A8C910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현재가치의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C6D962D-7948-2BC9-C212-4AB0E42C5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588FA13-F573-4230-6EBD-2072601ED3D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12A406D-B74D-72C2-71AD-ADBEE9A1FEA5}"/>
              </a:ext>
            </a:extLst>
          </p:cNvPr>
          <p:cNvSpPr txBox="1"/>
          <p:nvPr/>
        </p:nvSpPr>
        <p:spPr>
          <a:xfrm>
            <a:off x="1080000" y="1671816"/>
            <a:ext cx="10291152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민간할인율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 자본시장에서 형성된 시장 이자율을 중심으로 결정하는 할인율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자본시장이 완전경쟁이라면 적절하나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실제로는 그렇지 않아서 문제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할인율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공공사업은 민간사업과 달리 외부효과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긍정적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크기 때문에 이를 고려하여 시장 이자율에 비해 낮게 책정된 할인율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자본시장이 완전하다고 하더라도 시장 할인율은 소비자들의 진정한 시간 선호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시간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선호율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반영하지 못함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자본의 기회비용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자원이 민간사업에 활용되었을 때 얻을 수 있는 평균 수익률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사회적 시간 선호율보다 높을 가능성이 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1886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DFF6-79E9-0447-9275-DA9F0D3A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C247BD-2492-AB43-5A46-C7AA996BB7C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5021A9-00E2-958A-6531-F61C59C4BD1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65F9BA-9A4E-C254-6064-DFE940E6C37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B6DB4B-0810-6809-CD85-477B4E218B4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비용과 편익의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E63771F-E23C-6945-5AE0-A39020BC8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6494C9-B5EA-38BD-C816-7A5F40AFADC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4258E9A-A445-2CC2-E771-24CDDBD046C7}"/>
              </a:ext>
            </a:extLst>
          </p:cNvPr>
          <p:cNvSpPr txBox="1"/>
          <p:nvPr/>
        </p:nvSpPr>
        <p:spPr>
          <a:xfrm>
            <a:off x="1080000" y="1671816"/>
            <a:ext cx="102911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비용은 실질적 비용으로 측정하여야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간접적이고 무형적인 비용도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현재는 투입을 비용으로 보고 실제 지출만을 비율로 식별하는 방법을 활용하고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비용의 계산이 비교적 용이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구체적으로 비용 항목의 리스트를 작성해서 각 항목의 비용을 측정하는 방식을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연구개발비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토지구입비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최초비용과 인건비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자재비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임대료 등 정기적인 투입비용 등을 각각 측정하는 것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실제로 각 비용항목을 측정하는 것도 어렵기 때문에 사업관련 전문가나 기술자들의 참여와 도움이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5757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69C7-EF15-554B-0F1A-ADB8DA1DB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94E83E-909D-6FFE-5D4C-426FB64C667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0C104D-473A-D406-31F9-CFA71E3D79C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56684E-ABC9-8FB0-CF88-A6B139E62C5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3533F-C9EB-A086-16CC-98D0A657E1E5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비용과 편익의 측정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E2C155B-DBEC-FB5B-7B48-7BCBB5BF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1D3A6B1-3F84-D204-2955-5788A1C1D62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0FA3C57-35D1-CE8B-8D59-D2AE65EBDCA9}"/>
              </a:ext>
            </a:extLst>
          </p:cNvPr>
          <p:cNvSpPr txBox="1"/>
          <p:nvPr/>
        </p:nvSpPr>
        <p:spPr>
          <a:xfrm>
            <a:off x="1080000" y="1671816"/>
            <a:ext cx="102911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편익은 간접적이고 무형적인 경우가 더 많아서 비용보다 측정하기 훨씬 어려움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이론적으로 편익은 사회후생의 증가분이지만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사회후생 개념 자체가 측정이 어려움 → 소비자 잉여를 통한 분석방법을 활용할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소비자 잉여를 측정하기 위해서는 시장이 형성되어야 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공급하는 재화나 서비스는 시장이 없는 경우가 훨씬 많기 때문에 측정이 더욱 어려움 → 잠재가격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편익을 측정할 때는 누구의 입장에서 보느냐가 중요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직접 영향을 받는 개인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지역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전체 국가 등 누구를 기준으로 하는지에 따라서 크게 달라짐 → 적정 대상을 정하는 것도 분석가의 역할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363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C05BE-40CB-4007-245F-7F491C67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E240AD-617C-6CA1-1A52-5FA42C055ED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4B79AD-B8EE-BD00-107C-B31B851C568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1AFEF3-CFE8-79EC-DD9C-5DEF3378D30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934049-CDD2-C2C5-DBD2-CB38939A38C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대안비교의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64468F-C74E-5DD6-0B44-9E7B069D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7A4BF7-E166-2058-276C-14334776E83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A07FBD7-1383-66CE-7BDD-6FA7415296FF}"/>
              </a:ext>
            </a:extLst>
          </p:cNvPr>
          <p:cNvSpPr txBox="1"/>
          <p:nvPr/>
        </p:nvSpPr>
        <p:spPr>
          <a:xfrm>
            <a:off x="1080000" y="1671816"/>
            <a:ext cx="10291152" cy="370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사업대안 비교는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편익비용비율법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내부수익률법으로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(Net Present Value)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편익의 현재가치와 비용의 현재가치의 차이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순현재가치법은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적절한 사회적 할인율이 적용되고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이상인 경우 사업은 타당성이 있다고 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순현재가치가 클수록 사업의 우선순위가 높다고 평가할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편익과 비용이 금전적 단위로 측정되었을 경우에는 최선의 척도라고 볼 수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금전적 단위가 아닌 경우에는 순현재가치에 반영되지 않는다는 문제가 존재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097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601C-B6E6-B840-402E-D7DF881E5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3CE272C-7816-E9C2-BEBF-26D924C0400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F29537-B5B8-4945-326D-118932B7A3C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E60AC-E1BE-AD62-057B-77C970A956D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9823E-7370-A131-56F0-DE7B913DBD4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대안비교의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94033EC-C772-C100-58D9-858999184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21966F1-4CAA-6A86-744F-85C047680D8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28A9AF-4D53-2139-D44C-D1836BF5D6B0}"/>
              </a:ext>
            </a:extLst>
          </p:cNvPr>
          <p:cNvSpPr txBox="1"/>
          <p:nvPr/>
        </p:nvSpPr>
        <p:spPr>
          <a:xfrm>
            <a:off x="1080000" y="1671816"/>
            <a:ext cx="10291152" cy="314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비용편익비율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(BC ratio)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비용의 현재가치에 대한 편익의 현재가치의 비율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적절한 사회적 할인율이 적용되었다면 비용편익비율이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(B/C)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보다 큰 경우라면 타당성이 있는 사업으로 평가할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비용편익비율이 클수록 사업의 우선순위가 높다고 볼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비용편익비율만 고려하면 사업의 규모를 고려하지 않는다는 문제점이 있기 때문에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순현재가치법이나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내부수익률법과 함께 보완적으로 활용할 필요가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378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AAD0-7D40-819D-DEB7-D884CC25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37759C-5081-C235-7197-990DDB3DC6F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4BEB11-02FD-F896-639A-D5D0EC277CF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24941-16BB-FA20-22FA-67DB7011787E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F3B740-27E8-870B-FF7A-6365F1B99B52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대안비교의 방법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D5D740C-08F3-0C7E-A9AE-08F44F67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05E30F2-DDE2-FF19-F465-B9A8C82FD35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1B5FE0-7EC5-1680-50DA-B7F3B8F52576}"/>
              </a:ext>
            </a:extLst>
          </p:cNvPr>
          <p:cNvSpPr txBox="1"/>
          <p:nvPr/>
        </p:nvSpPr>
        <p:spPr>
          <a:xfrm>
            <a:off x="1080000" y="1671816"/>
            <a:ext cx="10291152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내부수익률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(IRR)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편익의 현재가치와 비용의 현재가치가 동일하게 되도록 하는 할인율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내부수익률은 내부수익률이 투입된 자본의 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시장이자율보다 높으면 이론상 투자할 가치가 있는 사업으로 평가됨 → 내부수익률이 클수록 사업의 우선순위가 높다고 평가할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내부수익률은 사업평가에 활용할 적절한 할인율이 알려져 있지 않은 경우 매우 유용할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만약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X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사업이 할인율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NPV &gt;0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 반면 할인율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15%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NPV&lt;0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이라면 내부수익률은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10~15%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사이에 속하게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3000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63064-0934-147F-12B8-7314024D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3357FF-A6CF-9F1A-84CB-1525108F363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36AA5A-6C7F-A7B2-633B-C3C165128F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CCF5C-1BD9-7B39-5D6B-93FA143C0E3C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81A1E-C4E7-2F2F-D285-074493907B2C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고속도로 건설의 타당성 분석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FE81644-335B-2AD2-2B13-7C105472A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E1F9573-1580-803F-5003-1636E7F18BE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4805B4-E63B-83DE-DAD3-2785087FF778}"/>
              </a:ext>
            </a:extLst>
          </p:cNvPr>
          <p:cNvSpPr txBox="1"/>
          <p:nvPr/>
        </p:nvSpPr>
        <p:spPr>
          <a:xfrm>
            <a:off x="1080000" y="1671816"/>
            <a:ext cx="10291152" cy="37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&lt;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사례 개요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&gt;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고속도로 건설을 통해 얻을 수 있는 편익은 시간 단축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차량 운행 비용의 절감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안전한 도로 건설을 통한 인간의 생명보호와 건강 증진 등이다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주요 비용은 건설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유지 및 보수 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통행권 획득 비용 등이다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고속도로의 수명은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이후의 편익과 비용은 고려하지 않는다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비용과 편익은 실질 금액으로 되어 있다고 가정한다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계산의 편의를 위해 고속도료의 통행료는 부과하지 않는다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5197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E8E7-0459-A9CA-E23F-21A0750A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407B83-4744-C846-60C8-306B929792B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F0E883-5440-3F0B-4099-55549EDBEB9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FEF6D-9DC0-83EA-749B-7BD1309F5E4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E4B9A-0B3D-2943-1985-60CDA3C84AC8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편익의 추정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5C5918D-F9B9-4F30-968F-6B667244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8D6AAC0-FAA0-6A6E-ABCC-AB939D2A02F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4C2432-7F4C-D6B7-1684-3BAA8F9764D3}"/>
              </a:ext>
            </a:extLst>
          </p:cNvPr>
          <p:cNvSpPr txBox="1"/>
          <p:nvPr/>
        </p:nvSpPr>
        <p:spPr>
          <a:xfrm>
            <a:off x="1080000" y="1671816"/>
            <a:ext cx="10291152" cy="370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시간절약으로 인한 편익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한번 주행에 평균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분씩 절감되고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연간 차량의 고속도로 주행 횟수는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10,000,000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승차당 평균인원은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1.25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명이라고 가정한다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운전자 및 승객은 그들의 시간적 가치를 분당 평균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0.2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달러로 평가한다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고속도로 건설로 인해 다른 도로에 가져다 주는 교통량 감소는 고려하지 않는다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연간 절약되는 시간 가치를 계산하면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10,000,000 x 1.25 x 10 x 0.2 =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25,000,000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486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02A4-B02B-1C3D-A3DF-FE5D7D186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F81DA1-13FD-843E-DFDE-4CAE493BE34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753299-18FA-2A44-D277-E4BDB71EDF1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785181-5E5C-CC46-33B9-9B18EA58EBE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D210C2-A250-582A-8339-8D2FDB84FA2B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편익의 추정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5DC9D5-92BA-5831-13D7-4FDA8B78D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F8310FB-9E00-C410-5F8C-A46CE3A8B6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DFA8E42-D5ED-65BB-E539-9D785B77BFE4}"/>
              </a:ext>
            </a:extLst>
          </p:cNvPr>
          <p:cNvSpPr txBox="1"/>
          <p:nvPr/>
        </p:nvSpPr>
        <p:spPr>
          <a:xfrm>
            <a:off x="1080000" y="1671816"/>
            <a:ext cx="10291152" cy="425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차량 운행 비용 절감으로 인한 편익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 마일당 차량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대당 운행비용은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0.25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 고속도로는 운행 거리를 평균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마일씩 단축시켜 준다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차량 운행 비용의 절감 효과는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10,000,000 x 0.25 =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2,500,000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인명 손실 감소로 인한 편익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연간 사망자 수가 한 사람 정도 감소한다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여러 다양한 직종에서의 사망위험으로 인한 임금격차를 계산하면 인간 생명의 가치는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인당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3,000,000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인명 손실 감소 편익은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3,000,000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576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170B-659E-6A56-5942-C91B281E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8DFD56-EC35-7BED-1BE0-A6725669531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9A330D-A366-C3AC-6988-9D5B01FEFEF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16DC0-2688-9186-CE7C-9342AC74325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29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E4670D-D96F-1F75-DE9A-C64183FB1091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비용의 계산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F2E765-BDCB-805E-E486-E68490460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AFB93DE-9445-599A-3757-DAD164CB3DF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015B4A7-1CD6-7DFE-D53E-066509844C15}"/>
              </a:ext>
            </a:extLst>
          </p:cNvPr>
          <p:cNvSpPr txBox="1"/>
          <p:nvPr/>
        </p:nvSpPr>
        <p:spPr>
          <a:xfrm>
            <a:off x="1080000" y="1671816"/>
            <a:ext cx="10291152" cy="2188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비용은 실제로 지급해야 할 비용으로 계산한다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건설 비용은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년쨰에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매년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100,000,000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달러가 소요된다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 유지 및 보수비는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년째부터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시작해서 매년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500,000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달러가 소요된다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914400" lvl="1" indent="-457200">
              <a:lnSpc>
                <a:spcPct val="13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도로 건설 부지의 취득 비용은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90,000,000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달러이며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후에 지급한다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9254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9EFA-875E-F886-32D6-FDE7DAC9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40EB286-EE85-933E-908D-D9FAD95D4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678" y="1280520"/>
            <a:ext cx="9065533" cy="4685557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C63BA3E-0919-496A-0ABC-A74A51CD213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C907A1-848A-E28D-3702-AE1D3EE91A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146A80-D332-244F-9D1F-55444D7EB6B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2976CF-AE95-F342-3C14-D50469D53139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비용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-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편익분석의 결과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8014B5-DBE2-B831-599A-BB4B997C3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B61C0A0-2EE3-0A42-A79B-CD25E3A638B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337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55946-F9A7-7B0C-7969-1673E546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D1A7CBF-B0A2-51B2-DDE9-DFCBEF0A67B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8D0E4B-1166-B204-9B90-40F540D0E87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9216F1-15AC-273E-356C-3EF82B022FC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77258-E4E5-A69C-3192-216D420731D7}"/>
              </a:ext>
            </a:extLst>
          </p:cNvPr>
          <p:cNvSpPr txBox="1"/>
          <p:nvPr/>
        </p:nvSpPr>
        <p:spPr>
          <a:xfrm>
            <a:off x="1235997" y="757300"/>
            <a:ext cx="965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사례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최종 판정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2D2EB89-64DB-9458-3578-173C08875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6DB58E9-66D9-75E2-846D-D24AF9EBEE6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1C2755-5F47-83B0-437E-BDA2794EC848}"/>
              </a:ext>
            </a:extLst>
          </p:cNvPr>
          <p:cNvSpPr txBox="1"/>
          <p:nvPr/>
        </p:nvSpPr>
        <p:spPr>
          <a:xfrm>
            <a:off x="1080000" y="1671816"/>
            <a:ext cx="1029115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할인율을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정하는 경우 고속도로 사업은 타당성이 있는 것으로 판단할 수 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6%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8%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하는 경우 타당성이 없는 것으로 나타남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어떠한 할인율을 선택하는 것이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올바른가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금액이 실질 금액으로 계산되었다고 가정한다면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30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만기 미국 연방정부 채권 이자율은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7.0%,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인플레이션율은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3.0%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따라서 장기투자에 대한 실질 이자율은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4.0%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정도이므로 할인율도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4.0%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정도로 보아야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자본시장의 기회비용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457200" indent="-4572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2024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우리나라 사회적 할인율은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4.5%.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분석 기간이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이상인 철도 및 수자원 사업의 경우 운영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30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동안은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4.5%,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이후에는 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3.5%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할인율이 적용함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5273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2621</Words>
  <Application>Microsoft Office PowerPoint</Application>
  <PresentationFormat>와이드스크린</PresentationFormat>
  <Paragraphs>303</Paragraphs>
  <Slides>33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1015</cp:revision>
  <dcterms:created xsi:type="dcterms:W3CDTF">2025-03-10T02:54:00Z</dcterms:created>
  <dcterms:modified xsi:type="dcterms:W3CDTF">2025-11-11T04:39:39Z</dcterms:modified>
</cp:coreProperties>
</file>