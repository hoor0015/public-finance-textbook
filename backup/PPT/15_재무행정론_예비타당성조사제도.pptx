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89" r:id="rId3"/>
    <p:sldId id="443" r:id="rId4"/>
    <p:sldId id="473" r:id="rId5"/>
    <p:sldId id="474" r:id="rId6"/>
    <p:sldId id="475" r:id="rId7"/>
    <p:sldId id="444" r:id="rId8"/>
    <p:sldId id="445" r:id="rId9"/>
    <p:sldId id="476" r:id="rId10"/>
    <p:sldId id="477" r:id="rId11"/>
    <p:sldId id="479" r:id="rId12"/>
    <p:sldId id="491" r:id="rId13"/>
    <p:sldId id="492" r:id="rId14"/>
    <p:sldId id="493" r:id="rId15"/>
    <p:sldId id="480" r:id="rId16"/>
    <p:sldId id="481" r:id="rId17"/>
    <p:sldId id="482" r:id="rId18"/>
    <p:sldId id="483" r:id="rId19"/>
    <p:sldId id="484" r:id="rId20"/>
    <p:sldId id="485" r:id="rId21"/>
    <p:sldId id="486" r:id="rId22"/>
    <p:sldId id="487" r:id="rId23"/>
    <p:sldId id="488" r:id="rId24"/>
    <p:sldId id="489" r:id="rId25"/>
    <p:sldId id="490" r:id="rId26"/>
    <p:sldId id="447" r:id="rId27"/>
    <p:sldId id="494" r:id="rId28"/>
    <p:sldId id="496" r:id="rId29"/>
    <p:sldId id="495" r:id="rId30"/>
    <p:sldId id="258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6" autoAdjust="0"/>
    <p:restoredTop sz="94737"/>
  </p:normalViewPr>
  <p:slideViewPr>
    <p:cSldViewPr snapToGrid="0">
      <p:cViewPr varScale="1">
        <p:scale>
          <a:sx n="97" d="100"/>
          <a:sy n="97" d="100"/>
        </p:scale>
        <p:origin x="3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31CF-4914-81DD-2107-FC520ABC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56A031-2DC6-BBF8-E0EE-2F2AE04B6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F1DC1-9434-77B6-18DD-59C2FA38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2F20D0-D1CF-330D-1A9C-566E3947E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816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0EEF-6AB0-0177-5700-DAC48A3A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94239-1DA4-CD2A-4529-98A02B98F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E70894-7A28-41B0-CDBD-F2846AD38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7BB20C-5DF9-6105-AD25-23806FC1B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71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EED5-73EE-D1DA-6DC6-85DD832C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40EA49-23FB-930E-5908-C59A838D4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D893E-E500-A0F9-4150-2CA986D7B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2DA78-9BAD-1C3F-8644-69EDA68BA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065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9A6F-1D85-35D1-4ECD-F5B33730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694ECF-1D63-4E62-58E3-4803EECCF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268169-8AA6-8EAC-09BF-77E96F01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10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예타</a:t>
            </a:r>
            <a:r>
              <a:rPr kumimoji="1" lang="ko-KR" altLang="en-US" dirty="0"/>
              <a:t> 면제 사업에 대해서는 기재부 장관은 예비타당성 조사방식에 준하여 사업의 중장기 재정소요</a:t>
            </a:r>
            <a:r>
              <a:rPr kumimoji="1" lang="en-US" altLang="ko-KR" dirty="0"/>
              <a:t>, </a:t>
            </a:r>
            <a:r>
              <a:rPr kumimoji="1" lang="ko-KR" altLang="en-US" dirty="0"/>
              <a:t>재원조달 방안</a:t>
            </a:r>
            <a:r>
              <a:rPr kumimoji="1" lang="en-US" altLang="ko-KR" dirty="0"/>
              <a:t>, </a:t>
            </a:r>
            <a:r>
              <a:rPr kumimoji="1" lang="ko-KR" altLang="en-US" dirty="0"/>
              <a:t>비용과 편익 등을 고려한 효율적 대안 등의 분석을 통하여 사업계획의 적정성을 검토하고 그 결과를 예산편성에 반영해야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761ED8-15D6-FC51-9D54-B66429D79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152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8BA9-70D9-42C0-249E-B86EE13A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BEDE78-035E-2A23-71DC-AEE7B3B62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BBC6D6-F3F2-314D-0EDA-88F60A7F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74470E-EFBA-EB08-DE16-54F50DB41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658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B21B-33E2-1EE2-FB96-3D04F294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5E305C-B3D5-AB82-7082-419445EF5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B2E16C-597E-0531-F1AD-89D9881E4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000EF-013B-CAE1-5A18-7F0E1EF8D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545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2577-A2F9-5835-B8EC-A05308FE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9F414E-774E-E50A-51E0-B71F88B86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B1BC93-A2DE-B1E1-523C-7D8098779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A4DAB2-9311-3860-C930-C897FEABD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942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3A39-2CF3-0BC5-0E4C-0CB144AA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863DAD-3BB1-B1B1-9990-4803F97B6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2C1A81-5FEE-E312-CADD-17DD84BD2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1ED729-231D-0307-37E1-5723E302D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46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FA8E-0809-0293-7D08-D1C2C0EA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5B0975-B3EA-1CAC-2092-445CB9D26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4C5772-9510-FFC1-BD0B-EC899E34A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4AAB05-9A57-BA2F-CF31-EC0934542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317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CC27-B8AA-B712-F3DD-DC9D5ED4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ED07E-40E4-6766-64F6-E64A404EA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D208D-A225-D205-F04F-39DDF78CE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23109-60DB-4E69-1DE6-D2EC64EA0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294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2E13-087F-4D71-1A43-484E78AE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23B3F5-1A28-4F5A-DBD8-DCB67AEB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3E4238-4BAE-4A7B-E407-20C44ED05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DCD7CE-F471-3D3B-3043-353534E9C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588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BCFD-7EF1-0C4D-6FBF-C898BBE9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B37C9E-EAA9-FB42-BB82-EC227EBC3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E188DF-A81A-6E2A-A813-82C2E8737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0DC68-B23C-5519-A579-41B6D39C0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1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8A31-7D82-AD68-B846-11312307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D487BC-E49F-5E56-4B7B-753680035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690AA1-84B7-BEDE-986B-F7AC9D6C7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44D3F-B829-B7C9-E72F-6F8014CB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42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4BE81-22FB-4697-77DF-A0B0C621D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5C6A3-18F2-CC4E-2372-454E303B2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5A5EBB-BB4D-905A-884F-65670A16D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B28F6-F04A-0A46-6C61-5DCAF2E1E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9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7FBD-171F-427C-9284-519A3E14F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E2C13F-C309-4A09-88C7-37ADA9E30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2E79CC-8CE6-1D68-5793-5EA9009A7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244C0-C5F1-DEC5-A4D3-8A8EC3017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031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55149-7900-93CF-ADDD-A164BD94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4288A8-92F0-DF57-8C7E-EC11CE693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1F31AC-E85D-F487-7886-4AB29BAD8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98B2B-1F79-C4D7-AB5D-562C5C586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434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E7363-93D6-6231-3EEA-15818DED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C5089E-C15D-CE77-E137-18D35434C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EEDBF2-453B-A7E1-5B33-C422D2B5D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D6377-C8C5-B6C1-9A40-7E7854FCB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363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03F2-6177-B7B0-42F2-B276E32C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6F9BD9-7D0C-985A-0C38-41A775BB5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959644-2074-64A2-3834-C9F05447C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956A0-7E4A-9C15-7A40-5F669E190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8448-F425-027D-4273-1F898393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163CFE-7441-211A-B1BE-E887CA2BA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FCBFFB-4FA1-81A4-CF33-3BCBB19A7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692FE8-3B8C-9F92-4C48-66ED0BA99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68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1871-6CF8-8A76-5021-AAD470CD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99FBC-2015-2A4C-DD92-DBC3B62BC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EF2972-AC7C-8A2C-5075-B0FBD0EA8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3F42EF-F2DE-E38A-8C9D-E1A39609F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35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2D0B-F8CC-6B21-03E9-2702ABBD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5DFAF1-76D3-216A-8360-344D847C6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C71014-3039-CA30-EB51-927E579B1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2EB34-CE5C-FF0A-211F-406CDDD93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688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1531-2C1E-A853-07C4-C4AF22B0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013F6-E832-B0E3-4237-B52E4DF49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BA827E-5493-7CD2-3D87-A21E0E5C0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5AC1D-5502-9138-D50C-35C0EA380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875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D008-1CC3-07CE-20E2-161C827A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26CA29-21D8-D11A-1F43-4178228AF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0DAF57-5667-DAA2-87BD-E27D6E9FC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995E0C-D53F-22E4-CF31-01C9930B7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3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예비타당성조사의 의의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예비타당성조사는 「국가재정법」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 및 동법 시행령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조의 규정에 따라 대규모 신규 국가재정이 투입되는 사업에 대한 예산편성 및 기금운용계획을 수립하기 위하여 기획재정부장관 주관으로 실시하는 조사임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 주무부처에서 수행한 기존의 타당성 조사는 사업추진을 기정 사실화하고 기술적인 검토와 예비 설계 등에 초점 → 단순한 경제성 평가나 기술적 타당성 평가를 넘어 국민경제적 차원에서 사업의 추진여부를 사전에 판단할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대형 신규사업의 무분별한 착수와 예산 낭비를 방지하고 재정운용의 효율성 제고 목적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9A96-ABDE-C7C2-B855-AA1BE6F4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83176A-7BF9-C6A6-72F4-05D499C4E5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15B08A-DC04-97D5-5747-FB1854DE86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A4944-2E24-A415-19D1-F2460AC5DB4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1C8F05-47C3-28BA-0F7A-2CB8A401B34F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예비타당성조사의 개요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61BC7-D237-2E67-6325-511482165883}"/>
              </a:ext>
            </a:extLst>
          </p:cNvPr>
          <p:cNvSpPr txBox="1"/>
          <p:nvPr/>
        </p:nvSpPr>
        <p:spPr>
          <a:xfrm>
            <a:off x="1080000" y="1671816"/>
            <a:ext cx="10800000" cy="396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대규모 국가 예산이 투입되는 사업의 합리적 의사결정을 위해 한국개발연구원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(KDI)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공공투자관리센터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(PIMAC)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한국조세재정연구원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(KIPF)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정부투자분석센터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(GMAC)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에서 경제성 평가를 실시한 다음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기획재정부 분과위원회에서 경제성 평가와 더불어 정책과 지역균형발전 등을 반영한 종합평가를 실시하고 이를 토대로 재정사업평가위원회에서 예비타당성조사의 통과 여부를 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R&amp;D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사업의 경우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한국과학기술기획평가원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(KISTEP)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 과학기술정책연구원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(STEPI)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에서 예비타당성조사를 실시하며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해당 사업에 대해서는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기술성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평가를 포함한 종합평가가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EA1842-9DDB-18D1-6A6C-6AD4CFEF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FB29B6-ACE0-B3FE-8FDE-3AAA5C365A3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1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DDA86-2624-BB04-0494-72348338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D83B2E-C6F7-3013-E16A-1F1149B52D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5D877C-3B32-D7AE-5510-552EA405F4A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70C6A8-380A-D1CB-8E07-06A8A9F53FB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E379E-36A6-6667-7783-2A5855DFBDD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예비타당성조사의 연혁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89D580-4E80-E811-9FC7-421DEA9C2F93}"/>
              </a:ext>
            </a:extLst>
          </p:cNvPr>
          <p:cNvSpPr txBox="1"/>
          <p:nvPr/>
        </p:nvSpPr>
        <p:spPr>
          <a:xfrm>
            <a:off x="1080000" y="1671816"/>
            <a:ext cx="10800000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예비타당성조사제도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1999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도입된 이래 이해집단 간 복잡한 역학관계로 말미암아 시행 과정에서 많은 변화가 있었음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이러한 변화는 비용산정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수요분석 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편익 항목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사회적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할인율뿐만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아니라 재정의 투입 여부를 최종적으로 결정하는 의사결정방법론에서도 발생하였음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시행 초기에는 경제성 평가만으로 사업의 진행 여부를 결정하였으나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2003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년부터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평가항목을 반영한 종합평가가 도입됨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이후 지역균형발전이 국가 정책방향으로 제시됨에 따라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평가항목의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계층에 포함되어 있던 지역균형발전 항목이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계층으로 분리되어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2006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년부터 경제성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그리고 지역균형발전의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 항목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으로 평가하는 틀이 만들어짐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1D19E47-9932-2731-B383-1AF0224F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C0DF9DD-EE37-8134-0AE2-F1E460573AB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28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FB08-6118-09BC-46F8-FAF104FE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FF372D0-96E9-7BD3-51BA-811F8752F1D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ECD6E5-4623-D618-15A5-F62A48C344D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84467-99C2-2F17-DC75-C585F239D2CF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3C08B4-27ED-E28E-6AA5-A9719BF08AE8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예비타당성조사의 연혁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38F39-7189-7BD6-566A-0993771838A9}"/>
              </a:ext>
            </a:extLst>
          </p:cNvPr>
          <p:cNvSpPr txBox="1"/>
          <p:nvPr/>
        </p:nvSpPr>
        <p:spPr>
          <a:xfrm>
            <a:off x="1080000" y="1671816"/>
            <a:ext cx="10800000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년부터 예비타당성조사 대상사업이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SOC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사업뿐만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국가정보화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R&amp;D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사업으로 확대되었으며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지역균형발전에 대한 중요성이 강조됨에 따라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계층의 지역균형발전 가중치가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～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25%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년에는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～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30%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로 상향 조정됨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수도권과 비교하여 경제성이 부족해 사업추진이 어려웠던 비수도권사업의 통과율이 높아짐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정치적으로 추진이 필요한 사업에 대해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및 지역균형발전 평가항목 가중치의 조정만으로는 사업 통과를 담보할 수 없어 예비타당성조사를 받지 않고 재정지원을 받을 수 있는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예타면제에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대한 논의가 본격화되기 시작함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면제조건이 국가재정법에 포함되었음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이후에도 지속적으로 주요 항목에 대한 가중치 조정이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1ABF743-1D97-7209-0D37-123870A07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ED55D0-742B-7F95-A026-403E08E7D6A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01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98A3-3689-0631-0311-CC1F1733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DD0FF2-6C9A-33E8-9A3B-F37F043E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71" t="37743" r="42102" b="32299"/>
          <a:stretch>
            <a:fillRect/>
          </a:stretch>
        </p:blipFill>
        <p:spPr>
          <a:xfrm>
            <a:off x="7602497" y="1370095"/>
            <a:ext cx="4311303" cy="4684586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4A4D4DF-E981-551D-E4CB-33CE91102E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D53021-7311-43F0-C158-396E1FB7C2B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64133-112A-26CE-E1B4-8C58996D803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EBC26-86AA-C144-F242-42989EDCA78C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예비타당성조사의 연혁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C051A-2789-0821-6C55-F314C6CA8788}"/>
              </a:ext>
            </a:extLst>
          </p:cNvPr>
          <p:cNvSpPr txBox="1"/>
          <p:nvPr/>
        </p:nvSpPr>
        <p:spPr>
          <a:xfrm>
            <a:off x="1080000" y="1671816"/>
            <a:ext cx="6488697" cy="444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이후 많은 사업이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예타면제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트랙으로 추진되었는데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예타면제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사업의 리스크를 보완하기 위해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년부터 면제사업에 대한 사업계획 적정성 검토를 확대 시행하게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2022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또 한 번의 제도개선을 통해 예비타당성조사의 신속성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유연성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투명성을 제고하고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편익 항목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종합평가 수행체계 및 방식 개선 등 꾸준히 지적된 문제점들에 대한 개선이 이루어져 예비타당성조사제도가 성숙단계로 진입함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정성봉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2024)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C677A5D-ABE5-D8C4-9C9A-13C95228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1BC97AE-6F26-0EB8-A55A-F7EBCC6936B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68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0267-6AEE-6CA5-94A4-56CBE6C0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75C317C-E0E5-69CB-803B-894F6D3D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78" t="17030" r="14917" b="59736"/>
          <a:stretch>
            <a:fillRect/>
          </a:stretch>
        </p:blipFill>
        <p:spPr>
          <a:xfrm>
            <a:off x="1868770" y="1450314"/>
            <a:ext cx="8347297" cy="4465417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CD81EA9-E1CE-D368-FF8F-AEED1386788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75E608-A37E-C30E-9CE3-0E45D0E3731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E6D04-A310-9070-7462-CCE3A08BACB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166C4-EFA7-A229-A77C-B0AF9036099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 조사의 구조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F8AAFC-2B78-69E7-3F93-AB026DC12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3C009E-C3FC-BA5B-E76A-72396CA5D57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44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8631-97D9-A57D-01DE-D11B5BAA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A521B13-060C-5076-8509-F52DF22DFB0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6BCA97-7E55-1298-873E-F4F3EC7C6B5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56F8E-BA4C-9F28-ED07-7B041F62849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66C669-8FA4-757B-DCFD-8E6437AFACA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대상사업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383F6A0-BD1C-CD4E-F73D-F4448B86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1ACB13E-A20C-E4E5-C739-EFF20451098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C7830B-FAC4-93F2-E1CD-74095BD06CD9}"/>
              </a:ext>
            </a:extLst>
          </p:cNvPr>
          <p:cNvSpPr txBox="1"/>
          <p:nvPr/>
        </p:nvSpPr>
        <p:spPr>
          <a:xfrm>
            <a:off x="1080000" y="1671816"/>
            <a:ext cx="10800000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대상사업은 총사업비가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억원 이상이고 국가의 재정 지원 규모가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억원 이상인 신규사업으로서 다음 각호의 어느 하나에 해당하는 대규모 사업을 말함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건설공사가 포함된 사업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지능정보화기본법에 따른 지능정보화사업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과학기술기본법에 따른 국가연구 개발사업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사회복지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 및 관광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 보호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농림해양수산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중소기업 분야의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중기사업계획서에 의한 재정지출이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억원 이상 수반되는 신규사업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6022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DB8F-FB98-4208-5868-E249BE71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EE1C06E-86A1-D3E2-3137-346FF391DA2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E39928-E859-0633-FA79-02A9A897601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56A9C-21CE-C0B8-6A19-B42B295259A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7C334-AB0E-5C93-177F-2112AF60357D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대상사업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4EF1541-CB98-EBB0-16A7-FA8D7629C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DF2AF40-F6D0-E500-F401-7090B20CA9E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08C9A9-B78D-32FD-41DB-B09DCCD27EE1}"/>
              </a:ext>
            </a:extLst>
          </p:cNvPr>
          <p:cNvSpPr txBox="1"/>
          <p:nvPr/>
        </p:nvSpPr>
        <p:spPr>
          <a:xfrm>
            <a:off x="1080000" y="1671816"/>
            <a:ext cx="108000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예비타당성 조사는 국가 직접시행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대행사업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지방자치단체 보조사업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민간투자사업 등 정부재원이 포함되는 모든 사업에 적용되며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대상사업의 단위는 원칙적으로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기준으로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기재부장관은 중앙관서의 장의 신청에 따라 또는 직권으로 대상사업을 선정할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국회가 의결로 요구하는 사업에 대해서는 예비타당성 조사를 실시해야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예비타당성 조사결과는 요약하여 국회 소관 상임위원회와 예산결산특별위원회에 제출해야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23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5A530-7900-A3C5-90CE-FDCEFE9A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E93ABDF-ABF4-E85B-60C5-D9D185297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344A04-A3BF-590F-D862-E34B77E77CB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CFEB1-7FE4-5578-746B-8278A9BADDF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7644B-DCB6-AF02-3076-D976B586D34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대상사업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A8336E-8464-40D4-C4E6-9D0B9C6E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0AE687-273C-5FAD-7463-B0039F1235C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47CE46-5D16-5561-9CDB-C123608F412C}"/>
              </a:ext>
            </a:extLst>
          </p:cNvPr>
          <p:cNvSpPr txBox="1"/>
          <p:nvPr/>
        </p:nvSpPr>
        <p:spPr>
          <a:xfrm>
            <a:off x="1080000" y="1671816"/>
            <a:ext cx="10800000" cy="425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불필요한 예산 낭비와 사업 지연 등을 방지하고 효율적인 운영을 위해 다음의 사업에 대해서는 예비타당성 조사 대상에서 제외함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공공청사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교정시설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중등 교육시설의 신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증축사업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문화재 복원사업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안보에 관계되거나 보안이 필요한 국방 관련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남북교류 협력에 관계되거나 국가 간 협약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조항에 따라 추진하는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 유지보수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노후 상수도 계량 등 기존 시설의 효용 증진을 위한 단순개량 및 유지보수사업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재난복구 지원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시설 안전성 확보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식품 안전 문제 등으로 시급한 추진이 필요한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재난 예방을 위하여 시급한 추진이 필요한 사업으로서 국회 소관 상임위원회의 동의를 받은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법령에 따라 추진하여야 하는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출연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보조기관의 인건비 및 경상비 지원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융자 사업 등과 같이 예비 타당성 조사의 실익이 없는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지역균형 발전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긴급한 경제</a:t>
            </a:r>
            <a:r>
              <a:rPr lang="en-US" altLang="ko-KR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1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상황 대응 등을 위하여 국가 정책적으로 추진이 필요한 사업으로서 다음의 요건을 모두 갖춘 사업</a:t>
            </a:r>
            <a:endParaRPr lang="en-US" altLang="ko-KR" sz="1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9648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219D-D950-1D9C-8EEF-BBEEF97C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21C94CC-857B-EA65-6F89-E781B06F286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8366D0-68E1-63ED-006B-65DF2C4CE48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3CCFC-F55C-ADA6-251E-41C66C43D16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41EA13-EB0A-9AA1-7881-9D921A8ADBC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6B67F5D-2495-30D0-F5E6-50F2054B0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27C97F9-34D5-C398-EA81-8C2CABFEA0D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660E49D-B4A0-2BE9-2667-EA50B4751F79}"/>
              </a:ext>
            </a:extLst>
          </p:cNvPr>
          <p:cNvSpPr txBox="1"/>
          <p:nvPr/>
        </p:nvSpPr>
        <p:spPr>
          <a:xfrm>
            <a:off x="1080000" y="1671816"/>
            <a:ext cx="10800000" cy="348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사업의 개요 및 기초 자료를 정리하고 사업분석의 쟁점을 부각시킴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조사 대상 사업의 추진 배경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기대효과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 현황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유사시설 사례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공학적 자료조사 및 분석 등 제공된 기초자료를 검토해 조사의 쟁점 및 대안을 도출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둘째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예비타당성 조사 분석방법은 경제성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지역균형발전 분석에 대한 평가결과를 종합적으로 고려하여 조사결과를 제시함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종합평가에 사용되는 기법은 다기준분석법인 계층화 분석법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(Analytical Hierarchy Process)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기법을 활용해 사업시행의 적절성을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계량화된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수치로 도출함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7203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3F68-9F40-252E-AF62-3DF4B30AB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968C11D-1D0E-9C6C-AB22-EF25B6EAA76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34949C-7588-8660-BA52-B379620B4CC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2F457-5423-8255-2460-A678092B1D3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0EDF20-EFFE-3C91-EC33-D2A9059B846F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59820C4-0A6A-FF5F-8415-0B5036052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7914E9-E468-0D96-3790-A923FA44F3E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AB0244-6FC8-6E25-89C5-3662AD55D808}"/>
              </a:ext>
            </a:extLst>
          </p:cNvPr>
          <p:cNvSpPr txBox="1"/>
          <p:nvPr/>
        </p:nvSpPr>
        <p:spPr>
          <a:xfrm>
            <a:off x="1080000" y="1671816"/>
            <a:ext cx="10800000" cy="348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셋째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경제성 분석은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편익분석을 기본적 방법론으로 활용하며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시행에 따른 수요를 추정하여 편익 항목을 계산하고 총사업비와 해당 사업 운영에 필요한 모든 경비를 합하여 비용을 산정함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기타 재정사업 등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편익분석이 적합하지 않다고 판단되는 사업의 경우에는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 분석을 실시할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넷째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분석은 해당 사업과 관련된 사업추진 여건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특수평가 항목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평가 항목들을 정량적 또는 정성적으로 분석함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특수평가 항목은 재원조달 위험성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문화재 가치 등 개별 사업의 특성과 관련된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658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EEA0-1CBE-9940-B23E-0C1AC3E8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42C66A2-336D-60A0-617E-60F8EE8370B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CAC4A9-44D7-4DE2-A942-2B70ECA84AD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72CA3F-EE9E-B682-5E29-82F1642B895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19627-8A2C-1B9B-6B65-B0AB404FDB3E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B666386-FB0C-3B41-7F99-400C0DB8E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E1ADEF7-8436-4B39-C0DF-2060D9DE5E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0734CF-1ACA-D009-A276-9CFEB02F18C1}"/>
              </a:ext>
            </a:extLst>
          </p:cNvPr>
          <p:cNvSpPr txBox="1"/>
          <p:nvPr/>
        </p:nvSpPr>
        <p:spPr>
          <a:xfrm>
            <a:off x="1080000" y="1671816"/>
            <a:ext cx="10800000" cy="348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다섯째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지역균형발전 분석은 지역 간 불균형 상태의 심화를 방지하고 지역 간 형평성 제고를 위해 지역 낙후도 개선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지역경제 파급효과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고용유발 효과 등 지역 개발에 미치는 요인을 분석함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여섯째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종합평가는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계층화 분석법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(AHP)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활용하여 참여 연구진의 의견을 종합한 뒤 사업 시행의 적정성을 계량화함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지역균형발전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등에 대한 평가 가중치는 특별한 사유가 없는 한 사업 유형별로 정해진 가중치 범위 내에서 적용함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통상적으로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0.5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이상이면 사업시행이 바람직한 것으로 해석함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22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C293-6074-86E0-113E-8FF28F53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38B00FB-52C6-C682-3FA8-2F515FF81BA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70B248-CB36-91F3-5C40-E0638A1E936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D4778-880D-CBC8-7B8B-C9C1574D7D4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E14488-E164-D0A5-B1BC-FD268E541C7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870F5C-F06B-4E9F-BE53-84A18F811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03D74F5-0A1E-9C90-E7FC-DF569830F43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4227582-3780-16EC-521C-5BA648870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649" y="1523674"/>
            <a:ext cx="4894319" cy="45398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A86D22-3F9B-3090-4672-88EBFB418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32" y="2377748"/>
            <a:ext cx="5226613" cy="301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19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5BAD-57F9-926F-F445-E4B4C079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124B4F-5ADA-D495-EB7A-27734AAE303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C88DC-014F-3FCC-F5ED-29CBD4620F3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65533-6D4D-CC88-3845-B2F3070BE37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681CF-08B8-C8A1-58DD-292737782951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EC2B6F-CB94-5BD9-855D-2CF2D6027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0D29B06-B89E-993B-3ED1-7C2F1BD61E5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F65387-DF4A-2ADE-F3EF-1EA192DAAE76}"/>
              </a:ext>
            </a:extLst>
          </p:cNvPr>
          <p:cNvSpPr txBox="1"/>
          <p:nvPr/>
        </p:nvSpPr>
        <p:spPr>
          <a:xfrm>
            <a:off x="1080000" y="1671816"/>
            <a:ext cx="10800000" cy="370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평가항목별 계층구조를 형성하고 쌍대비교를 통하여 대안을 평가하는 방법임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대안의 속성이 무형인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척도를 고안하기 어려움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대안의 선택을 위해서는 정확한 점수보다 상대적인 측정치가 중요한 경우가 많음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(Brunelli, 2015:1-3)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Satty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Weber-Fechner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법칙과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Miller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실험을 바탕으로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 척도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상대적 중요성 척도를 제안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0F37D2-31BF-13E5-1BA6-F8D8D2A40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17718"/>
              </p:ext>
            </p:extLst>
          </p:nvPr>
        </p:nvGraphicFramePr>
        <p:xfrm>
          <a:off x="3122945" y="4047598"/>
          <a:ext cx="8282474" cy="1829247"/>
        </p:xfrm>
        <a:graphic>
          <a:graphicData uri="http://schemas.openxmlformats.org/drawingml/2006/table">
            <a:tbl>
              <a:tblPr/>
              <a:tblGrid>
                <a:gridCol w="879839">
                  <a:extLst>
                    <a:ext uri="{9D8B030D-6E8A-4147-A177-3AD203B41FA5}">
                      <a16:colId xmlns:a16="http://schemas.microsoft.com/office/drawing/2014/main" val="645390290"/>
                    </a:ext>
                  </a:extLst>
                </a:gridCol>
                <a:gridCol w="3402620">
                  <a:extLst>
                    <a:ext uri="{9D8B030D-6E8A-4147-A177-3AD203B41FA5}">
                      <a16:colId xmlns:a16="http://schemas.microsoft.com/office/drawing/2014/main" val="4107766503"/>
                    </a:ext>
                  </a:extLst>
                </a:gridCol>
                <a:gridCol w="4000015">
                  <a:extLst>
                    <a:ext uri="{9D8B030D-6E8A-4147-A177-3AD203B41FA5}">
                      <a16:colId xmlns:a16="http://schemas.microsoft.com/office/drawing/2014/main" val="976667201"/>
                    </a:ext>
                  </a:extLst>
                </a:gridCol>
              </a:tblGrid>
              <a:tr h="2645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척 도</a:t>
                      </a:r>
                      <a:endParaRPr lang="ko-KR" altLang="en-US" sz="95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정 의</a:t>
                      </a:r>
                      <a:endParaRPr lang="ko-KR" altLang="en-US" sz="95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설 명</a:t>
                      </a:r>
                      <a:endParaRPr lang="ko-KR" altLang="en-US" sz="95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049056"/>
                  </a:ext>
                </a:extLst>
              </a:tr>
              <a:tr h="1945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1</a:t>
                      </a:r>
                      <a:endParaRPr 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동등하게 중요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(equal)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marR="0" indent="-800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두 개의 요소가 차상위목표의 기준에서 볼 때 똑같이 중요</a:t>
                      </a:r>
                      <a:endParaRPr lang="ko-KR" alt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40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3</a:t>
                      </a:r>
                      <a:endParaRPr 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약간 더 중요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(</a:t>
                      </a: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weak)</a:t>
                      </a:r>
                      <a:endParaRPr 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한 요소가 다른 요소보다 약간 더 중요</a:t>
                      </a:r>
                      <a:endParaRPr lang="ko-KR" alt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625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5</a:t>
                      </a:r>
                      <a:endParaRPr 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더욱더 중요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(</a:t>
                      </a: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strong)</a:t>
                      </a:r>
                      <a:endParaRPr 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한 요소가 다른 요소보다 더욱 더 중요</a:t>
                      </a:r>
                      <a:endParaRPr lang="ko-KR" alt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67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7</a:t>
                      </a:r>
                      <a:endParaRPr 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대단히 더 중요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(</a:t>
                      </a: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very strong)</a:t>
                      </a:r>
                      <a:endParaRPr 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6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한 요소가 다른 요소보다 대단히 더 중요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16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9</a:t>
                      </a:r>
                      <a:endParaRPr lang="en-US" sz="1100" kern="0" spc="-5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절대적으로 중요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(absolute)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740" marR="0" indent="-787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‧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다른 요소에 비하여 비교할 수 없을 정도로 절대적으로 중요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309801"/>
                  </a:ext>
                </a:extLst>
              </a:tr>
              <a:tr h="258191">
                <a:tc gridSpan="3">
                  <a:txBody>
                    <a:bodyPr/>
                    <a:lstStyle/>
                    <a:p>
                      <a:pPr marL="363220" marR="0" indent="-18161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1610" algn="l"/>
                          <a:tab pos="181610" algn="l"/>
                        </a:tabLst>
                      </a:pPr>
                      <a:r>
                        <a:rPr lang="ko-KR" altLang="en-US" sz="1100" kern="0" spc="-6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자료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: </a:t>
                      </a: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Satty</a:t>
                      </a: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Yoon가변 윤명조 310_TT"/>
                          <a:ea typeface="Yoon가변 윤명조 310_TT"/>
                        </a:rPr>
                        <a:t> &amp; Vargas, The Logic of Priorities(RWS Publication, 1991), p.24.</a:t>
                      </a:r>
                      <a:endParaRPr lang="en-US" sz="1100" kern="0" dirty="0">
                        <a:solidFill>
                          <a:srgbClr val="000000"/>
                        </a:solidFill>
                        <a:effectLst/>
                        <a:latin typeface="Yoon가변 윤명조 310_TT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A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05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81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7566-55D0-C3BF-1920-3C1D2C41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B80C271-4BE5-AFC9-614E-7470EC1771C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47B4C-5F03-6368-A426-9AB7A0F98A7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4C1DE-1C0C-6A04-6053-E0D542CDECE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0BAC4-BB4D-F37D-438E-B3EB289D10A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729C9B-1E03-7883-7148-6F040F48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44F4D0-E39C-389B-7B31-8646F510EE8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래픽 35">
            <a:extLst>
              <a:ext uri="{FF2B5EF4-FFF2-40B4-BE49-F238E27FC236}">
                <a16:creationId xmlns:a16="http://schemas.microsoft.com/office/drawing/2014/main" id="{DE841421-E5C9-8B55-F5D7-BC67F8315E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200" y="1680959"/>
            <a:ext cx="8229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7620-AD79-64E0-C602-055C318F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8A38C7-0C29-2E48-E532-F0D49367822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4F3AFF-33A9-E85F-754D-76844FCB04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2114FE-2860-21BB-BB15-F640E248F26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A0696A-7FBE-55F0-F43A-D69B3996280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5ED919E-7F68-9B5D-D056-DAD9CB6C9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1125CA-D87C-5237-D835-4866B7A9098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28C769-0D36-EAF6-274C-AA7AAD540A55}"/>
              </a:ext>
            </a:extLst>
          </p:cNvPr>
          <p:cNvSpPr txBox="1"/>
          <p:nvPr/>
        </p:nvSpPr>
        <p:spPr>
          <a:xfrm>
            <a:off x="1080000" y="1671816"/>
            <a:ext cx="108000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계층구조의 작성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의사결정은 평가기준에 따라 대안을 선택하는 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평가기준의 가중치를 선정하고 평가기준을 바탕으로 대안의 선호도를 판단하여 최적 대안을 선정하는 것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에서는 이상의 과정을 체계화하기 위해 평가기준 간 계층구조를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수준의 평가 요소는 명확하게 정의하고 설명하여 개념인식의 차이로 인한 응답자간 편차를 최소화해야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비전문가를 대상으로 하는 경우 평가요소에 대한 합의가 어렵기 때문에 계층구조를 세분화할 필요가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동일한 수준의 평가요소 또는 대안은 독립성을 유지해야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791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A5BF3-1D7C-6B65-E1D2-3492147E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CBF292-4993-E526-8100-AFE923A9883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4ED407-AC5B-5B97-CADF-AB401A26422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54CFD2-51D8-85CE-76E4-02CDA2D38E9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C7B726-B25F-CCDA-6830-2D41B1E6E116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AFE0EB-0FAE-E04B-C345-F9BC48BA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95C0A55-E4E9-449F-5B35-986EC3366E9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6">
            <a:extLst>
              <a:ext uri="{FF2B5EF4-FFF2-40B4-BE49-F238E27FC236}">
                <a16:creationId xmlns:a16="http://schemas.microsoft.com/office/drawing/2014/main" id="{91C71E98-97CA-72F6-22CE-B9940F568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809" y="1757290"/>
            <a:ext cx="7542381" cy="3642784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2322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0A65-4FDB-C9F1-1243-82FBB32D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E370488-3BD2-68C9-8910-52BCA5FD56B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85B33D-404B-BBE2-A418-02D415DF930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22F44-74DA-682A-74E5-34DD6BB7BEF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44E9F-6299-E851-25D6-0BDA9525FA11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DCB60AD-8163-9750-C432-00EA0375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1E1498-5C14-C945-8E61-E78A5E4F073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AC12DCB-54FA-123D-2D19-72BC172FD5FC}"/>
              </a:ext>
            </a:extLst>
          </p:cNvPr>
          <p:cNvSpPr txBox="1"/>
          <p:nvPr/>
        </p:nvSpPr>
        <p:spPr>
          <a:xfrm>
            <a:off x="1080000" y="1671816"/>
            <a:ext cx="10800000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쌍대비교를 통한 가중치 결정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쌍대비교는 동일 계층 내 요소 간 상대적 중요성을 결정할 때 사용하는 방법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89F606-CB75-0E9F-7BDD-6C7B2ACED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597" y="2772716"/>
            <a:ext cx="8181541" cy="336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65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A9342-4569-A25D-3853-B6622740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DDE3B1F-4427-F56D-C877-8BA7411929A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C5AC7A-1503-24CD-C05E-284E1B24CEB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BD0EC4-D078-40C3-8080-AB89B188643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35CA0-921D-6465-F640-5C132B835E9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2CC65F-7AC2-DAB8-E7F0-C67433242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E8B6D9-98E5-C219-E05C-C1311B298AD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F8F60F65-1793-12BD-12BD-AFD6DB4BF1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473"/>
          <a:stretch/>
        </p:blipFill>
        <p:spPr>
          <a:xfrm>
            <a:off x="828215" y="3107508"/>
            <a:ext cx="3982198" cy="1371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8BFF3BD-10E4-1826-DD89-BCBE348E7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13" y="1874283"/>
            <a:ext cx="2051824" cy="11151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A38CACA-B6DC-66F0-74D1-8976DAF36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6218" y="2033808"/>
            <a:ext cx="1784195" cy="5575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E38FBB-F5E0-D73C-B532-1A4FCF5B7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13" y="4816393"/>
            <a:ext cx="5263376" cy="11820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6AE383-E70A-1201-A2B0-9EC48AD25500}"/>
                  </a:ext>
                </a:extLst>
              </p:cNvPr>
              <p:cNvSpPr txBox="1"/>
              <p:nvPr/>
            </p:nvSpPr>
            <p:spPr>
              <a:xfrm>
                <a:off x="5941317" y="1523674"/>
                <a:ext cx="6096000" cy="4214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행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렬 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A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에 평가항목간 상대적 중요도를 나타내는 </a:t>
                </a:r>
                <a:r>
                  <a:rPr lang="ko-KR" altLang="en-US" dirty="0" err="1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열벡터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𝒘</m:t>
                    </m:r>
                    <m:r>
                      <a: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를 곱하면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A</m:t>
                    </m:r>
                    <m:r>
                      <a: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𝒘</m:t>
                    </m:r>
                    <m:r>
                      <a: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=</m:t>
                    </m:r>
                    <m:r>
                      <a:rPr lang="en-US" altLang="ko-KR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𝑛</m:t>
                    </m:r>
                    <m:r>
                      <a: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rPr>
                      <m:t>𝒘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가 성립함</a:t>
                </a:r>
                <a:endParaRPr lang="en-US" altLang="ko-KR" dirty="0">
                  <a:latin typeface="경기천년제목 Light" panose="02020403020101020101" pitchFamily="18" charset="-127"/>
                  <a:ea typeface="경기천년제목 Light" panose="020204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이는 우선순위 판단의 문제는 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n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차 연립방정식에서 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non-zero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의 해를 구하는 고유치 문제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(eigenvalue problem)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임을 시사함</a:t>
                </a:r>
                <a:endParaRPr lang="en-US" altLang="ko-KR" dirty="0">
                  <a:latin typeface="경기천년제목 Light" panose="02020403020101020101" pitchFamily="18" charset="-127"/>
                  <a:ea typeface="경기천년제목 Light" panose="020204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결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국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𝑛𝐼</m:t>
                        </m:r>
                      </m:e>
                    </m:d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을 만족하는 </a:t>
                </a:r>
                <a:r>
                  <a:rPr lang="ko-KR" altLang="en-US" dirty="0" err="1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零벡터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 아닌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를 구하는 문제임</a:t>
                </a:r>
                <a:endParaRPr lang="en-US" altLang="ko-KR" dirty="0">
                  <a:latin typeface="경기천년제목 Light" panose="02020403020101020101" pitchFamily="18" charset="-127"/>
                  <a:ea typeface="경기천년제목 Light" panose="020204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이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i="1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</m:func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을 만족하는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에 대응하는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는</a:t>
                </a:r>
                <a:r>
                  <a:rPr lang="ko-KR" altLang="en-US" b="1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 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무수히 많이 존재 가능할 수 있으므로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,</a:t>
                </a:r>
                <a:r>
                  <a:rPr lang="en-US" altLang="ko-KR" b="1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 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가장 큰 값인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에 대응하는 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eigenvector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를 그 합이 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1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이 되도록 </a:t>
                </a:r>
                <a:r>
                  <a:rPr lang="en-US" altLang="ko-KR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normalize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하여 </a:t>
                </a:r>
                <a:r>
                  <a:rPr lang="ko-KR" altLang="en-US" b="1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우선순위벡터</a:t>
                </a:r>
                <a:r>
                  <a:rPr lang="ko-KR" altLang="en-US" dirty="0">
                    <a:latin typeface="경기천년제목 Light" panose="02020403020101020101" pitchFamily="18" charset="-127"/>
                    <a:ea typeface="경기천년제목 Light" panose="02020403020101020101" pitchFamily="18" charset="-127"/>
                  </a:rPr>
                  <a:t>로 활용</a:t>
                </a:r>
                <a:endParaRPr lang="en-US" altLang="ko-KR" dirty="0">
                  <a:latin typeface="경기천년제목 Light" panose="02020403020101020101" pitchFamily="18" charset="-127"/>
                  <a:ea typeface="경기천년제목 Light" panose="02020403020101020101" pitchFamily="18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6AE383-E70A-1201-A2B0-9EC48AD25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317" y="1523674"/>
                <a:ext cx="6096000" cy="4214487"/>
              </a:xfrm>
              <a:prstGeom prst="rect">
                <a:avLst/>
              </a:prstGeom>
              <a:blipFill>
                <a:blip r:embed="rId8"/>
                <a:stretch>
                  <a:fillRect l="-700" b="-1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600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51E1-7818-CC0F-F124-7E38AD3F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B6F5A5F-6BDF-7C9D-BDDD-658DEC3F6A0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7F480E-9013-1B1D-8A2E-03F96B043C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B1AC6-D28D-8256-307C-A875218DB09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90EB2F-01AC-2E30-8ED3-CE4132676C7D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34ED7CC-B508-5FC5-8373-A8CD4E14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1DC4023-63CA-6E57-F337-B061C771AC3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B727F747-86A5-A160-EA9D-15285AD86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672" y="1370515"/>
            <a:ext cx="8614395" cy="476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4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E6E0-755A-C5EE-4318-5950F650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1F75D6-F79C-F62A-217A-D935A2153FD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E0930-9FA5-83C6-8D8D-BD80887768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E5943-68E8-7B33-FCC0-B1F038E25E7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ADEF84-0E34-6836-8168-4C289E2BD03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0EC9197-FBE3-695A-4562-48AA85C4C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B0CA07-F56D-429C-1B68-7B86F910D10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C7C4C7DF-B050-5C5A-81BE-8001BEDEA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235" y="1297920"/>
            <a:ext cx="7117529" cy="477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10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B4A8-1785-8534-21B8-8FFAF9DB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BB00D36-56D3-9072-34B0-9FFBCED6CC1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30B170-65C6-9467-40E1-8BACA87771B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2D7741-F4E8-3B0F-628A-41600FA6EF4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9C1C6-8F2A-7FA0-BE13-52579A1A877F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예비타당성조사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7D7C99D-29BF-548D-35BB-E6E1B43D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530235-7270-5DDF-FA23-543FE49AA5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1FF94B5-7F92-9E4E-727A-B2D09B35680A}"/>
              </a:ext>
            </a:extLst>
          </p:cNvPr>
          <p:cNvSpPr txBox="1"/>
          <p:nvPr/>
        </p:nvSpPr>
        <p:spPr>
          <a:xfrm>
            <a:off x="1080000" y="1671816"/>
            <a:ext cx="10291152" cy="4329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쌍대비교 종합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계층과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계층의 우선순위벡터가 구해지면 이를 종합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일관성 검증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쌍대비교가 일관성을 얼마나 만족하는지를 검증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완전한 일관성을 만족하는 행렬에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비일관성을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초래할 수 있는 약간의 변동을 주면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𝜆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_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𝑚𝑎𝑥 값은 𝑛 보다 약간 크게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Satty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1994)</a:t>
            </a:r>
            <a:endParaRPr lang="ko-KR" altLang="en-US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2A32AA-E88B-5C7C-2442-F5809AEEB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753" y="2464221"/>
            <a:ext cx="7407282" cy="16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65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BD5E2-2D5E-4303-6D90-0DAD2345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25DDE1-87DD-C61C-C572-8DA097D11DD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87C304-D364-C8DD-C1DB-6640AE60811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FB1970-FB5D-CDB8-7FCF-E334CC678FE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A7D29-9583-B7BF-F697-ED1009945386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BE39188-6292-6AF7-3CC7-08935F71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BF51736-E8CE-4EFF-0904-03AD80C07F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E185B3-6F2B-1D0D-1233-396A50639651}"/>
                  </a:ext>
                </a:extLst>
              </p:cNvPr>
              <p:cNvSpPr txBox="1"/>
              <p:nvPr/>
            </p:nvSpPr>
            <p:spPr>
              <a:xfrm>
                <a:off x="1080000" y="1671816"/>
                <a:ext cx="10291152" cy="4075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𝐶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.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𝐼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=(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𝜆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_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𝑚𝑎𝑥−𝑛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)/(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𝑛−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1)    ( 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이때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, 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𝜆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_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𝑚𝑎𝑥−𝑛는 </a:t>
                </a:r>
                <a:r>
                  <a:rPr lang="ko-KR" altLang="en-US" sz="2400" dirty="0" err="1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비일관성의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 정도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)</a:t>
                </a:r>
              </a:p>
              <a:p>
                <a:pPr marL="457200" indent="-457200">
                  <a:lnSpc>
                    <a:spcPct val="13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한편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, 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무작위 응답을 했을 경우 𝐶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.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𝐼 값이 𝑅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.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𝐼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(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𝑟𝑎𝑛𝑑𝑜𝑚 𝑖𝑛𝑑𝑒𝑥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)</a:t>
                </a:r>
              </a:p>
              <a:p>
                <a:pPr marL="457200" indent="-457200">
                  <a:lnSpc>
                    <a:spcPct val="13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altLang="ko-KR" sz="2400" dirty="0">
                  <a:solidFill>
                    <a:srgbClr val="404040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KoPubWorld돋움체 Bold" panose="020B0600000101010101" charset="-127"/>
                </a:endParaRPr>
              </a:p>
              <a:p>
                <a:pPr marL="457200" indent="-457200">
                  <a:lnSpc>
                    <a:spcPct val="13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altLang="ko-KR" sz="2400" dirty="0">
                  <a:solidFill>
                    <a:srgbClr val="404040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KoPubWorld돋움체 Bold" panose="020B0600000101010101" charset="-127"/>
                </a:endParaRPr>
              </a:p>
              <a:p>
                <a:pPr marL="457200" indent="-457200">
                  <a:lnSpc>
                    <a:spcPct val="13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altLang="ko-KR" sz="2400" dirty="0">
                  <a:solidFill>
                    <a:srgbClr val="404040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KoPubWorld돋움체 Bold" panose="020B0600000101010101" charset="-127"/>
                </a:endParaRPr>
              </a:p>
              <a:p>
                <a:pPr marL="342900" indent="-342900" fontAlgn="base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비</m:t>
                    </m:r>
                  </m:oMath>
                </a14:m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일관성비율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𝐶</m:t>
                    </m:r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.</m:t>
                    </m:r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𝑅</m:t>
                    </m:r>
                  </m:oMath>
                </a14:m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</m:ctrlPr>
                      </m:fPr>
                      <m:num>
                        <m: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  <m:t>𝐶</m:t>
                        </m:r>
                        <m: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  <m:t>.</m:t>
                        </m:r>
                        <m: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  <m:t>𝐼</m:t>
                        </m:r>
                      </m:num>
                      <m:den>
                        <m: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  <m:t>𝑅</m:t>
                        </m:r>
                        <m: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  <m:t>.</m:t>
                        </m:r>
                        <m:r>
                          <a:rPr lang="en-US" altLang="ko-KR" sz="2400">
                            <a:solidFill>
                              <a:srgbClr val="404040"/>
                            </a:solidFill>
                            <a:latin typeface="경기천년제목 Light" panose="02020403020101020101" pitchFamily="18" charset="-127"/>
                            <a:ea typeface="경기천년제목 Light" panose="02020403020101020101" pitchFamily="18" charset="-127"/>
                            <a:cs typeface="KoPubWorld돋움체 Bold" panose="020B0600000101010101" charset="-127"/>
                          </a:rPr>
                          <m:t>𝐼</m:t>
                        </m:r>
                      </m:den>
                    </m:f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 </m:t>
                    </m:r>
                  </m:oMath>
                </a14:m>
                <a:endParaRPr lang="en-US" altLang="ko-KR" sz="2400" dirty="0">
                  <a:solidFill>
                    <a:srgbClr val="404040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KoPubWorld돋움체 Bold" panose="020B0600000101010101" charset="-127"/>
                </a:endParaRPr>
              </a:p>
              <a:p>
                <a:pPr marL="342900" indent="-342900" fontAlgn="base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4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일</m:t>
                    </m:r>
                  </m:oMath>
                </a14:m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반적으로 </a:t>
                </a:r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AHP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에서는 </a:t>
                </a:r>
                <a14:m>
                  <m:oMath xmlns:m="http://schemas.openxmlformats.org/officeDocument/2006/math"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𝐶</m:t>
                    </m:r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.</m:t>
                    </m:r>
                    <m:r>
                      <a:rPr lang="en-US" altLang="ko-KR" sz="240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𝑅</m:t>
                    </m:r>
                  </m:oMath>
                </a14:m>
                <a:r>
                  <a:rPr lang="en-US" altLang="ko-KR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 </a:t>
                </a:r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값이 </a:t>
                </a:r>
                <a14:m>
                  <m:oMath xmlns:m="http://schemas.openxmlformats.org/officeDocument/2006/math">
                    <m:r>
                      <a:rPr lang="en-US" altLang="ko-KR" sz="24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0.1</m:t>
                    </m:r>
                  </m:oMath>
                </a14:m>
                <a:r>
                  <a:rPr lang="ko-KR" altLang="en-US" sz="24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이하를 충족하는 것이 </a:t>
                </a:r>
                <a:r>
                  <a:rPr lang="ko-KR" altLang="en-US" sz="2400" dirty="0" err="1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바람직</a:t>
                </a:r>
                <a:endParaRPr lang="en-US" altLang="ko-KR" sz="2400" dirty="0">
                  <a:solidFill>
                    <a:srgbClr val="404040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KoPubWorld돋움체 Bold" panose="020B0600000101010101" charset="-12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E185B3-6F2B-1D0D-1233-396A5063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1671816"/>
                <a:ext cx="10291152" cy="4075475"/>
              </a:xfrm>
              <a:prstGeom prst="rect">
                <a:avLst/>
              </a:prstGeom>
              <a:blipFill>
                <a:blip r:embed="rId4"/>
                <a:stretch>
                  <a:fillRect l="-770" b="-23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BA8CAFA-B33D-6BD1-5790-5205677E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612" y="2832946"/>
            <a:ext cx="6364776" cy="170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28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D998-B225-D92C-43BC-18C1DAC2E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978A747-E7F7-6A73-73D3-C6A8848A2B1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44D90C-0B3E-2DC9-E807-B8F3A6354BF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46B99-2DC8-08CE-B733-4AECC7B56E0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56578-FEAA-F747-9B9E-FA8095BFA77D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분석방법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6C03E4-EE56-0CCA-4A5E-53BE807E1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CA1EC82-E6FA-58DD-64E7-95C6F95A3D1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1F259E-536D-FAF3-D59C-3D0261816405}"/>
              </a:ext>
            </a:extLst>
          </p:cNvPr>
          <p:cNvSpPr txBox="1"/>
          <p:nvPr/>
        </p:nvSpPr>
        <p:spPr>
          <a:xfrm>
            <a:off x="1080000" y="1671816"/>
            <a:ext cx="10291152" cy="2040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종합순위 선정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그룹의사결정을 종합하는 다양한 방법이 있으나 대표적인 것이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AIP(Aggregate Individual Priorities)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AIJ(Aggregate Individual Judgement)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871C031-7C88-E58D-07FE-47E584369B45}"/>
              </a:ext>
            </a:extLst>
          </p:cNvPr>
          <p:cNvGrpSpPr/>
          <p:nvPr/>
        </p:nvGrpSpPr>
        <p:grpSpPr>
          <a:xfrm>
            <a:off x="2592353" y="3357744"/>
            <a:ext cx="6545610" cy="2114267"/>
            <a:chOff x="1756395" y="4117745"/>
            <a:chExt cx="6545610" cy="211426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7259397-A808-F603-BAF2-E04E8AEC2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00787" y="4222237"/>
              <a:ext cx="4333875" cy="20097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692F31C-5273-BC70-782D-FCBD1E939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6395" y="4939330"/>
              <a:ext cx="1471961" cy="7694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1009C1D-473F-5478-610E-0A3C2A54B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51625" y="4117745"/>
              <a:ext cx="1650380" cy="82519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81A8D7-E581-672A-9A7E-005979BF4925}"/>
                  </a:ext>
                </a:extLst>
              </p:cNvPr>
              <p:cNvSpPr txBox="1"/>
              <p:nvPr/>
            </p:nvSpPr>
            <p:spPr>
              <a:xfrm>
                <a:off x="5108706" y="4103671"/>
                <a:ext cx="4916581" cy="1895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fontAlgn="base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이</a:t>
                </a:r>
                <a14:m>
                  <m:oMath xmlns:m="http://schemas.openxmlformats.org/officeDocument/2006/math"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때</m:t>
                    </m:r>
                    <m:r>
                      <a:rPr lang="en-US" altLang="ko-KR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 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𝜆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는</m:t>
                    </m:r>
                    <m:r>
                      <a:rPr lang="en-US" altLang="ko-KR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 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개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인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별</m:t>
                    </m:r>
                    <m:r>
                      <a:rPr lang="en-US" altLang="ko-KR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 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가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중</m:t>
                    </m:r>
                    <m:r>
                      <a:rPr lang="ko-KR" altLang="en-US" sz="1600" dirty="0">
                        <a:solidFill>
                          <a:srgbClr val="404040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  <a:cs typeface="KoPubWorld돋움체 Bold" panose="020B0600000101010101" charset="-127"/>
                      </a:rPr>
                      <m:t>치</m:t>
                    </m:r>
                  </m:oMath>
                </a14:m>
                <a:endParaRPr lang="en-US" altLang="ko-KR" sz="1600" dirty="0">
                  <a:solidFill>
                    <a:srgbClr val="404040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KoPubWorld돋움체 Bold" panose="020B0600000101010101" charset="-127"/>
                </a:endParaRPr>
              </a:p>
              <a:p>
                <a:pPr marL="342900" indent="-342900" fontAlgn="base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AIJ</a:t>
                </a:r>
                <a:r>
                  <a:rPr lang="ko-KR" altLang="en-US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는 개인별 가중치를 활용하여 구한 기하평균으로 </a:t>
                </a:r>
                <a:r>
                  <a:rPr lang="ko-KR" altLang="en-US" sz="1600" dirty="0" err="1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쌍대비교행렬</a:t>
                </a:r>
                <a:r>
                  <a:rPr lang="ko-KR" altLang="en-US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 생성 </a:t>
                </a:r>
                <a:r>
                  <a:rPr lang="en-US" altLang="ko-KR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(</a:t>
                </a:r>
                <a:r>
                  <a:rPr lang="ko-KR" altLang="en-US" sz="1600" dirty="0" err="1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집단쌍대행렬</a:t>
                </a:r>
                <a:r>
                  <a:rPr lang="ko-KR" altLang="en-US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 생성</a:t>
                </a:r>
                <a:r>
                  <a:rPr lang="en-US" altLang="ko-KR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)</a:t>
                </a:r>
              </a:p>
              <a:p>
                <a:pPr marL="342900" indent="-342900" fontAlgn="base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AIP</a:t>
                </a:r>
                <a:r>
                  <a:rPr lang="ko-KR" altLang="en-US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는 개인별 가중치를 활용하여 구한 가중평균으로 우선순위벡터를 생성 </a:t>
                </a:r>
                <a:r>
                  <a:rPr lang="en-US" altLang="ko-KR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(</a:t>
                </a:r>
                <a:r>
                  <a:rPr lang="ko-KR" altLang="en-US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최종가중치의 합</a:t>
                </a:r>
                <a:r>
                  <a:rPr lang="en-US" altLang="ko-KR" sz="1600" dirty="0">
                    <a:solidFill>
                      <a:srgbClr val="404040"/>
                    </a:solidFill>
                    <a:latin typeface="경기천년제목 Light" panose="02020403020101020101" pitchFamily="18" charset="-127"/>
                    <a:ea typeface="경기천년제목 Light" panose="02020403020101020101" pitchFamily="18" charset="-127"/>
                    <a:cs typeface="KoPubWorld돋움체 Bold" panose="020B0600000101010101" charset="-127"/>
                  </a:rPr>
                  <a:t>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81A8D7-E581-672A-9A7E-005979BF4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706" y="4103671"/>
                <a:ext cx="4916581" cy="1895904"/>
              </a:xfrm>
              <a:prstGeom prst="rect">
                <a:avLst/>
              </a:prstGeom>
              <a:blipFill>
                <a:blip r:embed="rId7"/>
                <a:stretch>
                  <a:fillRect l="-496" r="-496" b="-32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673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4C91-6573-282A-1662-4C17B621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83D7D1F-27AA-2B61-85A8-B7F92D93C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8" t="19216" r="9570" b="55843"/>
          <a:stretch>
            <a:fillRect/>
          </a:stretch>
        </p:blipFill>
        <p:spPr>
          <a:xfrm>
            <a:off x="1527780" y="1392067"/>
            <a:ext cx="9075175" cy="4616385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F14B224-307F-B941-80E4-E24B3756935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356AF6-C0B2-7E15-D02C-C90BF95B6E1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E7A8B-78F9-7535-B65D-FE038D8C5B5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6202D-0135-DE09-45A8-1A72688CD52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 조사의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 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5A5119C-BA08-EF41-7999-913C24AA8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D5A00A1-8E9F-7562-76B4-8F390FB31C1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090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F8B6-9BD5-26E0-5195-51BB9EE7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6F882B-130F-40B5-5CF9-C679C63C6B8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17EDF8-A788-4622-9DD7-B9C9A250C41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E27B8-42AA-CD03-A6A4-63C709C847A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A7485-B9CA-D017-39C5-F1662E26F3F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 조사의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 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BA256B9-6DAD-C667-8CB1-364BB5863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63CCC82-5A3C-F368-C3EE-73D886119A1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7D6AE06-1DE4-AFE0-9EF9-F2BF8ED1B19D}"/>
              </a:ext>
            </a:extLst>
          </p:cNvPr>
          <p:cNvSpPr txBox="1"/>
          <p:nvPr/>
        </p:nvSpPr>
        <p:spPr>
          <a:xfrm>
            <a:off x="1080000" y="1671816"/>
            <a:ext cx="10800000" cy="458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전형적인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다르게 예비타당성 조사의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대안 간 비교가 아닌 사업시행 여부에 대한 집단적 의사결정을 도출하는데 목적이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계층이 시행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미시행인 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사전에 정해진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계층의 가중치를 적용하여 개인별로 최종적인 가중치를 도출한 다음에 개인별 최종 가중치의 평균점수를 활용하여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점수를 산출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문제는 평가자 간 그리고 평가자 내에서도 다양한 변동성이 존재하고 해당 사업을 보는 관점과 이해 수준이 상이한 상태에서 단순 평균점수로 재정투입 여부를 결정하는 것은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 오류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필요하지 않은 사업을 필요하다고 판단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위험이 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AHP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점수에 대한 리스크를 설정하여 이 범위에 속한 사업에 대해서는 신중한 검토 필요성이 명시되어 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평가과정에서 제대로 활용되지 못하고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20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4C3E-4F3B-1ED4-F260-F57C646C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230EE24-FE02-2A85-36F9-BDBFE18A91F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87BB59-98EB-1AD9-CCE9-7F4204E51F1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EF2E34-F04E-20CC-9B68-913C0B1C40B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E8B24-6BE6-58B6-6633-0C1885C3E15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 조사의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 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745D2A-879E-2B2A-6C80-ED0AB8B72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D7D2385-2205-D121-83CD-F04B8FFF3CE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69024FE-6AB9-2CC7-3147-78A2D401F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19" t="72258" r="15060" b="9247"/>
          <a:stretch>
            <a:fillRect/>
          </a:stretch>
        </p:blipFill>
        <p:spPr>
          <a:xfrm>
            <a:off x="1671483" y="1818645"/>
            <a:ext cx="8672052" cy="371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2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C7B5-9C6D-72F6-1E5E-4C5F1A80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1008376-0C20-1F08-07D9-F194AA48205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B67190-3B9D-86DB-13E3-9B7EFD6C131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F0901-0B76-5530-BB4E-FD83BFFECB8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27A71-C736-D058-388B-20D09B628D65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예비타당성 조사의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AHP 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C46CED-C188-1412-6F2F-7FDDA70E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3033762-9E33-84F4-BE5D-F1D81FFB7B8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A55402-4B8F-4971-AF38-3A5A8E8858A8}"/>
              </a:ext>
            </a:extLst>
          </p:cNvPr>
          <p:cNvSpPr txBox="1"/>
          <p:nvPr/>
        </p:nvSpPr>
        <p:spPr>
          <a:xfrm>
            <a:off x="1080000" y="1671816"/>
            <a:ext cx="10800000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예비타당성 조사 면제사업 규모는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1.4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원에서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2019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36.0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원으로 크게 증가하였다가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2021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년에는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10.5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원으로 감소하였고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2022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년에는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17.2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조원으로 다시 증가 하고 있음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면제와 관련한 규정을 현실화 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서울도시철도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호선 연장사업의 경우 사업추진을 위해 최초 복선으로 제안한 사업을 단선으로 변경하여 경제성을 높여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예타를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통과함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하지만 공사가 시작된 시점에서 단선 운영에 따른 위험과 해당 지자체 주민의 민원 그리고 단선 운영 시 승무원 열차탑승 반대 등 운영과정에서 예상되는 문제점들의 제기와 함께 복선 건설을 다시 요구하고 있는 상황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대강 사업 쪼개기와 무엇이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5737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5640</TotalTime>
  <Words>1877</Words>
  <Application>Microsoft Office PowerPoint</Application>
  <PresentationFormat>와이드스크린</PresentationFormat>
  <Paragraphs>177</Paragraphs>
  <Slides>30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Yoon가변 윤명조 310_TT</vt:lpstr>
      <vt:lpstr>경기천년제목 Bold</vt:lpstr>
      <vt:lpstr>경기천년제목 Light</vt:lpstr>
      <vt:lpstr>맑은 고딕</vt:lpstr>
      <vt:lpstr>이사만루체 Bold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1132</cp:revision>
  <dcterms:created xsi:type="dcterms:W3CDTF">2025-03-10T02:54:00Z</dcterms:created>
  <dcterms:modified xsi:type="dcterms:W3CDTF">2025-11-15T06:07:34Z</dcterms:modified>
</cp:coreProperties>
</file>