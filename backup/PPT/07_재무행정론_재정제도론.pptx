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336" r:id="rId4"/>
    <p:sldId id="337" r:id="rId5"/>
    <p:sldId id="338" r:id="rId6"/>
    <p:sldId id="339" r:id="rId7"/>
    <p:sldId id="341" r:id="rId8"/>
    <p:sldId id="340" r:id="rId9"/>
    <p:sldId id="317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50" r:id="rId18"/>
    <p:sldId id="351" r:id="rId19"/>
    <p:sldId id="352" r:id="rId20"/>
    <p:sldId id="353" r:id="rId21"/>
    <p:sldId id="354" r:id="rId22"/>
    <p:sldId id="355" r:id="rId23"/>
    <p:sldId id="258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3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재무행정론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9EAF-E542-DF3A-2695-853BC9C9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D0CEF8-B52D-DB8C-1594-BB8B62C1FF5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E32A99-2B7A-AE6B-472D-3D3066666C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A155A-6C01-1457-F19B-BA4B053FEFD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BF75ED-31AA-39A9-DC85-90AE55A9CE1B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종류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D437B-3E14-B500-6DD6-4D4CE1E3EEAF}"/>
              </a:ext>
            </a:extLst>
          </p:cNvPr>
          <p:cNvSpPr txBox="1"/>
          <p:nvPr/>
        </p:nvSpPr>
        <p:spPr>
          <a:xfrm>
            <a:off x="1080000" y="1671816"/>
            <a:ext cx="10800000" cy="301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예산은 성립시기에 따라 본예산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추가경정예산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수정예산으로 나뉨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본예산은 정기국회에서 다음 회계연도 예산에 대해 의결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확정한 예산을 말함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당초예산이라고도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새로운 회계연도를 위해 최초로 성립된 예산임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단일성의 원칙에 의하면 예산은 본예산에 의해서만 집행되어야 하지만 불가피한 사유가 발생한 경우 예산을 수정할 필요가 있음 → 추가경정예산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3DBDF90-15CA-3CFA-FB7F-44240F89F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D92805-807F-CB3C-F622-91A50E3D14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5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E52E9-5552-6042-A5D2-2A8B8776E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EE7809F-B1D2-F7F4-4202-2481B40A11B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3B52D6-B691-EB96-B9F4-F058947C979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D5B128-5A41-74F9-16C9-70AC06BB6281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DC4BC6-495D-9D7F-D643-0B29FE7A28FE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종류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C9993C-6772-BAA2-E1FD-DC443142A1CF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예산이 성립된 후에 생긴 사유로 인해 이미 성립된 예산에 변경을 가할 필요가 있을 때 정부가 추가경정예산안을 편성하여 국회에 제출할 수 있음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89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정부는 국회에서 추가경정예산안이 확정되기 전에 이를 미리 배정하거나 집행할 수 없음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동조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일반적으로 예기치 못한 사유가 발생하여 예산 변경이 필요한 경우 예비비로 충당하거나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전용을 활용하지만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이것으로 감당할 수 없으면 추가경정예산안을 편성해야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2007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국가재정법 개정 이후 추경 편성은 제한적으로 허용되고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A2EBE1F-7BFE-79EA-CF49-6022C13A9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727BE53-6493-BC20-9655-730F71A1DA4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335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4477C-FE7E-E24D-2E8E-B3D9E2C0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15985D2-6AFE-BE2C-CA7B-24B97EC527D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7920F94-56CF-1EB1-EE58-771C7884BAD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E73AB3-0F6E-F123-ACD0-31C38E6E3E4C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29F9E3-2CF4-EF72-8198-872C01683330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종류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A5B2D7-371C-7FE3-DFA5-C129959FFA0E}"/>
              </a:ext>
            </a:extLst>
          </p:cNvPr>
          <p:cNvSpPr txBox="1"/>
          <p:nvPr/>
        </p:nvSpPr>
        <p:spPr>
          <a:xfrm>
            <a:off x="1080000" y="1671816"/>
            <a:ext cx="10800000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추경예산 편성이 가능한 경우는 다음 각호의 경우에 한정됨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전쟁이나 대규모 재해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「재난 및 안전관리 기본법」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조에서 정의한 자연재난과 사회재난의 발생에 따른 피해를 말한다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발생한 경우</a:t>
            </a: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경기침체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대량실업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남북관계의 변화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경제협력과 같은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대내ㆍ외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여건에 중대한 변화가 발생하였거나 발생할 우려가 있는 경우</a:t>
            </a: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법령에 따라 국가가 지급하여야 하는 지출이 발생하거나 증가하는 경우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EBAA5BB-C12A-2484-CD3F-A40FD2CB1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1E735C1-4C7D-BC07-2C92-2DE3B1C14EB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003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BE6C3-F465-39DF-6389-0CDA5E637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617EFDA-2420-6A03-90AB-BCEBC35A9E4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72FA2E-F9E5-F679-6526-8D55285005F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F642DB-5541-F46F-E3BB-96114E471FE6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9B30CD-AC02-21C7-E01E-144EE84A4445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종류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07E070-A7C2-D181-F2A3-087806CE3CDD}"/>
              </a:ext>
            </a:extLst>
          </p:cNvPr>
          <p:cNvSpPr txBox="1"/>
          <p:nvPr/>
        </p:nvSpPr>
        <p:spPr>
          <a:xfrm>
            <a:off x="1080000" y="1671816"/>
            <a:ext cx="10800000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추경예산 편성은 예산 단일성 원칙의 예외로서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빈번하게 편성될 경우 국회의 행정부에 대한 통제가 약화되고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팽창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원인이 됨 → 자제하는 것이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바람직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추경의 재원은 전년도 세계잉여금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당해 연도 세수 증가분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공기업 주식 매각 수입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한국은행 잉여금 등으로 마련하고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국채를 발행하는 경우도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추경은 본예산과 별개로 성립되지만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일단 성립되면 본예산과 추경예산은 하나로 통합되어 운영됨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F1F4E4F-59D4-13FD-219E-3843C59CB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8045B63-DD8C-DF8F-64C8-44E73F4B63C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264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AF0DE-BA56-9607-68CF-950B5C39B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B58DEFC-85B7-911D-81CC-0C185E95A73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D237FB5-DAC4-5D5B-0B6D-CA67BF76603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7D46B0-188C-4614-C35F-ACFE0A00D81D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CC88DC-C5D5-8185-875A-BBD2211F60BC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종류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40E49BC-3C10-158C-B9A0-BA9210BC4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7EC181E-3628-BE9B-B943-27D87F69079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스크린샷, 텍스트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FAEE83-AE63-6872-A14C-19069A99A4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450" y="1902638"/>
            <a:ext cx="80391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266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3F88C-9D1F-3852-528B-C3A3E855F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1D2B333-4CE7-0FD8-3DE1-802AE27DB6C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AB63710-1BBD-3612-63E2-3C3D23DA6BE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67D288-DC48-2EAE-0786-3A7760187DA1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A3E957-077C-162A-CE15-0E568B006E70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종류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(6)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09E2AA-4483-F242-E3FE-7C4F64BBF1DC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수정예산은 정부가 예산안을 국회에 제출한 후 예산이 최종 의결되기 전에 국내외의 사회경제적 여건 변화로 예산안의 내용 중 일부를 변경할 필요성이 있을 때 편성하는 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국무회의의 심의를 거쳐 대통령의 승인을 얻어 국회에 제출하도록 규정되어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예산편성 시점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예산안의 국회 제출 시점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간 상당한 시차가 존재하기 때문에 인정되는 제도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1970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1981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2009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2010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수정예산이 제출된 적이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0E47439-C1A6-9936-9C33-B042A5400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C3A1D2C-FED0-31BB-BF58-2E6AE0ABC74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757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58CA7-C58F-4745-5510-4E5989EF9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D7AAFF4-B3F0-1798-9233-26873B0463B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9F523C0-DB71-2BC8-01A0-50CD0AA8517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18774C-FB52-273C-4214-2F293159B49F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15240F-4F9A-C362-5B1B-40D1C73F5F99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종류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(7)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B4191B8-E4DD-25A1-2D37-51FE1EC68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4DDBEFF-B40A-EF5F-2C6E-2446F634548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46809E3E-FA84-9ABD-5DA3-3AF7F96B61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47" t="36600" r="21064" b="16241"/>
          <a:stretch>
            <a:fillRect/>
          </a:stretch>
        </p:blipFill>
        <p:spPr>
          <a:xfrm>
            <a:off x="1584357" y="1620572"/>
            <a:ext cx="9429016" cy="411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49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06DCE-5B17-7692-E487-9F487B334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067C3D3-C46B-B29E-8376-E1F5EBC855D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663417-A08D-B401-120A-585BAFE5FE3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697CD0-A136-79D7-2015-833F5A8485AE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552B17-8736-D051-C413-FDFBDC634333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종류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(8)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6E2CAA-2936-3DCA-A3DD-445D445976A9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만약 예산이 회계연도 전에 의결되지 못하는 경우는 어떻게 하는가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준예산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잠정예산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헌법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항에 따르면 새로운 회계연도가 개시될 때까지 예산안이 의결되지 못한 때에는 정부는 국회에서 예산안이 의결될 때까지 다음의 목적을 위한 경비는 전년도 예산에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준해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집행할 수 있다고 규정함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①헌법이나 법률에 의해 설치된 기관 또는 시설의 유지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운영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②법률상 지출의무의 이행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③이미 예산으로 승인된 사업의 계속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B51FF19-B52E-D5EC-C0C9-DBF96688B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664D4A2-92FB-5120-1827-B238ADECA55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038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F056-5B00-DEBD-F4AA-AB49E641A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CD8EBA8-9A51-ED78-5415-B1F28C06FFE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7C75C2-3F69-6F9E-E346-9DC0390501A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D2CB13-C95A-AE6D-74BE-902435289684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FD245E-8EEE-4999-C968-C6A8DC0A7518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종류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(9)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EBA7B7-8CEB-0A77-DB06-703BFDC7DAC8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본예산은 회계연도 개시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전까지 국회에서 심의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의결되어야 하는 것이 원칙이나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준예산은 회계연도 개시일 전까지 의결되지 못하는 경우에 편성한다는 점에 유의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준예산은 가예산이나 잠정예산과 달리 국회의 의결을 필요로 하지 않음 → 예산의 사전의결원칙의 예외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준예산에 의해 집행된 예산은 당해연도의 예산이 확정되면 그 확정된 예산에 의해 집행된 것으로 간주함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1948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정부수립 이후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가예산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제도를 이용했으나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1960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년부터 준예산제도를 채택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B615021-CBDA-7683-F34B-4F9182C87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FDE7473-9154-FB84-11D5-8D00FBF59B6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677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41465-737E-ED37-DDDD-C2D2F608F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B3DD1C1-D935-9B6E-34AB-DA0C03BCC5E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18B0DBD-A0D7-30ED-E58F-86BD113636B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3C935C-1A9F-F6A0-BCEB-BE28787113FA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3294E3-2B21-A323-E1C1-C9A6EF881DF1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종류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(10)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68DE77-A67F-D14A-5B05-FB45050BD945}"/>
              </a:ext>
            </a:extLst>
          </p:cNvPr>
          <p:cNvSpPr txBox="1"/>
          <p:nvPr/>
        </p:nvSpPr>
        <p:spPr>
          <a:xfrm>
            <a:off x="1080000" y="1671816"/>
            <a:ext cx="10800000" cy="294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제헌헌법과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차 개정 헌법까지 예산이 의결되지 못한 때에는 국회가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개월 이내의 가예산을 의결하고 그 기간내에 예산을 의결해야 한다고 규정하고 있었음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가예산제도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가예산은 이용기간이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개월이라는 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사전에 국회의 승인을 얻어야 한다는 점이 특징이고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프랑스의 잠정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1/12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예산제도에서 유래한 것임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우리나라는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1949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년부터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1953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년까지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1955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년에 가예산을 편성하였음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61FDD19-3204-CA52-6CA0-B4A4F6207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B3670E2-19BD-2DFD-18C1-FBB2611ECA7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320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84985-341E-4CB8-AB70-154A582B9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0F2C424-2536-8FDD-E69A-CF46A087BF5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F64F36-C3D6-4E83-9EC5-EA2A3FA5BA5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A4F19A-928A-70BD-2AEA-78CB19A9D7D6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74FFC5-127F-0E47-42D4-3F1EE39D1D47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종류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E359CE-6A26-78B2-39FC-5582C41BE7E9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마지막으로 잠정적으로 예산을 편성하여 의회에 제출하고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의회의 사전 의결을 얻어 사용하는 잠정예산제도가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내각제 국가에서 많이 이용함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영국은 회계연도 개시일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지나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월말까지 본예산에 대한 심의가 끝나지 않는 경우가 대부분으로 잠정예산 제출이 일종의 관행으로 되어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영국은 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지출승인법주의로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되어 있어서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승인법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통과 이전에는 총예산의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1/3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차지하는 잠정예산 내에서 집행함 → 예산편성이 심의 과정에서 크게 변화하지 않기 때문에 잠정예산 제도가 큰 문제 없이 이용되고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C698CA2-DB12-6F0C-F796-D63C52E74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7FB8EE4-B641-E39F-7F2A-34C2E39A06A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88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03211-DFE1-46BA-3760-0736BFE2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872A9C6-D9AA-9C45-0986-0922F7B8C11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8D2758-50EB-4DE2-7A62-68131E767E7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34A8EC-246E-A22D-FF68-18C8AB5E536D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F54233-2FCB-6250-EB2D-141653A98A7C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조세지출 예산제도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6D6DF8-A287-FA89-CCC4-9E7304BB9A05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조세지출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(tax expenditure)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조세 감면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비과세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소득공제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세액공제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우대세율 적용 또는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과세이연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등 조세특례에 따른 재정지원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의미함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조세특례제한법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142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조세지출은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각종 사회적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경제적 목적을 달성하기 위해 세제를 통해 이뤄지는 정부지출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 이해할 수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구체적인 조세지출에 대한 내용은 조세특례제한법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소득세법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법인세법 등 개별 세법에 규정되어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세제 상의 특혜는 그만큼 보조금을 준 것과 동일하다는 의미에서 조세지출을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숨겨진 보조금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(hidden subsidies)’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라고 부르기도 함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50ECFD4-0216-AA85-A7E7-18CB8CA2B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E4C0121-EBC8-F3A7-8258-D9283D7E6BC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5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A9C76-B4C0-826D-DE17-6A77E0B60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BC6466C-3B9B-06EC-9071-259EB6FA423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A7FCCD-FAE7-DF86-8854-E976C355457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8EB482-3ACD-DA44-5E89-8311D4C1E7BC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A16E6D-C3C6-9B18-67E1-60E32C165200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조세지출 예산제도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8BBF22-45C3-9056-A0D8-158BA8639045}"/>
              </a:ext>
            </a:extLst>
          </p:cNvPr>
          <p:cNvSpPr txBox="1"/>
          <p:nvPr/>
        </p:nvSpPr>
        <p:spPr>
          <a:xfrm>
            <a:off x="1080000" y="1671816"/>
            <a:ext cx="10800000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조세지출을 도입한 목적은 특정 활동을 지원하거나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첨단기술에 대한 투자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특정 집단을 지원하거나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소상공인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농어민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또는 일반 납세자의 조세부담을 경감해주기 위해서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기초 공제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배우자 공제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각종 공제제도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조세지출은 직접감면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영구적 경감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간접감면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과세연기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구분할 수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직접감면에는 비과세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소득공제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세액공제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세액감면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자율과세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기타감면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근로장려금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자녀장려금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부가가치세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영세율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면제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간접간면에는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준비금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과세이연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이월과세 등이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A20EF52-9D3B-1DCC-5A09-6B66EE091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1E83591-87C1-1375-594C-2605B793BB5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622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2B51-1FEF-A352-FE3B-EFF262A04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334931D-0D51-457F-5782-C8EE326CF96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741C4EC-418F-4E02-9178-CACCBCCFD7B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826074-71DB-05A7-9F52-6035CDBD18D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F07A8B-A86E-C35E-8100-DDE0558F3AA8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조세지출 예산제도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AB2172-57D4-3A7F-A0B6-7B0BA4CCFB69}"/>
              </a:ext>
            </a:extLst>
          </p:cNvPr>
          <p:cNvSpPr txBox="1"/>
          <p:nvPr/>
        </p:nvSpPr>
        <p:spPr>
          <a:xfrm>
            <a:off x="1080000" y="1671816"/>
            <a:ext cx="10800000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조세지출 예산제도는 조세지출로 인한 세수 감소액을 종합 분류해서 체계적으로 나타낸 것을 의미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보조금 형태의 직접 지출이 매년 국회 심의를 거치는 것처럼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조세지출도 매년 국회의 심의를 받아야 한다는 인식에서 조세지출 예산제도가 탄생함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우리나라는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2013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년부터 조세특례제한법에 따라 직전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당해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다음의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 년도의 조세지출의 추정금액을 기능별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세목별로 분석한 조세지출예산서를 예산안 첨부서류로 국회에 제출해야 함 → 그러나 국회의 심의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의결 사항은 아님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비과세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감면제도 정비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재정운용의 효율성 제고 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FA5BFBE-C062-81BF-E264-5D63D6603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F3A0D0C-0AE2-7077-037A-59B2D4B79D1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750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D5C28-6D0D-6C7E-8EFB-4DAB15E27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6B568D4-7D1E-182E-F4A9-9F88AF8C678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292F99-447C-3AFB-47FF-852F54A6D5B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A7F5C0-08DC-0278-CB48-2144E5AF8A2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EB2681-65E9-A623-5D37-E174A1D52582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조세지출 예산제도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9DA3FF7-60F7-BBE3-C0EF-576B2820F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33F7F8F-301A-ACA2-1E0E-81547B44DEF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0EFF05F8-2DDA-754B-60FE-E80473AE14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30" t="14044" r="19973" b="48314"/>
          <a:stretch>
            <a:fillRect/>
          </a:stretch>
        </p:blipFill>
        <p:spPr>
          <a:xfrm>
            <a:off x="1868032" y="1425982"/>
            <a:ext cx="4227968" cy="454928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B52172A-DEF7-755A-4AFA-CC1F457DB5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41" t="26139" r="20432" b="53135"/>
          <a:stretch>
            <a:fillRect/>
          </a:stretch>
        </p:blipFill>
        <p:spPr>
          <a:xfrm>
            <a:off x="6355532" y="2203480"/>
            <a:ext cx="4856554" cy="286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642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CE6E4-78B8-4CB0-F845-185AAF267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4C2B00E-0717-654B-4F5E-24DAD2CF931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9E6027E-15DC-A380-8989-B601A96D348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BBAFB8-28D6-67C8-C18A-7707BB538B66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DAAB4F-3C99-EC30-B070-33CF91FCF876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성인지 예산제도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39775E-2411-F1E5-4751-931C68DDD898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성인지예산제도는 예산이 성별에 미치는 효과를 예산과정에서 고려하여 자원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또는 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평등한 방식으로 사용될 수 있도록 세입과 세출을 재구조화하기 위한 제도임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성인지 예산은 전체 예산 중 특별한 예산의 종류를 말하는 것이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성별에 대한 예산의 차별적 효과를 분석하여 이를 재정운용에 반영하려는 것임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조는 정부는 예산이 여성과 남성에게 미칠 영향을 미리 분석한 보고서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성인지 예산서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작성하여야 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성인지 예산서에는 성평등 기대효과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성별수혜분석 등을 포함하여야 한다고 규정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8927BE-DC2E-6436-9425-4E09C50BC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5FB712A-EE3F-2FEA-BB2F-E7C2FD23FD0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120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4F1F5-4EFE-6FF9-DBBB-C5AABC175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9A2B23B-DCFF-2456-6FFE-C4F0F17E38B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D1D402A-0D45-709E-5CF9-DE35A32B3BB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057E2A-52CF-A657-5ADA-C57AC8E013B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6B5D76-24DD-4CAD-4CD3-5B3FCC026F10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성인지 예산제도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AC42E8-3E5E-4F4C-BA35-41782716CB75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성인지 예산서와 결산서는 각각 예산안과 결산보고서의 첨부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서류로 국회에 제출하도록 규정하고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국가회계법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성인지 예산의 범위는 모든 수준의 세출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특별회계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기금 포함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중앙정부와 지방정부는 성인지 예산서 작성대상이지만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공공기관은 포함되지 않음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성인지 예산서는 모든 사업을 대상으로 하지 않고 대상사업을 선정한 다음 해당 사업에 대해서만 진행하며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대상사업은 기재부가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여가부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및 해당 중앙관서와 협의를 거쳐 매년 선정함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세부사업을 선정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62455BB-F135-2748-D077-4B6CDF549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050576D-6A40-0B7C-B1B6-F16A8557D69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643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B34A7-2BA4-8F31-02E3-141A7DA04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3DDB04C-0C0F-45DD-01E7-99C779E002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58" t="45148" r="22270" b="7216"/>
          <a:stretch>
            <a:fillRect/>
          </a:stretch>
        </p:blipFill>
        <p:spPr>
          <a:xfrm>
            <a:off x="8550229" y="1018910"/>
            <a:ext cx="3400345" cy="5028585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99F7904-A2C4-9F49-1946-C30B0BC06D6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DF919E-283B-606B-BC52-B5114C37DE5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5CA209-573F-DB26-8268-0A2C429BB125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103FDF-48D6-8105-1744-FE19284223D0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성인지 예산제도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1BF212A-190D-D598-73F2-F04073F32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D6C7BFA-9E41-6EDD-C4C2-0CB54631CC5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72DEA7DB-DDAB-374D-6BD4-7A1E74784B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278" t="14045" r="21352" b="52814"/>
          <a:stretch>
            <a:fillRect/>
          </a:stretch>
        </p:blipFill>
        <p:spPr>
          <a:xfrm>
            <a:off x="359999" y="1547798"/>
            <a:ext cx="4191753" cy="414300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ECEB145-F86C-2421-D425-65B89B6DAF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050" t="42772" r="22347" b="19208"/>
          <a:stretch>
            <a:fillRect/>
          </a:stretch>
        </p:blipFill>
        <p:spPr>
          <a:xfrm>
            <a:off x="4574545" y="1149200"/>
            <a:ext cx="3952891" cy="454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33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D9BE9-BF94-85A0-751F-FD4DB45A4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C82E295-27F7-E25D-CACE-A3A819963B8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8BDFD4-F35F-000F-39F0-77BFA26305D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521600-58C5-1794-EF56-115301064B5D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1CBCFD-E855-F4AD-7478-EC09CE69556F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예산법률주의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0482D5-6588-B1A8-48FC-8F4E8208F5A5}"/>
              </a:ext>
            </a:extLst>
          </p:cNvPr>
          <p:cNvSpPr txBox="1"/>
          <p:nvPr/>
        </p:nvSpPr>
        <p:spPr>
          <a:xfrm>
            <a:off x="1080000" y="1671816"/>
            <a:ext cx="10800000" cy="440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예산법률주의란 국회가 예산을 단순한 의결 사항이 아니라 법률의 형식으로 확정하여</a:t>
            </a:r>
            <a:r>
              <a:rPr lang="en-US" altLang="ko-KR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예산이 법률과 동일한 효력을 가지도록 하는 제도를 의미함</a:t>
            </a:r>
            <a:endParaRPr lang="en-US" altLang="ko-KR" sz="23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현행 제도에서는 예산이 단순한 의결 사항에 불과해 법적 강제력이 약함 → 세입은 조세법률주의에 의해 법률로 </a:t>
            </a:r>
            <a:r>
              <a:rPr lang="ko-KR" altLang="en-US" sz="23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규율되지만</a:t>
            </a:r>
            <a:r>
              <a:rPr lang="en-US" altLang="ko-KR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세출은 </a:t>
            </a:r>
            <a:r>
              <a:rPr lang="ko-KR" altLang="en-US" sz="23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준칙적</a:t>
            </a: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성격만 지녀 정부가 재량으로 일정부분 변경할 수 있으며 위반시 직접적인 법적 제재를 받지 않음</a:t>
            </a:r>
            <a:endParaRPr lang="en-US" altLang="ko-KR" sz="23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또한</a:t>
            </a:r>
            <a:r>
              <a:rPr lang="en-US" altLang="ko-KR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예산의 형식이 금액과 명칭 나열에 머물러 국회가 집행 방식을 직접 통제하기 어렵고</a:t>
            </a:r>
            <a:r>
              <a:rPr lang="en-US" altLang="ko-KR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부대의견도 법적 구속력이 없음</a:t>
            </a:r>
            <a:endParaRPr lang="en-US" altLang="ko-KR" sz="23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나아가 법률과 예산 간 불일치가 발생하면 정부는 추경</a:t>
            </a:r>
            <a:r>
              <a:rPr lang="en-US" altLang="ko-KR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예비비 지출</a:t>
            </a:r>
            <a:r>
              <a:rPr lang="en-US" altLang="ko-KR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전용 등을 활용하여 대응하는데</a:t>
            </a:r>
            <a:r>
              <a:rPr lang="en-US" altLang="ko-KR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국회 의결의 효력을 약화시킨다는 문제가 있음</a:t>
            </a:r>
            <a:endParaRPr lang="en-US" altLang="ko-KR" sz="23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1EA39AF-4217-AEF3-C563-83565D222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7E0DB71-7FC6-4567-1484-6908FE65C0D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070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EBADD-2E1E-C555-1EBF-697E338FE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0BD9533-A2F3-8A95-07A9-CF1DBB1DB59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BC1C26-DD46-2595-E9AA-FFDFB520725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750E31-B2A0-0BB0-C5DF-9AE45E87EF86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98B281-2B3E-FCDD-F7E4-E16FCD6ED138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예산법률주의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7BE0DA-01B5-E40D-CEE2-A9664705E657}"/>
              </a:ext>
            </a:extLst>
          </p:cNvPr>
          <p:cNvSpPr txBox="1"/>
          <p:nvPr/>
        </p:nvSpPr>
        <p:spPr>
          <a:xfrm>
            <a:off x="1080000" y="1671816"/>
            <a:ext cx="10800000" cy="440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예산법률주의를 도입하면 국회가 예산을 법률 형식으로 확정하여 재정통제권을 실질적으로 강화할 수 있음</a:t>
            </a:r>
            <a:endParaRPr lang="en-US" altLang="ko-KR" sz="23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예산과 세입</a:t>
            </a:r>
            <a:r>
              <a:rPr lang="en-US" altLang="ko-KR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 법률 간의 규범적 위상을 통일시켜 법률과 예산의 불일치를 방지하고</a:t>
            </a:r>
            <a:r>
              <a:rPr lang="en-US" altLang="ko-KR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국회의 심의가 단순한 숫자 증감 논의를 넘어 목적</a:t>
            </a:r>
            <a:r>
              <a:rPr lang="en-US" altLang="ko-KR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내용</a:t>
            </a:r>
            <a:r>
              <a:rPr lang="en-US" altLang="ko-KR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조건을 구체적으로 검토하는 과정으로 전환될 수 있음</a:t>
            </a:r>
            <a:endParaRPr lang="en-US" altLang="ko-KR" sz="23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이를 통해 예산의 </a:t>
            </a:r>
            <a:r>
              <a:rPr lang="ko-KR" altLang="en-US" sz="23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규범력이</a:t>
            </a: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정상화되고 집행 조건이 법적으로 명시되어 실효적 통제가 가능해지며</a:t>
            </a:r>
            <a:r>
              <a:rPr lang="en-US" altLang="ko-KR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재정민주주의 원칙에도 보다 충실히 부합</a:t>
            </a:r>
            <a:endParaRPr lang="en-US" altLang="ko-KR" sz="23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나아가 국회가 주도권을 확보함으로써 투명성과 책임성을 높이고 예산심의 과정의 구체성과 신뢰성을 제고할 수 있다는 장점이 있음</a:t>
            </a:r>
            <a:endParaRPr lang="en-US" altLang="ko-KR" sz="23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0070776-FD15-4D04-8394-A2DC9F657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1D87F6A-7A1F-0C1F-8326-117EFA19AC1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160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307A5-8549-09E8-E40E-52F17197D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FA3D7B-0BBB-43B5-39C5-8DB56AD68BB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4488EB8-73DE-2885-F3D0-837BAD3E23E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C90470-7E34-8661-2ACB-75F26473E07E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997A97-EE43-7032-BCBC-0FFE6197CB66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예산법률주의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F60F65-C7BA-6A89-18B2-C0BD08FF05AB}"/>
              </a:ext>
            </a:extLst>
          </p:cNvPr>
          <p:cNvSpPr txBox="1"/>
          <p:nvPr/>
        </p:nvSpPr>
        <p:spPr>
          <a:xfrm>
            <a:off x="1080000" y="1671816"/>
            <a:ext cx="10800000" cy="440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예산법률주의에 대한 반대 입장은 예산법률주의가 도입될 경우 예산집행의 경직성이 심화되어 경제 상황 변화나 긴급 사태에 신속하게 대응하기 어렵다고 봄</a:t>
            </a:r>
            <a:endParaRPr lang="en-US" altLang="ko-KR" sz="23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예산안을 법률로 </a:t>
            </a:r>
            <a:r>
              <a:rPr lang="ko-KR" altLang="en-US" sz="23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조문화하는</a:t>
            </a: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과정에서 심의와 편성에 과도한 시간과 노력이 소요되어 제도 정착에도 많은 시일이 걸릴 수 있음</a:t>
            </a:r>
            <a:endParaRPr lang="en-US" altLang="ko-KR" sz="23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현행 제도에서도 국회 의결 없는 예산집행은 불가능하므로 구속력이 이미 존재하며</a:t>
            </a:r>
            <a:r>
              <a:rPr lang="en-US" altLang="ko-KR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결국 핵심은 국회의 심의 역량이 낮은 것임</a:t>
            </a:r>
            <a:endParaRPr lang="en-US" altLang="ko-KR" sz="23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예산법률주의가 형식적으로 도입되더라도 자동적으로 통제가 강화되는 것은 아니며</a:t>
            </a:r>
            <a:r>
              <a:rPr lang="en-US" altLang="ko-KR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3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재정민주주의의 실질적 강화는 국회의 전문성과 의지에 달려 있다는 점에서 도입을 신중하게 검토해야 함</a:t>
            </a:r>
            <a:endParaRPr lang="en-US" altLang="ko-KR" sz="23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A5F94E9-B01E-42A4-78D6-9BCED0335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A85298C-5106-0E43-C70C-0959E137C2F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914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1401</Words>
  <Application>Microsoft Office PowerPoint</Application>
  <PresentationFormat>와이드스크린</PresentationFormat>
  <Paragraphs>105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348</cp:revision>
  <dcterms:created xsi:type="dcterms:W3CDTF">2025-03-10T02:54:00Z</dcterms:created>
  <dcterms:modified xsi:type="dcterms:W3CDTF">2025-09-22T10:30:08Z</dcterms:modified>
</cp:coreProperties>
</file>