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89" r:id="rId3"/>
    <p:sldId id="443" r:id="rId4"/>
    <p:sldId id="442" r:id="rId5"/>
    <p:sldId id="444" r:id="rId6"/>
    <p:sldId id="445" r:id="rId7"/>
    <p:sldId id="447" r:id="rId8"/>
    <p:sldId id="446" r:id="rId9"/>
    <p:sldId id="448" r:id="rId10"/>
    <p:sldId id="449" r:id="rId11"/>
    <p:sldId id="450" r:id="rId12"/>
    <p:sldId id="451" r:id="rId13"/>
    <p:sldId id="453" r:id="rId14"/>
    <p:sldId id="456" r:id="rId15"/>
    <p:sldId id="455" r:id="rId16"/>
    <p:sldId id="457" r:id="rId17"/>
    <p:sldId id="458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72" r:id="rId32"/>
    <p:sldId id="473" r:id="rId33"/>
    <p:sldId id="475" r:id="rId34"/>
    <p:sldId id="476" r:id="rId35"/>
    <p:sldId id="477" r:id="rId36"/>
    <p:sldId id="478" r:id="rId37"/>
    <p:sldId id="480" r:id="rId38"/>
    <p:sldId id="481" r:id="rId39"/>
    <p:sldId id="482" r:id="rId40"/>
    <p:sldId id="474" r:id="rId41"/>
    <p:sldId id="483" r:id="rId42"/>
    <p:sldId id="484" r:id="rId43"/>
    <p:sldId id="485" r:id="rId44"/>
    <p:sldId id="486" r:id="rId45"/>
    <p:sldId id="487" r:id="rId46"/>
    <p:sldId id="488" r:id="rId47"/>
    <p:sldId id="489" r:id="rId48"/>
    <p:sldId id="490" r:id="rId49"/>
    <p:sldId id="491" r:id="rId50"/>
    <p:sldId id="492" r:id="rId51"/>
    <p:sldId id="493" r:id="rId52"/>
    <p:sldId id="258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6" autoAdjust="0"/>
    <p:restoredTop sz="94737"/>
  </p:normalViewPr>
  <p:slideViewPr>
    <p:cSldViewPr snapToGrid="0">
      <p:cViewPr varScale="1">
        <p:scale>
          <a:sx n="106" d="100"/>
          <a:sy n="106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19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31CF-4914-81DD-2107-FC520ABC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56A031-2DC6-BBF8-E0EE-2F2AE04B6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F1DC1-9434-77B6-18DD-59C2FA38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2F20D0-D1CF-330D-1A9C-566E3947E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816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474C-3767-318E-2FE3-6556AD77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540A75-FDDC-7EDD-B1AA-96ACAE855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C14969-F9FB-ABF4-B6B1-FCD28A2E8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8475F9-A137-7E0D-795D-633C6CC8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814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7DBD-F6E4-7A77-9629-76EE0EA2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70806B-3919-9565-93B1-12EA1729F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4FF37E-4188-E632-EBE4-FD7212900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6EBD6-F67C-23D1-2056-0C7B1935E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740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F64E-8F45-F615-F19E-197A7F5F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41994-1D73-AD7C-E38B-0314C5AC9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30D3A6-48F9-03E1-8017-613B2EF9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1D8981-A5E2-DE33-115E-A080004DE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951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C55E-07CE-F51B-4FC4-FACE349E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3B4E5D-D6EA-DC7E-71F9-D670E75E4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10FC3A-D863-4B3F-0389-35DA4C7A5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32F09-BB13-604E-15F2-129440EB5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6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7D55-16AB-B9CA-48F0-F741355D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C27EF6-831B-8899-2D7E-B6455800D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B10826-2C4B-5B77-7FAD-D60F360F4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3A4442-E47A-0101-4E78-5E69328BC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733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FC85C-FD88-12CE-B3A1-2BF7A437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DB8B31-E522-91A7-9835-E633CF91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883620-55EC-24A5-63C5-F99517F9B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C24FD-C6A9-39BE-5B11-8B9C8BE68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171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2D36-3794-26B1-9E06-63394129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3B6315-EF6D-3F5A-A429-70073EED8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3BEE8-4EC2-E55F-BCF4-E1F66DD49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34F357-D4B5-46E0-F67C-1B9E645FC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501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B4A3-C6D7-EB07-1BD7-E1AAC4915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A789A-7B1D-D3FA-C4D3-82D3CD924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783012-0BF4-796B-C4D8-16D0F98C2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1E910-5C52-3FD3-41D5-B62516A17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4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886F-E201-9EFC-D37E-E2910385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1641A6-05C8-156C-A6F5-AAE07E277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C5FA39-6595-8439-6A90-BA840DE8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C4A9D-0865-7D92-E969-AF796931F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882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0B84-FA63-DE3C-0A68-B06431D4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10343B-D52D-D1B4-5FB0-5551CD950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E88EA3-FC3A-A5F2-F6CA-0A069D021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FBCB4-7E7C-6B6A-1220-C06A07316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260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0364D-FF62-81E5-205F-FB1BA03E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BC7CDB-67F6-53A8-6241-C3E5E23C5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362DD-C05B-89A2-A6BB-7D462F537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9C9985-691E-C219-8C09-345BFDDD5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26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9FD6-8C86-F75B-680F-FC6E48F1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C413A-4DAF-5DB8-BDBF-935EF8EEE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DC6CDB-3E45-8906-5A7C-C4E2289ED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17068-0FDD-09F8-940F-A2BAA1B3A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60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392C-729A-B1CD-7359-745553A0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F9065D-004C-1306-C8B5-BB4E53CEC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EBD56E-D90E-A9F4-4BBF-DCB75F0FC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4EFA0-73CB-DE52-396C-93570EAFE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346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DAC59-9656-DECE-D355-AA5337BC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5D5C8A-B337-EB4C-2E9B-3CE1611CB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4293BC-A0A5-B223-85F8-2B806C670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842A7-6962-B61F-4E9A-FC40254B9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231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F8B2-33EE-830D-74FC-95CCB3CA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4C7FA2-8DB2-7258-0CF2-8BB0FF1C6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3E872C-6A24-C3EF-FA47-85CE60797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99F71-D135-6EF7-49FD-54631D42C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712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3978C-A5AE-A238-2CD0-D19F9030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8A082D-BD0F-B209-7466-F20CCD156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9EEA32-B9ED-A50A-CF28-01AB50066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BB5BA-DAC8-A35C-5921-1F3F31AE2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176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4CE6-ED1C-ACD5-ECDE-38EB89C4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E5470E-30FD-5DB1-0D36-C6900B77E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4F1CF1-1263-7A44-F256-2C3D9D0F4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89C91-534D-2070-8521-7FEA1EDFC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51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D436-1F47-9BB0-3175-7E4D1449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CB5952-4B76-E202-2638-1B3617B46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59E856-BD10-BD2B-F993-FD97BA324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21B888-7A82-508D-AE96-8B9391FA1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660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1964-4FAA-9BDC-C4BF-1C257DBF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D8C59-C05A-52D3-A634-76C3B90D5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7A539-1AC2-9014-1257-017AE04FB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AA704-BFC2-CC16-016C-73BE1FEB6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70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08BC-BABD-7FCF-1176-EABCDC74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39446D-2CD9-B8BD-AEF1-00BDF5409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3BA38-03F4-3EA4-9202-6EB427BDE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CDD45-1900-45DF-4724-45DC79971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370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CBC9-708F-2719-EF07-BA1B996B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2BCD66-EC66-9B68-60F5-98380B165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ACD8EC-633F-72B9-2052-B7DDEBDED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E060C-F0AC-952A-8CCD-EB363294A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38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77D7-97EF-AEC2-9FF4-21AA5FAB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66947C-FABB-D0AD-EE31-0A21803D6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EC7BA2-4D16-3FF9-EAF4-2DF5D08D5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5314F2-F030-5785-DEC5-094845E76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54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D0D8-439B-689B-8ECF-04DCF660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044AD9-DFD4-395D-E9CD-B1DCD14B8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88450C-A502-C06D-E68F-7DEBEAE57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36FAEE-4743-4968-C337-18DF38C04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839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21B17-B9CA-2EE1-A4A9-7594B0C6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9727DA-AA5C-B4AA-ED2C-7991DF75F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472140-5CDB-B22C-D989-F776A1F3F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AA22F-4C42-120F-C427-85B412417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2859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56D0-3EED-16C4-DA16-8A4C01FB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BA59B5-2183-D169-FA1A-38094DB50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942978-38CE-5816-D4F6-059DA4ABE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09F745-BA97-F527-3EC2-F0EADA9E5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7456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EB3D7-197C-9B07-B784-5C43B9D0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43A70C-6C1B-6A9E-AB2C-AA9A22ECF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E8B995-BCB8-CD16-71E6-02280509D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113920-9126-6483-0329-88DB22EBE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234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3C91-6A26-9339-A406-94679F07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A79DC-C298-92C5-622B-216E98A5B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AB5EAA-157C-06BE-6533-7CA7488C4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3E27C-C458-9F69-9612-22CD74063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398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744A-A8F4-A6EC-08D4-C7A38384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C66B8F-317C-B7F5-53A3-4755728AD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856A00-989D-31F9-3D27-246244412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CF303A-3976-0064-8EF6-1A96F4A9D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77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60C3-3D0B-9400-F24E-F9DE7A7B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4B656-E498-6F10-4546-2CA7AE369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21CBC7-B250-AB58-E38C-E75CE5AF2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2391D7-1C6C-D861-1950-B3AF4BAA4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0084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5BDD-1A47-94EA-7FB7-A140B975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387540-0813-C150-653A-E4F666FB9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A8C9E1-9EE8-8A43-33A1-68C6FAA9F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9915DB-4F77-3067-3E37-6666CB12F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7153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DFC98-8053-ECA0-B39E-B18E571D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CF4804-2EAF-920B-DF68-5BE364E9C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5159F8-BBBB-B478-2B5A-35506B370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BBF22-DAE7-1827-E0B0-09469C7B3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2850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09D92-60F7-341E-7542-4287DECA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496CEA-8BBD-7EEC-7442-330C8E4A3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61EAA-653A-17ED-50BD-D421592DC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0671AC-4104-8E72-DA05-4E67457CE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118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8AC8-A5EF-7284-C1EB-66674792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8FE8B5-9A4D-E3B3-C510-27F48B415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0CDDAC-FB7F-0629-B890-2B6BE373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659BB2-08BC-B840-B843-DB3FB0BA6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6191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4B3F-79BB-E628-5B77-813FC6F7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090AF9-E9C2-DA12-64E7-9F6B13057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AAFF27-BDAC-8A4E-FDAC-0F467AB3C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AF480E-31B4-B001-9C44-65A7E0C75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8274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4F399-85BC-BBA6-3B35-4B619E93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6A82D2-E805-11FE-343C-1E58993D2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3EE4ED-2185-80DE-2BD8-8D03888A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8C0F6-EBFF-4EB1-CEFC-9DBF9BC8D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239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8368-09FF-FF5C-7DAE-97BDB7E9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A447A7-74AE-56D6-F6A5-0BAC3590C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85198A-D0B5-8979-4F63-EEE361CEE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DEF8C-7EB2-8340-9BF7-FE850CF33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5077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5BD4-264A-5C57-FE41-760E14AC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BBE3CF-CD29-E3D5-A44D-C7A7EDA16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D68D80-A818-C0A0-7A9E-0BCE8F78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6B128-4DBF-5719-373B-EC47CC161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5898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9389-0F7E-AC51-9151-6C48C82A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32D8B0-DD86-8739-9BA2-E8EEF868D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566696-5030-1539-9BE9-2AACFE98E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C70BF-5240-64F2-B40C-FA59C38F6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207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B6BB-0DC3-BE7E-AAC0-745EC90A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7ECE8A-19B1-DDD9-F19A-DCB12A434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705866-114F-C7FB-CADC-26403E7F2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0A2738-18FD-FE6F-CECE-064A83BAD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6514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7C28-AAB8-EA79-FFC0-D3DDD237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9EE523-D98B-385B-FB60-27694691A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42B282-AC57-A6D6-92D3-3DA462465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D9ADD-6C0C-4960-782E-74A2F937C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191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EB09-0851-A8E8-61CF-FEACA93E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B2960A-B14F-DBDD-0B30-E2523F14D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9843F0-EBDC-A385-01C1-DAD004F19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49F5E1-DEC9-4316-D8CB-39D3E41DB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685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96D2-9998-0018-433E-7884FB3E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0BFA86-DBE9-B020-DE6A-274BE18C9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1820AF-F07C-870A-79AE-7C1C628E6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28F86-8850-0B9C-3FBF-05C0F7A69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9894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F69F-6479-2F58-C008-C0422E84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0C8944-9408-180C-5EA1-7E876F0AD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37E434-C88D-15EE-2FAF-655D3EBFE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C3D5F4-49E7-CB36-D0CB-3DA188E95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3588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7276-3A1D-14E6-AE24-C80155D7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790B80-6018-F0A5-405A-05FF162F5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87BE49-6537-1284-6A44-56304F6AC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532B9-4C53-F29C-09E4-2570F2326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73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B3A9-91CB-E789-E5F5-DD2F87058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4B682-0D79-38CA-08AE-3CCE24C27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489855-F3AC-8AAE-C1A4-5E51CBA14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055D82-6F90-3E92-88D7-06BEB71F0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9750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B594-7499-E805-0656-D7BD7A3E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66941F-96A4-E3DC-5124-9EA91E1C2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CFCBC0-A36A-10DC-5032-31181EF2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27E422-1481-8376-62CE-F6D6060FA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34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예산이론의 전개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Key(1940)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질문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1940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 키의 질문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(Key Question)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예산결정에 관한 근본적인 질문 제기  </a:t>
            </a:r>
            <a:b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</a:b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어떠한 근거로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X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달러를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 대신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사업에 배분하도록 결정하는가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?”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대부분의 예산 연구들은 이론적이기보다 실무 지향적 경향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질문보단 대답에 가까움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Rubin(1988):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자신의 전공 학문의 전제와 이론 내에서만 예산에 접근하는 경향 존재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→ 다양한 이론을 예산에 적용시켜 보는 학습의 중요성 강조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관한 문제 → 예산은 정부 각 기관 또는 사업에 대한 예산 배분을 묘사하는 것으로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핵심은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왜 그러한 예산 배분이 이뤄지는가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?”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9A96-ABDE-C7C2-B855-AA1BE6F4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83176A-7BF9-C6A6-72F4-05D499C4E5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15B08A-DC04-97D5-5747-FB1854DE86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A4944-2E24-A415-19D1-F2460AC5DB4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1C8F05-47C3-28BA-0F7A-2CB8A401B34F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예산결정이론의 전개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61BC7-D237-2E67-6325-511482165883}"/>
              </a:ext>
            </a:extLst>
          </p:cNvPr>
          <p:cNvSpPr txBox="1"/>
          <p:nvPr/>
        </p:nvSpPr>
        <p:spPr>
          <a:xfrm>
            <a:off x="1080000" y="1671816"/>
            <a:ext cx="10800000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배분의 경제적 측면 강조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포괄적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분석적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체계적 접근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Lewis(1952)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가지 명제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상대적가치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증분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상대적 효과성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를 바탕으로 경제학의 한계효용 개념을 이용해 예산결정을 상대적 가치에 입각하여 행할 것을 주장 → 성과주의 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PPBS, ZBB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영향을 미침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배분의 정치적 측면 강조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단편적 접근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Burkhead(1956)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예산 규모 및 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세출 배분에 관한 결정은 정치적 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예산결정에 참여하는 기관 및 집단들의 영향력 관계에 대한 연구 →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점증주의로 집대성 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EA1842-9DDB-18D1-6A6C-6AD4CFEF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FB29B6-ACE0-B3FE-8FDE-3AAA5C365A3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1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6113-6CFB-33DE-942A-7813DD24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50C394-39FB-4137-ED5E-9D21B9BB07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324F6C-7F23-C234-B3B9-E9BC402AAD0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B5F7C-18F9-2554-E70A-09120A05F50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31EF8-2753-50F8-1F8A-B16FB832BC7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체제의 판단 기준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4214AF6-2CB3-D03F-5647-A1A4BB35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AEF4F2-051A-7D0B-A774-C9D3F5551C6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46603F6A-D9A0-BF00-6719-61BD21E01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823" y="4784223"/>
            <a:ext cx="8292353" cy="1235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68051B-191D-C3AB-A1C4-883907AF6BF9}"/>
              </a:ext>
            </a:extLst>
          </p:cNvPr>
          <p:cNvSpPr txBox="1"/>
          <p:nvPr/>
        </p:nvSpPr>
        <p:spPr>
          <a:xfrm>
            <a:off x="1080000" y="1671816"/>
            <a:ext cx="10800000" cy="301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체제의 판단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(process)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산출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(output)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나누어짐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예산결정과정과 예산 산출 간의 인과적 관계를 암묵적으로 내포함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But,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산출은 과정에 의해서만 영향을 받는 것은 아님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결과는 환경적 요인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참여자의 개별 전략 등에 의해서도 영향을 받음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결정 체제는 전략을 포함 예산 과정과 예산 산출이 주축임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2622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0267-6AEE-6CA5-94A4-56CBE6C0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CD81EA9-E1CE-D368-FF8F-AEED1386788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75E608-A37E-C30E-9CE3-0E45D0E3731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E6D04-A310-9070-7462-CCE3A08BACB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166C4-EFA7-A229-A77C-B0AF9036099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총체주의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의의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F8AAFC-2B78-69E7-3F93-AB026DC12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3C009E-C3FC-BA5B-E76A-72396CA5D57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B5F0D0-BF50-3FB0-3085-BDCEB70F346C}"/>
              </a:ext>
            </a:extLst>
          </p:cNvPr>
          <p:cNvSpPr txBox="1"/>
          <p:nvPr/>
        </p:nvSpPr>
        <p:spPr>
          <a:xfrm>
            <a:off x="1080000" y="1671816"/>
            <a:ext cx="10800000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총체주의적 예산결정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합리적 선택모형에 입각한 예산상 의사결정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분석적 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측면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vs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사회 후생의 극대화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측면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경제학 한계효용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기회비용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최적화 개념 등이 사용되며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Schick(1969)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체제 예산운영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(system budgeting)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도 총체주의를 반영한 개념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그런데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과정이 최선을 행동을 선택한다 해서 반드시 결과까지도 최선이 된다는 보장은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과정을 합리화해 예산상의 편익을 극대화하기 위한 결정 방식이므로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총체주의적 예산결정은 규범적 성격이 강함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344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8BA8-013A-52B8-77A2-2837001D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2F5B693-B144-3777-C072-D032D8397BD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5F7353-5CBD-5283-E90A-7B877BEF121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AC72A-E716-4115-F8E4-035770674D9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A47AD-7FC5-5D32-2784-2AA06C99DD8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총체주의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과정 측면에서 총체주의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29C8864-6167-AA8B-D9EE-0A4D03D4F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F8FDAAC-807A-D066-BB16-B00A9F3F936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893995F-D23B-A2CC-EFCD-B55611D6F35E}"/>
              </a:ext>
            </a:extLst>
          </p:cNvPr>
          <p:cNvSpPr txBox="1"/>
          <p:nvPr/>
        </p:nvSpPr>
        <p:spPr>
          <a:xfrm>
            <a:off x="1080000" y="1671816"/>
            <a:ext cx="10800000" cy="4122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예산상의 편익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or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목표를 극대화하는 예산을 배분하는 것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예산결정자는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사회의 가치 또는 우선순위를 알고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문제 해결과 관련된 완전한 지식과 정보를 가짐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합리적으로 행동함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과정 측면에서 총체주의적 예산결정은 아래의 절차를 거쳐 이뤄짐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문제확인 및 목표정의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목표 달성을 위한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가능한 모든 대안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대한 탐색 → 각 대안이 초래할 결과 예측 → 대안들의 결과를 평가 및 비교 → 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최선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최적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극대화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대안 선택 → 선택된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대안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및 사업에 예산 배분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760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A2E4-42CE-9EC6-5034-BA94ED15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55E3B-FF69-0DA7-C968-44F5447284A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C547E1-59F4-9145-7456-C4018337597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3E64DD-1707-8CC7-5311-B73FE3AE24C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F54205D-61AC-3B04-112F-B570247E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C8299F4-D85C-C6C3-EEE1-5D2D713A088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6CD0117-A54C-D434-76CC-F62EF9145B06}"/>
              </a:ext>
            </a:extLst>
          </p:cNvPr>
          <p:cNvSpPr txBox="1"/>
          <p:nvPr/>
        </p:nvSpPr>
        <p:spPr>
          <a:xfrm>
            <a:off x="1080000" y="1671816"/>
            <a:ext cx="10800000" cy="4194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사회후생을 극대화하는 예산 배분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파레토 최적을 실현한 예산 배분 상태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거시적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민간부문과 공공부문 간 자원의 배분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예산의 적정 규모 찾기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사회후생 함수를 알고 있다는 가정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전제조건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→ 사회균형에서 적정 배분이 이루어지고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적정 예산 규모가 도출됨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주어진 예상총액의 범위 내 각 기능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or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사업 간 자금 배분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소비자가 주어진 소득으로 효용을 극대화 하도록 재화의 소비량을 결정하는 원리와 동일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한계효용 균등의 원리 작용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CD2AB-9B63-E985-221C-E89C7DF1A59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총체주의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결과 측면에서 총체주의</a:t>
            </a:r>
          </a:p>
        </p:txBody>
      </p:sp>
    </p:spTree>
    <p:extLst>
      <p:ext uri="{BB962C8B-B14F-4D97-AF65-F5344CB8AC3E}">
        <p14:creationId xmlns:p14="http://schemas.microsoft.com/office/powerpoint/2010/main" val="330610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3CD00-C885-47DA-FB5C-19EDCC03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3990F7-98D2-AE5E-AE3C-55CB0D2E53B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622EDF-2D6D-3B1F-8A86-40C62773961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315F1-DDD5-37F4-FEA4-6B71320C648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D5B9D-7C32-4DC6-0BE4-65A43EC29B5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총체주의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한계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481891C-04EE-8B1D-7952-0F1496DB7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C42F35-2F70-CE1E-09E9-FF03C7797B5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7E39C70-5BB1-85DB-65C1-D24BD6E68B4C}"/>
              </a:ext>
            </a:extLst>
          </p:cNvPr>
          <p:cNvSpPr txBox="1"/>
          <p:nvPr/>
        </p:nvSpPr>
        <p:spPr>
          <a:xfrm>
            <a:off x="1080000" y="1671816"/>
            <a:ext cx="10800000" cy="421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총체주의에서는 완전한 지식과 정보의 가정</a:t>
            </a:r>
            <a:r>
              <a:rPr lang="en-US" altLang="ko-KR" sz="22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2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 예산결정에는 인간의 인지 능력의 한계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 비용의 과다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상황의 불확실성 등의 제약 조건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모든 대안의 탐색과 정확한 결과 예측 등은 현실적으로 불가능 </a:t>
            </a:r>
            <a:endParaRPr lang="en-US" altLang="ko-KR" sz="22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둘째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총체주의에서는 해결할 문제나 달성할 목표가 명백히 주어져 있다고 가정 </a:t>
            </a:r>
            <a:r>
              <a:rPr lang="ko-KR" altLang="en-US" sz="22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실제는 문제나 목표가 명확하지 않거나 상호 모순되거나 상충됨</a:t>
            </a:r>
            <a:endParaRPr lang="en-US" altLang="ko-KR" sz="22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셋째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총체주의에서는 사회적 가치의 우선순위 및 사회후생 함수가 알려져 있다고 가정 </a:t>
            </a:r>
            <a:r>
              <a:rPr lang="ko-KR" altLang="en-US" sz="22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공공재의 선호 현시가 어려워 사회후생 함수를 찾는 것은 거의 불가능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총체주의는 불확실한 상황에서 최선의 대안 선택을 위해 필요한 논리나 기법을 적용한다는 점에서 의미를 가짐</a:t>
            </a:r>
            <a:endParaRPr lang="en-US" altLang="ko-KR" sz="22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501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D01AF-8947-E394-B688-CD85313D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B2BEBB-F3DC-C253-2D88-C26A700DB77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7DEB69-09E0-8857-8F3E-68075C8E600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CAC301-9404-F3AE-C2D9-5B7448D686B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FEF4B-21A3-B728-839C-EA918C0EAEC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의의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DA467F5-5CDC-3E54-70BE-713B5278B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603CD8-36B5-F131-151E-E6C21BC2DEB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FE966E4-3B76-CB93-1577-422DE73446C8}"/>
              </a:ext>
            </a:extLst>
          </p:cNvPr>
          <p:cNvSpPr txBox="1"/>
          <p:nvPr/>
        </p:nvSpPr>
        <p:spPr>
          <a:xfrm>
            <a:off x="1080000" y="1671816"/>
            <a:ext cx="10800000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총체주의와 대비되는 결정모형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상황의 불확실성과 인간 능력의 부족을 전제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시간의 흐름에 따라 환류 정보를 바탕으로 수정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보완이 이루어짐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대표학자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Dewey(1933), Bernard(1938), Simon(1965)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지적 토대 마련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Lindblom(1959),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(1964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Dahl(1961)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등에 의해 발전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예산결정은 전년도 예산을 기초로 좁은 범위 내에서 점증적으로 이뤄짐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점증주의적 예산결정 과정과 예산 산출간 밀접한 관련 존재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혁신적이고 체계적인 예산 산출 대신 점증적 산출을 초래함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실증적 성격이 강함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현실에서 이뤄지는 예산결정의 실상을 가장 정확하게 기술한다는 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1372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910D-8F2F-6689-F8EC-2511E488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84A4673-2395-F411-2D77-9B1CB262475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4B8C97-6533-35F4-796B-12DC84C87FF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C27B08-72EE-731D-E47F-2545E960A39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A5E2E-821A-8D8D-939D-815CE5F92AC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과정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597FF1-0676-157D-7F3E-4ABE7E89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29E6D1D-6264-2DE6-136A-467822FFBE3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9765F8E-6C65-FA45-9BD6-21AF97CC2141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과정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연속적이고 제한된 비교분석</a:t>
            </a:r>
            <a:r>
              <a:rPr lang="en-US" altLang="ko-KR" sz="2400" b="1" spc="-1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(successive-limited comparison)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의사결정자는 제한된 정보와 인식 능력을 가져 불확실한 세계에서 문제를 과감히 단순화해 정책 선택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과거에 성공한 정책을 한계적으로 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결정자는 결정에 투입할 시간 및 정책대안 탐색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결과 예측 능력 부족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제한된 수의 대안 비교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결정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그럭저럭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헤쳐나감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(muddling through)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 제한된 비교분석 방법이 연속적으로 진행됨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784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AF45-3A36-C7D1-015D-2FCF4201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D7D330-FE0A-0451-6AAB-D4E39A2C303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B0C59C-630A-82CC-E3FE-2D1E26A0345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5F1EF-A0E9-9C66-5386-EC9E37EABA4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40E54-6BC7-A140-E33B-5EA160D25276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과정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C1548E-D184-DB87-D6BD-C16765DA1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25563D9-1D1C-8239-BF11-06D5DBEA9AB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12BEB0-EC24-AFB3-631E-201828B4631D}"/>
              </a:ext>
            </a:extLst>
          </p:cNvPr>
          <p:cNvSpPr txBox="1"/>
          <p:nvPr/>
        </p:nvSpPr>
        <p:spPr>
          <a:xfrm>
            <a:off x="1080000" y="1671816"/>
            <a:ext cx="10800000" cy="433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과정의 복잡성을 다루기 위해 점증주의적 규칙 사용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예산결정자는 자료가 너무 많거나 적음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사회 체제는 계속 변화함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복잡성을 이해하기 위해 단순화하거나 보조수단 이용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(aids to calculation)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(1984)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 주장한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aids to calculation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행태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경험적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(experimental):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축적된 경험으로 해결하거나 어려움을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피해감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단순화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(simplified):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문제가 복잡할 때에는 단순한 항목으로 대체함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만족화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(satisfice)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예산결정자는 극대화가 아닌 만족화 기준을 사용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점증적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(incremental):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예산결정은 대부분 과거의 결정의 산물임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1053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8B68-EED7-9605-50E4-BB7C796AD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7AC738-3DF4-0CD7-E273-4523EDDF565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738866-77F8-2F3B-F337-7B6129260E3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CE1AD-9B12-851A-3951-21302421356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91405-E3D8-1EFD-13D5-773D3A42A79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과정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FD00CDD-B3C9-752F-2810-98912E665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15CCABC-3F59-3408-E146-95E2A33B370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6448C2-359E-6564-1536-F8045C6A17A2}"/>
              </a:ext>
            </a:extLst>
          </p:cNvPr>
          <p:cNvSpPr txBox="1"/>
          <p:nvPr/>
        </p:nvSpPr>
        <p:spPr>
          <a:xfrm>
            <a:off x="1080000" y="1671816"/>
            <a:ext cx="10800000" cy="4194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거시적 과정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상호 조정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(mutual adjustment)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개인적 차원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 아닌 정책결정 체제에서의 결정 과정을 의미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예산결정은 이미 정해진 결정규칙과 절차에 따라 이루어지고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그 과정에 수많은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분절점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준자율적 의사결정점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 존재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분할적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점증주의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예산과정에 참여하는 당파적 의사결정자들은 공통의 지배적 목적에 따라 조정 가능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협상과 타협을 통해 합의 도달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예산의 정치적 성격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예산은 관료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유권자 등 수많은 주체 간의 협상 과정의 결과임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21944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3EF4-C874-CEC1-62AD-9454D51B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EA10C9-8DBD-1E30-065E-1FE9C816D7A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C59428-D075-7EF8-F0F6-818E6D37E5B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940A2-2768-291B-F704-E5811019489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EB8F5-AA3F-AAF6-FB58-ED62BD75E14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산출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139DEC2-9EA3-A83A-A5FB-B75720EAA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92B64A9-79C6-7496-7F4D-CBCA1757119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BEBFD3-2451-6F53-31D4-8E0F945BCBF1}"/>
              </a:ext>
            </a:extLst>
          </p:cNvPr>
          <p:cNvSpPr txBox="1"/>
          <p:nvPr/>
        </p:nvSpPr>
        <p:spPr>
          <a:xfrm>
            <a:off x="1080000" y="1671816"/>
            <a:ext cx="10800000" cy="426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소폭적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증감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라는 점증성으로 표현 가능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문제는 얼마만큼의 변화를 소폭의 변화로 볼지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무엇을 대상으로 소폭 여부를 판단할지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점증성의 정도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10%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이내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내외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),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25%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30%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이내 등 연구마다 상이함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점증성의 대상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무엇을 대상으로 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하느냐에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따라 달라짐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총예산 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점증적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 간 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선형적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안정적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점증적 결과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사업별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비점증적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1650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3488F-BADD-784D-EEAA-6C70B96F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57C684-0741-5776-458F-70A4BDF1484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32AEC8-BEF8-2D8A-620C-A8E19D9C144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A77A4A-D464-1CB3-63AA-4783B9FE727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2E16C9-6365-F013-0BE3-F40C58DDCCFF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산출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21FC40C-AE4E-37E5-56CF-95BF06445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B235EF4-41F7-D438-3B3B-B681588B9E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C2F6F64-D572-7143-AE83-34B659750C31}"/>
              </a:ext>
            </a:extLst>
          </p:cNvPr>
          <p:cNvSpPr txBox="1"/>
          <p:nvPr/>
        </p:nvSpPr>
        <p:spPr>
          <a:xfrm>
            <a:off x="1080000" y="1671816"/>
            <a:ext cx="10930030" cy="4194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총예산 규모는 점증적임 </a:t>
            </a: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금년도 예산은 작년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전년도에 지출된 금액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함수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산출 결과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기초액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(base)+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공평한 몫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(fair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share)’</a:t>
            </a:r>
          </a:p>
          <a:p>
            <a:pPr marL="1714500" lvl="3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기초액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(base):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부처의 현행 예산 수준은 비교적 제약 없이 다음 연도에도 허용되리라 보는 결정자의 기대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1714500" lvl="3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공평한 몫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(fair share):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기초액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뿐 아니라 총예산의 증감된 부분의 일정 비율만큼 획득할 수 있다는 기대까지 포함한 개념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8478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7CD1-78E1-7567-0EF3-44D31260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27D6660-5F8D-C94D-51A8-1EA9364DB52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18912C-CB6D-93C9-551C-B1C4449E22A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2F468-C8A2-614D-F63B-9462CE08335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DCE43-F451-ACC5-0FA5-11C68B5A770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산출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53BD79B-684F-AEFB-2936-74E80E3E4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427059F-5A72-DF02-048E-47D7912DE1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D2921E1-1272-15CE-F628-E944853C217A}"/>
              </a:ext>
            </a:extLst>
          </p:cNvPr>
          <p:cNvSpPr txBox="1"/>
          <p:nvPr/>
        </p:nvSpPr>
        <p:spPr>
          <a:xfrm>
            <a:off x="1080000" y="1671816"/>
            <a:ext cx="1093003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②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기관 간 관계는 선형적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안정적 → 점증적 결과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과정 규칙에는 선형성 및 안정성 존재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(Davis et al., 1966)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선형성 및 안정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 결정규칙은 예산결정 과정이 안정적임을 경험적으로 입증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1714500" lvl="3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안정적인 예산결정 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개별적인 배분 결정이 충분히 서로 독립적으로 이뤄지기 때문에 서로 간의 상충관계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(trade-off)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단지 내재적일 뿐이고 갈등은 최소화되는 과정을 의미함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(Gist, 1982)</a:t>
            </a: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변화의 점증성을 의사결정의 동태적 특성으로 설명할 수 있음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031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0CF8-4BA0-1ADD-8F25-1554FDF9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BB7B88-1839-C282-A56F-47A063B87E5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C39FDE-D808-D1FF-F865-260FA2F6AD0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75CFE-1237-D9AB-816B-38FBB3F73D0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D97A67-192A-4DFA-1A67-D83ED1EA5E6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산출 측면에서 점증주의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1D42AF5-CA83-7D3C-43D0-18C9BE39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D2BC532-BAB5-7EC3-22DE-ED24619B47A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A931F9-8483-11D2-3C1D-FFBD12268830}"/>
              </a:ext>
            </a:extLst>
          </p:cNvPr>
          <p:cNvSpPr txBox="1"/>
          <p:nvPr/>
        </p:nvSpPr>
        <p:spPr>
          <a:xfrm>
            <a:off x="1080000" y="1671816"/>
            <a:ext cx="10921500" cy="405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③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사업별 예산은 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비점증적으로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변화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분석 단위를 사업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(program)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별로 볼 때에는 </a:t>
            </a:r>
            <a:r>
              <a:rPr lang="ko-KR" altLang="en-US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비점증적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행태를 보였음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(Kanter, 1972; Gist, 1974; Wanat, 1976)</a:t>
            </a: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 부처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OMB, 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의회의 서로 다른 계층 간의 수직적 관계에서 예산결정 행태를 분석하여 점증성과 안정성을 주장한 연구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(Davis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et al.,1966)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와 달리 동일 계층의 분석 단위의 수평적 관계를 분석해 사업 간 경쟁관계에 의한 </a:t>
            </a:r>
            <a:r>
              <a:rPr lang="ko-KR" altLang="en-US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비점증성과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비안정성을 보여줌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(Natchez &amp; Bupp, 1973)</a:t>
            </a:r>
          </a:p>
        </p:txBody>
      </p:sp>
    </p:spTree>
    <p:extLst>
      <p:ext uri="{BB962C8B-B14F-4D97-AF65-F5344CB8AC3E}">
        <p14:creationId xmlns:p14="http://schemas.microsoft.com/office/powerpoint/2010/main" val="3114010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32627-6F82-0182-03D2-B7B883DE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CEDC72-3B64-BC2C-354D-E39B8BD32B0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CFD115-F340-D067-4A03-C418CE7F0FC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A2C03-D888-52FB-E823-58A0073667C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F28223-571F-AEB4-E365-85BE6B2AF8BA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한계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6332A5C-A632-6CE6-8B6C-6157B7ADE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C2616BD-E586-2EAA-C065-0A2AE31F1F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BAE731-0D5F-3074-31B3-73EC744CC808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어느 정도를 점증적이라 볼 것인지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무엇을 대상으로 점증성을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판단할지가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모호함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우주개발 정책 등은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비점증적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결정으로 점증주의로 설명하기 어려움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정치적 실현 가능성과 정책결정 체제의 안정성을 중시함으로써 현존 상태를 옹호하는 보수주의적 성격을 지님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예산개혁 차원에서 점증주의는 뚜렷한 방향을 제시하지 못하고 있을 뿐만 아니라 지금까지의 예산개혁 노력은 총체주의의 제도화에 초점이 모아졌다고 볼 수 있음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9717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0D399-4D55-71E0-D4C9-72168890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27EF0F-D9CD-AEEF-B795-8B292A127D4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6B4AFD-EB6E-16C7-7D5E-BCF65B500DE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A2736B-8CA9-B617-72AB-41390B17FB7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0D3BD-6754-D9E5-801D-565F6E7B08C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점증주의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총체주의와 점증주의의 비교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79661D3-A53A-D060-23B7-D550E4F37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7F27AA-C8DC-49C3-EF2A-2A102B156B4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EFC200-268D-28DC-CA64-AE1E0D990185}"/>
              </a:ext>
            </a:extLst>
          </p:cNvPr>
          <p:cNvSpPr txBox="1"/>
          <p:nvPr/>
        </p:nvSpPr>
        <p:spPr>
          <a:xfrm>
            <a:off x="1080000" y="1671816"/>
            <a:ext cx="1080000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예산결정이론으로서 총체주의와 점증주의의 특성을 비교하면 아래와 같음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343D3C0-2D83-8034-DE7F-00434572D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71247"/>
              </p:ext>
            </p:extLst>
          </p:nvPr>
        </p:nvGraphicFramePr>
        <p:xfrm>
          <a:off x="1635246" y="2505535"/>
          <a:ext cx="9689508" cy="2899628"/>
        </p:xfrm>
        <a:graphic>
          <a:graphicData uri="http://schemas.openxmlformats.org/drawingml/2006/table">
            <a:tbl>
              <a:tblPr>
                <a:noFill/>
                <a:tableStyleId>{3C2FFA5D-87B4-456A-9821-1D502468CF0F}</a:tableStyleId>
              </a:tblPr>
              <a:tblGrid>
                <a:gridCol w="1584688">
                  <a:extLst>
                    <a:ext uri="{9D8B030D-6E8A-4147-A177-3AD203B41FA5}">
                      <a16:colId xmlns:a16="http://schemas.microsoft.com/office/drawing/2014/main" val="555317210"/>
                    </a:ext>
                  </a:extLst>
                </a:gridCol>
                <a:gridCol w="4052410">
                  <a:extLst>
                    <a:ext uri="{9D8B030D-6E8A-4147-A177-3AD203B41FA5}">
                      <a16:colId xmlns:a16="http://schemas.microsoft.com/office/drawing/2014/main" val="1926578933"/>
                    </a:ext>
                  </a:extLst>
                </a:gridCol>
                <a:gridCol w="4052410">
                  <a:extLst>
                    <a:ext uri="{9D8B030D-6E8A-4147-A177-3AD203B41FA5}">
                      <a16:colId xmlns:a16="http://schemas.microsoft.com/office/drawing/2014/main" val="1922496752"/>
                    </a:ext>
                  </a:extLst>
                </a:gridCol>
              </a:tblGrid>
              <a:tr h="565211"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7A232E">
                            <a:tint val="66000"/>
                            <a:satMod val="160000"/>
                          </a:srgbClr>
                        </a:gs>
                        <a:gs pos="50000">
                          <a:srgbClr val="7A232E">
                            <a:tint val="44500"/>
                            <a:satMod val="160000"/>
                          </a:srgbClr>
                        </a:gs>
                        <a:gs pos="100000">
                          <a:srgbClr val="7A232E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총체주의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7A232E">
                            <a:tint val="66000"/>
                            <a:satMod val="160000"/>
                          </a:srgbClr>
                        </a:gs>
                        <a:gs pos="50000">
                          <a:srgbClr val="7A232E">
                            <a:tint val="44500"/>
                            <a:satMod val="160000"/>
                          </a:srgbClr>
                        </a:gs>
                        <a:gs pos="100000">
                          <a:srgbClr val="7A232E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점증주의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7A232E">
                            <a:tint val="66000"/>
                            <a:satMod val="160000"/>
                          </a:srgbClr>
                        </a:gs>
                        <a:gs pos="50000">
                          <a:srgbClr val="7A232E">
                            <a:tint val="44500"/>
                            <a:satMod val="160000"/>
                          </a:srgbClr>
                        </a:gs>
                        <a:gs pos="100000">
                          <a:srgbClr val="7A232E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81621206"/>
                  </a:ext>
                </a:extLst>
              </a:tr>
              <a:tr h="7781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미시적 과정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총체적이고 체계적인 분석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연속적이고 제한된 비교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840067"/>
                  </a:ext>
                </a:extLst>
              </a:tr>
              <a:tr h="7781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거시적 과정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집권적이고 제도화 프로그램 예산편성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당파적 상호 조정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49916"/>
                  </a:ext>
                </a:extLst>
              </a:tr>
              <a:tr h="7781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결과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신규사업과 대폭적이고 체계적인 변화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전년도 예산의 소폭 변화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02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812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A422-412D-E9A5-314B-B595BDD7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A3065D4-BBC9-B37B-7CDA-63AD4EE382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CA0F07-4762-D8F9-5B1C-4D7DAE9700F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831155-67FA-90C6-86BD-137E251B299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59E02-A29A-DF6D-A1C7-A2F8EBC40A6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의의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7A38FDF-1586-1782-169E-5962A88E2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3C54F17-1EDC-3D03-4FDC-8FAA50CF228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6C13AA-4930-17B5-E9C2-53FACE956003}"/>
              </a:ext>
            </a:extLst>
          </p:cNvPr>
          <p:cNvSpPr txBox="1"/>
          <p:nvPr/>
        </p:nvSpPr>
        <p:spPr>
          <a:xfrm>
            <a:off x="1080000" y="1671816"/>
            <a:ext cx="10752000" cy="410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Thumaier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&amp; Willoughby(2001)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예산운영의 다중 합리성 모형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(Kingdon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정책결정 모형과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Rubin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실시간 예산운영 모형을 통합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과정적 접근 방법에 근거 → 정부예산의 성공을 위해서는 예산 과정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 단계의 예산활동 및 행태의 구분이 필요하다는 것을 강조함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수준의 예산상 의사결정 설명 → 구체적으로는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“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 예산주기 간의 관계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정보의 흐름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예산상 역할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최종 지출계획을 결정하는 개인의 선택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이를 위해 예산운영의 과정 모형을 몇 가지 정책결정 이론으로부터 원용하고 개인의 예산결정 전략에 관한 연구와 결합시킴으로써 설명하고자 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70940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7BFB-3817-F85E-ACF9-46E8085C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92F760-2ACB-2975-BE73-D73B1747EB1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54A531-2FC6-AEAA-ADFC-969832932D7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84386-02AF-0B5F-14C0-F7616B41E61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42BC9-A235-4196-AED6-29C66517193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킹던의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정책결정 모형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77D204-BC59-0814-9CB3-A2CD2F747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233C14E-0761-9361-1F75-B2570220B7B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DF9B33-B2AE-1805-1651-C4C4EC8BF47F}"/>
              </a:ext>
            </a:extLst>
          </p:cNvPr>
          <p:cNvSpPr txBox="1"/>
          <p:nvPr/>
        </p:nvSpPr>
        <p:spPr>
          <a:xfrm>
            <a:off x="1080000" y="1671816"/>
            <a:ext cx="10800000" cy="287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과정모형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(process model)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 쓰레기통 모형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(garbage can model)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을 결합하여 정책 과정에서의 정책의제 설정을 설명 → 쓰레기통 모형의 기본 논리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선택 기회는 참여자가 만들어 낸 문제와 해결책으로 구성됨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를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유지하면서 관련 흐름들의 유형을 바꾼 모형을 제시함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킹던의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정책결정 모형의 세 가지 특징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다중 의사결정의 흐름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두 집단의 의사결정 행위자들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두 가지 형태의 의사결정 기회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9460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6387-B84C-DB29-26B8-8366EE51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C8B2C46-25BE-BE43-37FE-54E3E1D9350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947C27-9B74-6477-A049-49D2A145061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FF03EE-3901-62A1-8380-4D5D64399D5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68B910-50D4-CB4C-BB97-D15BEDF204FD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킹던의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정책결정 모형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0863008-FEB7-97D2-1D2C-9E0BD5A13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A153D6-F15E-50B6-D5BB-3894CB0F12A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BF0AEE-4BB5-AEA5-F2ED-3DB2B9973432}"/>
              </a:ext>
            </a:extLst>
          </p:cNvPr>
          <p:cNvSpPr txBox="1"/>
          <p:nvPr/>
        </p:nvSpPr>
        <p:spPr>
          <a:xfrm>
            <a:off x="1080000" y="1671816"/>
            <a:ext cx="10800000" cy="412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다중 의사결정의 흐름</a:t>
            </a:r>
            <a:endParaRPr lang="en-US" altLang="ko-KR" sz="2400" b="1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 가지 결정 영역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문제에 대한 결정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정책대안에 대한 결정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정치적 결정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각각 정책 과정에서 독립적인 흐름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(streams)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을 가짐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위 세 가지 흐름 모두 합류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+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참여자들이 현재 정책을 변화시키기 위한 기회의 창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(window of opportunity)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을 가질 때 → 정책 선택의 변동 가능성 증가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기회의 창은 문제가 명확하고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해결책이 존재하고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정치적 지원이라는 필수적 요소를 모두 갖추었을 때에만 열림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어느 하나라도 부족하면 안됨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674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61C4-DC7A-34CA-8DB9-9C0FE88A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07116B-843C-D591-8F9C-3E2C6EC881B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A8F8CD-57B4-B8E7-B500-89606D056E2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8A609A-BD59-8AA2-53B1-68E9A52794D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668EF0-3EA2-314F-B5E9-0C7E7A57215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킹던의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정책결정 모형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B6D256-FBFD-E4E7-C3A1-B45CC6A2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BD4850E-AA77-B73A-5026-A6E319720D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16EE7E1-E0A9-D001-AC0E-FE5494592595}"/>
              </a:ext>
            </a:extLst>
          </p:cNvPr>
          <p:cNvSpPr txBox="1"/>
          <p:nvPr/>
        </p:nvSpPr>
        <p:spPr>
          <a:xfrm>
            <a:off x="1080000" y="1671816"/>
            <a:ext cx="10921500" cy="453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두 집단의 의사결정 행위자들</a:t>
            </a:r>
            <a:endParaRPr lang="en-US" altLang="ko-KR" sz="2400" b="1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정부의제와 결정의제로 구분 → 앞에서 살펴본 세 가지 결정 영역 에서 특정한 정책 참여자들이 영향력을 행사한다고 봄 → 가시적 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vs 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비가시적 집단의 구분</a:t>
            </a:r>
            <a:endParaRPr lang="en-US" altLang="ko-KR" sz="20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가시적 집단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(visible cluster):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대통령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정무직 고위관료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의회 지도자들 → 언론과 대중의 관심을 끔 → 정치적 흐름 지배 → 정부의제에 영향을 미침</a:t>
            </a:r>
            <a:endParaRPr lang="en-US" altLang="ko-KR" sz="20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비가시적 집단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(hidden cluster):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학자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연구원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직업 공무원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의회 참모들과 같은 정책전문가들 → 정책대안 만들기에 몰두 → 결정의제에 영향을 미침</a:t>
            </a:r>
            <a:endParaRPr lang="en-US" altLang="ko-KR" sz="20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정부의제가 가시적 집단에 의해 결정의제화 되면 숨겨진 집단에서 검토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해결책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대안 모색 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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이때</a:t>
            </a:r>
            <a:r>
              <a:rPr lang="en-US" altLang="ko-KR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0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 제약이 실현 가능성과 관련해 큰 의미를 가짐</a:t>
            </a:r>
            <a:endParaRPr lang="en-US" altLang="ko-KR" sz="20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6955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F94F-A868-9BA7-0591-2C5BDBE5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316B3E7-2F57-0F09-3D8A-CCBDBC77AA3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96BB45-7754-9E81-4C55-AA52ECAFEB6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4A3F4-4F4B-D7FA-6F67-A8AEA4E8828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ACA24-2334-F12D-BF28-149B38B53ACE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킹던의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정책결정 모형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CD1043-F03A-2CDF-CC39-C8E910C5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BECDB54-FA72-835D-EDD7-E5334B8AB08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9DDD314-9766-C8A6-D884-992B9D196290}"/>
              </a:ext>
            </a:extLst>
          </p:cNvPr>
          <p:cNvSpPr txBox="1"/>
          <p:nvPr/>
        </p:nvSpPr>
        <p:spPr>
          <a:xfrm>
            <a:off x="1080000" y="1671816"/>
            <a:ext cx="10921500" cy="4194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두 가지 행태의 의사결정 기회</a:t>
            </a:r>
            <a:endParaRPr lang="en-US" altLang="ko-KR" sz="2400" b="1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 과정에서 선택 기회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예측 가능 기회의 창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vs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예측 불능의 기회의 창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 가지 흐름이 서로 합류할 때 기회의 창이 열린 동안 정책 변동 발생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=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즉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문제가 인식되고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해결책이 마련되어 있고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정치적 분위기가 정책 변화를 받아들일 수 있고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다른 제약 조건이 그러한 조치를 제한하지 않는 상태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예측 불능 기회의 창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위기나 격변에 의해 국가적 분위기가 흔들리는 경우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예측 가능 기회의 창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매년 반복되는 예산편성 과정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88766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631D-06F8-F275-2D60-6A6EC64C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D081CA2-83C0-D9BF-8D94-70B90B99DDD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7FDCDF-C648-9E7D-2C44-F5198B86D13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D8B2FC-3FA7-278A-07DD-F7D26D555A5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7DFAD-54F9-51F6-6B37-5AF2BA157A4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68E2B59-F7E8-DC6C-19D3-D72C82AA9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F480A4-CE14-5A8B-3BF1-3DCAA981FA5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55B9C10-9D85-EA01-E772-73AAEF04FF81}"/>
              </a:ext>
            </a:extLst>
          </p:cNvPr>
          <p:cNvSpPr txBox="1"/>
          <p:nvPr/>
        </p:nvSpPr>
        <p:spPr>
          <a:xfrm>
            <a:off x="1080000" y="1671816"/>
            <a:ext cx="10800000" cy="436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서로 성질이 다르나 서로 연결된 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'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세입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세출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균형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집행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과정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5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개의 의사결정 흐름이 통합되면서 초래되는 의사결정모형</a:t>
            </a:r>
            <a:endParaRPr lang="en-US" altLang="ko-KR" sz="22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실시간이란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한 결정의 흐름에서 이뤄지는 결정이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다른 결정의 흐름 및 환경으로부터 오는 정보와 결정에 계속적으로 적응하는 것을 말함</a:t>
            </a:r>
            <a:endParaRPr lang="en-US" altLang="ko-KR" sz="22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루빈 모형은 예산 정치 모형임 → 예산운영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자체는</a:t>
            </a:r>
            <a:r>
              <a:rPr lang="en-US" altLang="ko-KR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정치가 아님 → 오히려 특정의 정치적 의사결정을 포함한다는 개념에서 실마리를 </a:t>
            </a:r>
            <a:r>
              <a:rPr lang="ko-KR" altLang="en-US" sz="22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풀어감</a:t>
            </a:r>
            <a:endParaRPr lang="en-US" altLang="ko-KR" sz="22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쓰레기통 모형과 </a:t>
            </a:r>
            <a:r>
              <a:rPr lang="ko-KR" altLang="en-US" sz="22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킹던의</a:t>
            </a: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정책과정 모형의 여러 특징을 담고 있음</a:t>
            </a:r>
            <a:endParaRPr lang="en-US" altLang="ko-KR" sz="22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단계 발견 모형의 정책결정의 순차적 측면도 비선형적 예산 과정을 살펴보는데 활용하고 있음 </a:t>
            </a:r>
            <a:endParaRPr lang="en-US" altLang="ko-KR" sz="22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61438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52017-01F5-6CC7-B6D8-445B8AB0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A301A5-13F7-B094-BD2F-E2B92406B54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6AA11B-F469-C68A-0B1F-3FD2D67A2BA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71F97-45C9-1CD7-8070-D8E9351DBED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38AF72-5A95-BABC-2630-2F32C031545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C93FE1-8CEE-3FEF-6E09-822501E2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8CF2E4-D893-65C9-4A68-B9936A1F264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93085A-915E-36CC-6079-20BA292F763D}"/>
              </a:ext>
            </a:extLst>
          </p:cNvPr>
          <p:cNvSpPr txBox="1"/>
          <p:nvPr/>
        </p:nvSpPr>
        <p:spPr>
          <a:xfrm>
            <a:off x="1080000" y="1671816"/>
            <a:ext cx="10800000" cy="4181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예산운영은 경제적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정치적 환경에 개방되어 있으며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변화하는 외부 요인에 대처할 수 있어야 함 → 다양한 목표와 의제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자원을 가진 여러 행위자들이 존재하기 때문에 예산운영은 변화하는 환경에 융통성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적응력을 가질 필요가 있음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이때 융통성은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“‘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느슨하게 연계된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다섯 개의 의사결정 흐름과 그와 관련된 의사결정자들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각각의 예산운영의 정치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”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 통합되는 의사결정 구조에 의해 생김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세입 흐름에서 의사결정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세출 흐름에서 의사결정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균형 흐름에서 의사결정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④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집행 흐름에서 의사결정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과정 흐름에서 의사결정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95983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6B87-DB94-FC36-71E9-F2EA586C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39CEA40-9DD7-4042-98A8-E3ED27DD9CB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C0C153-937D-0E51-B019-8D8AC7AE4C7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29E66-8D7C-E19B-FF58-9F19F064378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C523EC-7824-EA72-CBA0-A4ACD826F6FA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1DE90DE-2F34-89B6-AD4C-951E5AED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22FA86A-5655-8D49-25BE-19DD1258E9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C5FD68-B12D-7D67-EAE7-4DB6D13E11D3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세입 흐름에서 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누가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얼마만큼 부담할 것인가에 대답하는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설득의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 주요 결정은 조세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조세정책의 변동을 통해 세입원의 제약 조건을 변경할지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변경한다면 어떻게 할 것인지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세입원의 기술적 추계가 주된 제약 조건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세출 흐름에서 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예산획득을 위한 경쟁과 예산배분에 관한 것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선택의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기준 예산의 기술적 추계가 첫 번째 제약 조건이나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점차 정치적 결정이 되고 있음 → 우선순위 조정에 관한 문제로 변모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0148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F13D-65F1-E7FF-A9E4-A9A70786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516DA84-4959-A5EC-ED84-6341F654F3A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38917B-02E2-D899-E8F2-26642C97C3E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73A194-4BD1-2EB7-89B0-47F2043232A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A4EB5-5C8F-2684-8794-51E16CBEF08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2F2E608-CBDE-50D0-3823-3A734535E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6297D4-4479-FE9E-0628-42A0DA0D3F4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DD5623F-C580-81B9-7E6E-5FC71227B290}"/>
              </a:ext>
            </a:extLst>
          </p:cNvPr>
          <p:cNvSpPr txBox="1"/>
          <p:nvPr/>
        </p:nvSpPr>
        <p:spPr>
          <a:xfrm>
            <a:off x="1080000" y="1671816"/>
            <a:ext cx="10800000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균형 흐름에서 의사결정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제약 조건의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 균형을 어떻게 정의할 것인지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균형을 이룰 필요가 있는지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어떻게 달성할 것인지를 결정해야 함 → 예산 균형의 결정은 세입과 세출 추계치 간 상호작용 과정이나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근본적으로 정부 범위 및 역할에 대한 결정과 연계됨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복지 프로그램 계획과 관련된 논쟁이 이를 시사함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9719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BC0B-5369-A84C-3EB8-E562DD7B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E100E5-911E-C67B-12C2-79D0210BC81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87A755-61A1-148A-A477-E54366818FC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3002D4-0571-91F7-797B-B22A0C20E17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7C909-5D9B-E8DA-B1BC-F174F9DEDDA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A3BEC28-153D-8616-1544-F004D95E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BA35C01-1AA5-65B5-DC46-C6CBEC3B76C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E1239CD-91DC-EA16-CCF3-23B9C254A409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④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집행 흐름에서 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기술적 성격이 강함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선택의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기준 예산의 기술적 추계가 첫 번째 제약 조건이나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점차 정치적 결정이 되고 있음 → 우선순위 조정에 관한 문제로 변모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예산계획에 따른 집행과 수정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일탈의 허용범위에 관한 문제가 중요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환경 요인이 변동되면 예산집행의 변화를 초래하기도 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수단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사업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 가치 중립적이지 않음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예산집행 과정에서의 변동은 다음 연도 기준 예산에 영향을 미치며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세출 흐름과 예산 균형 흐름에 영향을 미치게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10593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C7CD-3CE1-C0DC-2999-9704973A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FC5E113-28DC-2BC9-EAC0-D9CBE18167A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1A2E9F-6040-1597-4230-C144DB10D5A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70107-90EA-08E6-9496-9FA97AD4EBF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625AD-6DB6-8CF5-0502-ABF7A26EA4E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C6920C8-3F1E-DF9B-0793-A361DFA3D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27627F-D5A3-0223-9753-68EA24DCF04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1D04AB6-DA0E-D7A8-27C2-C2AC2727405D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과정 흐름에서 의사결정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어떻게 예산을 결정하는가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누가 예산을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결정하는가의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 → 누가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개인 또는 집단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참여하는가는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 결과에 영향을 미침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 흐름에서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갈등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행정부와 입법부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사법부 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납세자인 시민과 예산 배분 결정자인 정부관료 간의 결정 권한의 균형에 관한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정부사업에 대한 사회적 가치평가를 표현할 수 있는 사회는 효과적인 정치적 결정을 가능하게 해주며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정치적 합리성을 달성하게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37089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16B6-E9CE-6352-07B6-966CBEA2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5E46C12-E004-C216-B973-213F0A62497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2C720A-8D76-F66F-8017-3117C93934A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23CA84-FD11-5E5B-9E7D-719C7736341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2A99E-5CAF-F372-FBF3-0E2B70E8FF5A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D815234-86F6-769B-6E72-9A0EC2471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F23B991-5941-BAC2-1178-8F9A9B7AB5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6294268-BC5D-7757-6C2E-8DF18E07B85E}"/>
              </a:ext>
            </a:extLst>
          </p:cNvPr>
          <p:cNvSpPr txBox="1"/>
          <p:nvPr/>
        </p:nvSpPr>
        <p:spPr>
          <a:xfrm>
            <a:off x="1080000" y="1671816"/>
            <a:ext cx="10800000" cy="4107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다섯 개의 의사결정 흐름은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준독립적이지만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핵심 정보가 서로 연계시켜 주기 때문에 상호 의존적 → 다른 흐름에서의 결정 및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및 경제적 환경 변화에 반응하는 각 흐름에서의 순차적인 결정 조정이 예산운영에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그러나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시간에 대한 취급은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모형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실시간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예산모형 간 차이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정책과정모형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시간보다 각 흐름이 모여 정책이 결정되는 적시성 중시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실시간 예산모형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실질적 제약 조건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그 자체에 주목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다섯 개의 흐름 속에서 각 행위자들은 정해진 기한을 염두에 두고 예산을 결정한다는 것이 실시간 모형의 핵심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그러나 시간 조절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(timing)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여전히 중요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93032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4D02-5F79-AFD1-AABE-C30083B4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7C2C1F-F28F-4DEF-DEBB-88FAF43BAB9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96E909-4675-0264-8FC8-73FD809389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D73350-2E3F-254A-458C-3936BDCD7BD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429F5-F4CC-857E-7A33-D952657A86F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루빈의 실시간 예산운영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(RTB)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모형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8BBE135-ED6D-CF80-99D6-A76E98F93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3CA34F-91F9-AA22-ADEC-A8720BE2DF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7AB1010-75EA-FAA2-6CCB-B6B6811713ED}"/>
              </a:ext>
            </a:extLst>
          </p:cNvPr>
          <p:cNvSpPr txBox="1"/>
          <p:nvPr/>
        </p:nvSpPr>
        <p:spPr>
          <a:xfrm>
            <a:off x="1080000" y="1671816"/>
            <a:ext cx="10800000" cy="426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루빈 모형의 한계는 다음과 같음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예산이 기한 내에 처리되어야 한다는 시간 개념에 주목하긴 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구체적으로 예산 의사결정에 어떤 영향을 미치는가에 대해선 분석하지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단계 발견 모형과 마찬가지로 거시적 측면의 묘사적 모형에 불과함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미시적 측면에서 예산을 바라보지 못함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83845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03D1-D8A4-4494-2ACA-BB8B41BE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60142CE-8365-27F7-3AC4-7FC0C36E60C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4B877E-0A65-E4F1-6450-C7D3FE5DE3B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C9C03-6DE3-8764-6345-4301DCFD557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598CC-A033-83C0-11DC-2DBD261280D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5A1FFF2-10EE-BD95-84C1-2F30B7BC4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E70A3FF-7FF8-A871-D92D-A6DF8CCB4E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E6EBC59-1726-F386-A663-85966BBA2F00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(1992)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현대 예산의 복잡성이 포괄적 이론 개발을 가로막고 있다고 주장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그러나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예산의 합리성을 이해하기 위해 미시적 수준에서 다중 합리성과 기회주의적 예산 전략에 초점을 둔 실험적 연구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en-US" altLang="ko-KR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Thumaier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&amp; Willoughby,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2001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등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들이 계속 진행되어 왔음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이를 통해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예산결정이 여러 요소를 포함하고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예산운영자들이 다양한 시점에서 제공받는 여러 형태의 정보를 걸러내기 위해 다중 합리성을 적용하려는 경향이 있다는 결론을 지을 수 있음 →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?!</a:t>
            </a:r>
            <a:endParaRPr lang="ko-KR" altLang="en-US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24288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1BC8-52F1-5500-1405-D3052027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C65C592-271C-C0CC-2E44-DA9B72F3331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F5ADE5-F24B-5EDA-2353-1EB32C7963B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4141E-5ABD-F09C-8625-91F85897C050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6CB0EA-9C26-8D1C-1A45-F928F786BDD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211BA18-391E-E309-9A6A-F445A1D94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96D914B-FCD7-5086-B3A5-4ECF5852721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84BDD3-FBB4-EA2F-1D91-99E70446DA92}"/>
              </a:ext>
            </a:extLst>
          </p:cNvPr>
          <p:cNvSpPr txBox="1"/>
          <p:nvPr/>
        </p:nvSpPr>
        <p:spPr>
          <a:xfrm>
            <a:off x="898931" y="1421193"/>
            <a:ext cx="10800000" cy="4674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예산분석가의 역할</a:t>
            </a:r>
            <a:endParaRPr lang="en-US" altLang="ko-KR" sz="2400" b="1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중앙예산실의 예산분석가는 재정분석가를 넘어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정책분석가의 역할 수행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예산분석가는 예산요구 흐름을 주지사 및 주의회에 전달하고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주지사를 보좌하며 예산 산출에 상당한 영향력을 행사함 → 각 부처의 자원 활용 능력이나 업무수행에 대해 잘 알고 있음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+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최종결정권자의 입장으로서 거시적 관점을 갖고 정책을 개발하고 혁신할 수 있는 능력을 지님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예산분석가의 역할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직업관료들의 미시적 예산결정과 정무직 관료의 거시적 예산결정의 조화를 도모하는 것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3929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DC26-4C94-28EE-5425-15920B06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296ED2-74CF-698E-497F-980AC62324E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69E6A7-CFC4-CAF9-F3CB-A2B7AC0D2B9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E199F4-259B-B607-FBA0-0EB9F5EC36D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6B7658-825A-6E4D-5520-9B346742E92E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FEC00F-58BE-9203-6717-CC1171D4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282313-31AD-D34F-98AD-A8956F34C7C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519AF8F-1049-FC43-53B9-BFB6EC72F915}"/>
              </a:ext>
            </a:extLst>
          </p:cNvPr>
          <p:cNvSpPr txBox="1"/>
          <p:nvPr/>
        </p:nvSpPr>
        <p:spPr>
          <a:xfrm>
            <a:off x="1004048" y="1337109"/>
            <a:ext cx="10800000" cy="4748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예산운영의 거시적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관계</a:t>
            </a:r>
            <a:endParaRPr lang="en-US" altLang="ko-KR" sz="2400" b="1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거시적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예산결정은 환경적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조직적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기술적 요인에 의해 틀이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짜여짐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연방정부의 환경적 요인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세제개혁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법원 판결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자연 재해 등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세입 및 세출의 우선순위를 변화시킴 → 미시적 예산결정에 영향을 미칠 수 있음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조직적 및 기술적 요인들은 의사결정자들의 정보 수집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결정전략 형성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현명한 선택 능력에 영향을 미침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관료들의 개인적 배경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경험 및 활동들은 예산 과정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다른 참여자와의 관계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 단서의 고려 등을 이해하는 데 영향을 미치기도 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0185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13D2-DB2D-7B09-927D-52A8A1F7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CB246DA-5B66-EE87-C43C-0570581F7C6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08A67-910B-6222-82DA-7F11B7B14BF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E35B1-C1E3-15A6-8B31-16F39F8C475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A31C6C-8711-0951-5182-AE4234337D7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74C2352-A709-BD52-82FB-E0844EEC1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77A3803-7E57-1211-EDE0-442F841A178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9D2B21-06B5-86C1-1663-6009AE40C98B}"/>
              </a:ext>
            </a:extLst>
          </p:cNvPr>
          <p:cNvSpPr txBox="1"/>
          <p:nvPr/>
        </p:nvSpPr>
        <p:spPr>
          <a:xfrm>
            <a:off x="1080000" y="1671816"/>
            <a:ext cx="10800000" cy="412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미시적 수준의 모형 개발</a:t>
            </a:r>
            <a:endParaRPr lang="en-US" altLang="ko-KR" sz="2400" b="1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킹던의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결정 의제 개념을 확장 → 예산결정 의제 설정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의제는 정책결정자들이 적극적으로 다음 예산에 포함시키려고 고려 중인 이슈들의 집합으로 주로 가시적 참여자 집단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주지사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의해 결정 → 숨겨진 참여자 집단은 예산 및 정책대안의 세부 사항을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추진시킴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예산실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분석가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예산에 관한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기회의 창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에서 문제와 해결책을 연결하는 책임을 진 가장 중요한 행위자임 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40834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86DF-80D6-2D03-6AB8-7458304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53B70FF-6964-394A-E537-AA1BA36BFC1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512BC1-82FD-4769-7483-BFEB33FEBB8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1FD4D0-BBD6-82C4-BD34-0F0E09F44FC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0FD61A-BCF9-1ADD-3572-0583AE066F4D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F6683B3-8313-00C5-0D58-0323DC440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3738914-7450-2556-D731-57616098150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4DD4A2E-5C79-4EAF-8D8C-0F873C37605B}"/>
              </a:ext>
            </a:extLst>
          </p:cNvPr>
          <p:cNvSpPr txBox="1"/>
          <p:nvPr/>
        </p:nvSpPr>
        <p:spPr>
          <a:xfrm>
            <a:off x="1080000" y="1671816"/>
            <a:ext cx="10800000" cy="412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미시적 수준의 모형 개발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실질적 정책 영역에서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정책역할을 수행하는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주정부의 분석가들의 정책에 대한 영향력은 어떤 종류의 예산분석에 참여하는지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결정 의제에서의 정책 이슈의 위치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예산요구액의 크기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분석가의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예산실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경력 등에 따라 달라짐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수문장 역할 수행 → 예산상의 기회의 창에 집중됨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즉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정책결정자가 선택해야 할 여러 가지 정책 이슈들이 뒤섞인 상태에서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분석가들이 어떻게 다듬어서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내어놓느냐에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따라 채택 여부가 판가름 남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11545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DAEE-ABF4-9AC5-ADD7-56300EBF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1624DD-6931-16C1-A71D-8B44CC37F6B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01973A-837F-CFC9-2AE7-5F6368D84D4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C4882-997E-BFC7-D89A-67325F82AE8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C46268-1636-864E-7D59-969EB390FEB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4F58DEE-E90D-EE8D-7314-9A54B06BE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2096063-FF6D-4F20-5E04-5004792D1C5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1216D9-89FB-C067-86F6-E800616C6916}"/>
              </a:ext>
            </a:extLst>
          </p:cNvPr>
          <p:cNvSpPr txBox="1"/>
          <p:nvPr/>
        </p:nvSpPr>
        <p:spPr>
          <a:xfrm>
            <a:off x="1004048" y="1445479"/>
            <a:ext cx="10800000" cy="467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미시적 수준의 모형 개발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중앙예산실에 정책지향성이 부여되도록 예산 과정이 구조화되면 분석가들은 정책결정 과정에서 주지사를 위해 행동하게 됨 → 어떤 예산결정 항목들이 예산결정 의제에 오르는지 않는지에 관한 단서는 정치적 행위자들로부터 얻음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결정 의제에 올라 있는 예산 항목들에 대해서는 합법적 대안 선택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그렇지 않은 항목들은 각 부서에 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“No”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라고 얘기함으로써 위임된 결정권 행사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각 부서의 요구가 정당하다고 판단될 경우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그들 편에서 분석을 진행하고 결정권자의 눈에 잘 띄도록 예산을 배정하기도 함 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00290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88F3-54BF-53BD-C946-284D2B4D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4259F5-5187-A442-F2E8-51B21E978EF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C8CB52-DA8E-AFAF-74A5-4C2328DBD05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88404-43D2-B859-CCE1-53E13A3FFB2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D15E87-6A0D-73CC-2331-172C67F082A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59C37F7-6E67-9B25-F138-973AB803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A38D88-1826-DA9F-C5E6-BE47F7C0C8B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26A97BE-E78B-BA83-CA75-43F1CBDF4F44}"/>
              </a:ext>
            </a:extLst>
          </p:cNvPr>
          <p:cNvSpPr txBox="1"/>
          <p:nvPr/>
        </p:nvSpPr>
        <p:spPr>
          <a:xfrm>
            <a:off x="1004048" y="1384549"/>
            <a:ext cx="10800000" cy="467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미시적 수준의 모형 개발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시간 제약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중앙예산실의 예산운영 과정에 있어서도 중요 변수임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과정은 정책결정과 달리 기한이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정해짐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→ 예산 통과 기한이 도래할 때 실시간 모형에서 의사결정 흐름들을 합치시킬 것을 요구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최종 기한이 가까워져 오면 중앙예산실 관료들은 각 흐름을 서로 더욱 근접하게 함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→ 시간적으로 동시에 합류될 필요는 없으나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궁극적으로 새로운 예산이 승인될 수 있게 완전히 통합되어야 함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승인과 동시에 정책결정도 예산에 포함됨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중앙예산실의 또다른 특징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전체적 관점 또는 큰 그림을 제공한다는 것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57392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470EB-ED6C-543F-8463-477AE44F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5AE683-EE6F-0945-58B1-F236994A630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020516-18C9-584D-6E48-AE3DF42A600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04A19-21EB-BC63-A28E-8BD427166C5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2BC8CD-D7F0-0065-760E-D6B61A2E288F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DAEC8DA-6711-4C19-7D53-5AE2C8BE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18F2B8B-2242-4FA9-B432-198B0CB7476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4D3D86-BD2F-00B7-FDAC-EC1213688A24}"/>
              </a:ext>
            </a:extLst>
          </p:cNvPr>
          <p:cNvSpPr txBox="1"/>
          <p:nvPr/>
        </p:nvSpPr>
        <p:spPr>
          <a:xfrm>
            <a:off x="1004048" y="1280520"/>
            <a:ext cx="10800000" cy="467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미시적 수준의 모형 개발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다양한 형태의 다중 결정 흐름 개념은 예산 관료들이 미시적 예산결정에 다중 합리성 접근법을 사용한다는 검증 사실과 일치함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과거의 실험적 연구 결과와 중앙예산실의 분석가들에 대한 현재 연구는 예산 관료들의 결정이 예산주기상의 다양한 시점에서 서로 다른 형태의 다중 결정으로 구성되어 있음을 보여줌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미시적 예산결정 수준에서 재정적 결정과 비재정적 결정을 결합하는 것은 거시적 예산결정과 미시적 예산결정의 연계점에서 분석가들이 결정적 역할을 한 직접적 결과임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42987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1CD4-5B27-CFC9-E636-2949DEB2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FC3801-8AF9-B5FF-FA0A-DBFE7DF7CF8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299BD9-A6D2-CE62-E6E9-A97A40B4B3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F6FB50-73F1-B4C1-BF2E-96D307A1A74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DB3A7-F195-A9B8-E1E7-93B94EAD258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다중 합리성 모형의 모색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F1DA56-DF3E-4D98-02F6-9EB9DB65C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D074A28-FEDA-99DB-DDD2-473E00F65CA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7669B6-F319-24BC-0CA5-EEFABDA176B1}"/>
              </a:ext>
            </a:extLst>
          </p:cNvPr>
          <p:cNvSpPr txBox="1"/>
          <p:nvPr/>
        </p:nvSpPr>
        <p:spPr>
          <a:xfrm>
            <a:off x="1080000" y="1671816"/>
            <a:ext cx="10800000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결론적으로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중앙예산실은 거시적 예산결정과 미시적 예산결정의 연계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en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nexus)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역할 수행 → 정책결정과 예산결정의 흐름이 소용돌이처럼 중앙예산실에서 섞이고 얽혀 상호 영향력을 행사함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7B365D-F4D1-9D99-895B-69093DAC48C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188963" y="3429000"/>
            <a:ext cx="5814074" cy="261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26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31ED-EF3C-7BD3-0B66-0229F67D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C34CE08-C291-9721-740B-BD66E13A145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2F5ECC-68DB-88DA-FE4D-28E98EF1D3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53788-BD1D-EFEB-9B30-18ADC880557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1E5CD4-5523-E1C3-FE19-AF793722590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의의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FD41C83-A5A4-5240-CAC1-3763C55E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FA312AB-F752-1EE6-5148-431DD7B2B4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684B88E-CF94-6F60-9409-C932790A8C75}"/>
              </a:ext>
            </a:extLst>
          </p:cNvPr>
          <p:cNvSpPr txBox="1"/>
          <p:nvPr/>
        </p:nvSpPr>
        <p:spPr>
          <a:xfrm>
            <a:off x="1080000" y="1671816"/>
            <a:ext cx="10800000" cy="405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예산운영의 조직과정 모형은 한동안 공백 기간으로 비쳐진 시기가 있었음 → 지출 결과가 공공재의 수요와 공급에 의해 결정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경쟁이 선출직 관료들을 중위투표자의 선호를 반영하게 한다는 주류 경제학 모형이 광범위했음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Green &amp; Thompson(2001)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조직과정 모형이 주류 모형에 좋은 대안이 될 수 있을 것으로 생각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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현재의 발달된 정보 기술은 모형의 방법론을 발전시킴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조직과정 모형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(organizational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process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models)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발전 과정은 선언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형식화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분화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확산의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4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단계로 구분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5891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1CC3-CD04-F6CA-6FF1-3B8D8187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F22DC1-8D4E-E754-4901-AD35E70FFC0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DD307E-0ADC-2D85-D4EE-CFFC634E7C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DBCFD-40A9-8E4E-D368-C3A60393C51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705A9D-077C-49EB-3C67-E04D3723C49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선언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D646233-C47A-D065-724A-E3BB55900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29CE2DF-4F87-D7B4-3F21-76EE244E6C2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7C5ABB-B435-3782-571B-4C3EC759DCA1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Simon, Lindblom,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각각 행정학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경제학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정치학 분야에서 조직과정 모형을 발전시킴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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분석의 단위는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결정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(decision)’,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학제 간 연구에 의존함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Simon(1955; 1957)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제한된 합리성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’: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인간의 완벽한 합리성 가정에 대한 비판으로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인간은 단지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만족화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할 뿐 복잡한 환경에서 인간은 일부의 목표를 제한된 수단으로 추구함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과정에서도 마찬가지임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예산결정자는 전년도 지출과 과서 결정에 기초해 불확실성과 정보 획득 비용을 줄이려고 노력함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9415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7F2F-E163-0FFC-EF25-D55B3127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D92CDC6-531C-F3C2-49B3-EF344BCA10E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C67B69-316A-0F8A-45ED-AD364A05A39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9E2EA-4DBD-FAD3-8907-3707B87ADF4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FA5BB-AB9B-0F9B-2EEA-1130553D22F1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선언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3F50038-A53F-4D4B-BE1B-75EED9A76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44E6D4A-6E64-093C-7654-6CE08422B3A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48492A-E1E1-07E1-8ACC-3B2D239D3D55}"/>
              </a:ext>
            </a:extLst>
          </p:cNvPr>
          <p:cNvSpPr txBox="1"/>
          <p:nvPr/>
        </p:nvSpPr>
        <p:spPr>
          <a:xfrm>
            <a:off x="1080000" y="1671816"/>
            <a:ext cx="10800000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Lindblom(1958; 1959)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완벽한 분석을 전제한 최적화는 불가능하며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단지 과거의 결정에 의존하는 제한된 변화만이 가능하다고 주장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개인의 결정보다는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결과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더 주목함 → 유용한 경험적 </a:t>
            </a:r>
            <a:r>
              <a:rPr lang="ko-KR" altLang="en-US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모형이라기보다는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단순한 수사에 불과하다는 비판을 받기도 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저서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과정의 정치학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(1964)』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예산 과정이 전략과 기술을 지닌 행위자들의 정치적 과정임을 설명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①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 결과에는 전략과 기술이 중요한 영향을 미침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②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예산은 경험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단순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만족화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점증적으로 이뤄짐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예산과 점증주의의 관계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405004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0345A-35AD-A514-D493-8CB4B596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A7705FB-8532-FA93-42F2-A7094866139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A6AA0E-7296-E5EA-E1F5-BC9150C124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FBC5C-C556-2283-2D6A-17227B072D2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C5D28D-37C2-E114-961D-DC6C77AF062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형식화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0F9A6FE-CB96-FCCD-3937-84412844B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10BBC88-BCF4-C2CA-99C6-D272FFA3F5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6C3F0F1-CCA0-B38A-FEAB-36BEE1BAED02}"/>
              </a:ext>
            </a:extLst>
          </p:cNvPr>
          <p:cNvSpPr txBox="1"/>
          <p:nvPr/>
        </p:nvSpPr>
        <p:spPr>
          <a:xfrm>
            <a:off x="1080000" y="1671816"/>
            <a:ext cx="10800000" cy="426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과정의 이론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』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en" altLang="ko-KR" sz="2400" b="1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Wildavsky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Davis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&amp;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Dempster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1964)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두 변수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관료의 제안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의회의 심의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를 선형적으로 조합해 예산결정이 점증적으로 이루어짐을 보임 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예산은 안정적 정보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전년도 예산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의존함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밝혀낸 두 개의 선형적 함수관계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현년도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예산요구액은 전년도 의회 승인액의 함수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현년도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예산승인액은 </a:t>
            </a:r>
            <a:r>
              <a:rPr lang="ko-KR" altLang="en-US" sz="2400" kern="0" spc="-50" dirty="0" err="1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현년도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예산요구액의 함수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비판도 존재하나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예산이론과 조직과정 이론의 발전에 큰 공헌을 하였음   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83856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22E6-387B-F0C3-CFA3-ADA232E0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57ED5BC-B6C3-D69A-74F3-D21E72FCC62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22B245-F01A-2F42-5F86-DAF7A145CA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50988-312A-64A8-036F-887A0999DF0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65232-430F-9784-9335-5243B862249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형식화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EC8F66-58C5-05DB-63A8-09B66378C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7E2DD95-1867-D821-3B18-AE084BA8A07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F2AED60-3BBB-F863-F1CD-CB06381F36C3}"/>
              </a:ext>
            </a:extLst>
          </p:cNvPr>
          <p:cNvSpPr txBox="1"/>
          <p:nvPr/>
        </p:nvSpPr>
        <p:spPr>
          <a:xfrm>
            <a:off x="1080000" y="1671816"/>
            <a:ext cx="10800000" cy="4199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 문제의 해결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』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en-US" altLang="ko-KR" sz="2400" b="1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Crecine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1969)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지방예산 과정에서의 주요 행위자들에 관한 의사결정 알고리즘을 시뮬레이션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핵심 가정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 과정이 외생적인 수입의 한계 내에서 이루어짐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지방 예산 과정은 각 부서의 요구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시장의 권고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시의회의 심의를 통해 이뤄짐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주요 행위자들 간의 상호 기대와 상대방에 대한 이해를 토대로 예산 과정이 이루어짐 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일종의 분업이며</a:t>
            </a:r>
            <a:r>
              <a:rPr lang="en-US" altLang="ko-KR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복잡한 예산 과정을 다룰 수 있는 수준의 여러 작은 문제로 나누듯이 분해함 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81839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6EAE-BC8D-4E47-F4C4-1F5ACC17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386982-D189-6CB1-6497-5AEE9370FDB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F752C0-A6CC-EF2A-4803-6ACEE19B9A4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601DA-8599-ADB9-8C5B-3A55FE7B9E4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A10DD-A478-7978-80C1-6506AB2B0FB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형식화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408DAB-3BA2-31AB-F6B2-C51003C4F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6C5B57B-4AE6-3B6B-75A5-B86274ECAE3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33C3379-0E24-8C82-FF4C-2E4B86A98F34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 문제의 해결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』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en-US" altLang="ko-KR" sz="2400" b="1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Crecine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1969)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과정에서 선례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(precedent)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 핵심임을 강조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지난 해의 문제에 대한 해결책인 선례는 상황에 맞게 작은 변화만 가미하면 현재의 해결책 → 선례를 수정해 채택하는 것은 곧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한 번 예산에 편입된 것이기에 계속 그러할 것이라는 의미가 되기도 함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점증주의와 관련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또한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선례를 채택하는 것은 공공 의사결정의 개방적 평가에서 비판에 대한 방어가 쉬움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12838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A9E5-58DE-03B0-4D66-3A417F086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F244D36-C83E-B784-A47E-F7989333FCE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4E7858-CB0E-A8CD-7F89-1CF2CEEE312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A9D6E8-D20C-4A3F-21CB-C85F323C631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AF47B-A0E3-EC8D-E331-07EBCEC5721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형식화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F91BBB4-65FB-A616-9E12-B761B7285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A877ED-AD28-FDCA-C2B7-388D3E12C1C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AC64D0-06D4-AF48-EE6D-B2AF13B8819F}"/>
              </a:ext>
            </a:extLst>
          </p:cNvPr>
          <p:cNvSpPr txBox="1"/>
          <p:nvPr/>
        </p:nvSpPr>
        <p:spPr>
          <a:xfrm>
            <a:off x="1080000" y="1671816"/>
            <a:ext cx="10800000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2)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정부 문제의 해결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』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en-US" altLang="ko-KR" sz="2400" b="1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Crecine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1969)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많은 학자가 수입 측면을 다뤄온 데 반해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지출에 초점을 두었다는 점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시뮬레이션 방법론 활용→ 조직과정 모형 발전에 크게 기여함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예산결정자를 시민의 요구에 급급한 무분별한 대변자가 아닌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복잡한 문제를 구성하고 대안을 모색하고 선택하는 문제 해결자로 보고 있다는 점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그러나 소수에게만 </a:t>
            </a:r>
            <a:r>
              <a:rPr lang="ko-KR" altLang="en-US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받아들여짐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52251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F79C-C5CA-75D9-A689-066A53BF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110DDB-9C8A-5169-150F-7E1BA374CA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3ED2B9-4B36-634D-E9C4-4E30D348352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E3B47-0194-247E-F092-8787BDB7502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F4C4C-8158-379D-A666-2DA37250F8F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형식화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2CBA9FF-F5C1-A9AF-3482-0752F712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FEB36B-A9FE-3E3A-E5C5-041E01A2957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2CB137-0579-7FB9-AB4C-F887AAA56243}"/>
              </a:ext>
            </a:extLst>
          </p:cNvPr>
          <p:cNvSpPr txBox="1"/>
          <p:nvPr/>
        </p:nvSpPr>
        <p:spPr>
          <a:xfrm>
            <a:off x="1080000" y="1671816"/>
            <a:ext cx="10800000" cy="4412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3)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공공사업평가론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』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(Larkey,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1979)</a:t>
            </a:r>
            <a:r>
              <a:rPr lang="ko-KR" altLang="en-US" sz="2400" b="1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교부금의 일종인 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GRS(General Revenue Sharing) 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프로그램을 분석한 연구</a:t>
            </a:r>
            <a:endParaRPr lang="en-US" altLang="ko-KR" sz="22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두 가지 목표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GRS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효과 평가 및 정책평가의 방법론으로서 조직 과정적 접근의 유용성 실증 → 지출의 정확한 예측이 아닌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GRS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 없었을 경우의 지출을 예상해 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GRS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효과를 밝히고자 함</a:t>
            </a:r>
            <a:endParaRPr lang="en-US" altLang="ko-KR" sz="22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끈끈이 효과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보조금의 유입이 경제적 모형의 예상보다 더 많은 정부 서비스의 증가를 가져옴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 대한 증거들은 변수의 오차에 기인함을 주장</a:t>
            </a:r>
            <a:endParaRPr lang="en-US" altLang="ko-KR" sz="22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공식적 보고의 문제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지출 과대 평가되고 수입 과소평가</a:t>
            </a:r>
            <a:r>
              <a:rPr lang="en-US" altLang="ko-KR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  <a:r>
              <a:rPr lang="ko-KR" altLang="en-US" sz="22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실질적인 것이 아닌 시간상의 문제임을 주장함</a:t>
            </a:r>
            <a:endParaRPr lang="en-US" altLang="ko-KR" sz="22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58505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5457-6A37-8107-491A-4960752A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52ED359-9811-C348-2663-E9AAE5CBF9F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FAD5FA-C666-3FE8-6933-258B70E8B82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34630-2B8F-739E-4D5E-2BAA95DE999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0965F2-17B8-5A78-4039-915BD8643D45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분화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06CB478-A9BB-EEED-418C-EE8877615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C2AB7C-2E5F-799C-22D5-233E0B21958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4BA40B-BFBC-519F-651B-543900EDD285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Padgett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</a:t>
            </a: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『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예산연구에서의 제한된 합리성</a:t>
            </a: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』</a:t>
            </a:r>
            <a:r>
              <a:rPr lang="ko-KR" altLang="en-US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b="1" kern="0" spc="-50" dirty="0">
                <a:solidFill>
                  <a:srgbClr val="404040"/>
                </a:solidFill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(1980)</a:t>
            </a:r>
            <a:endParaRPr lang="en-US" altLang="ko-KR" sz="2400" kern="0" spc="-50" dirty="0">
              <a:solidFill>
                <a:srgbClr val="404040"/>
              </a:solidFill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Davis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et al.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점증주의 모형을 예산과정에 적용해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‘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순차적 판단이론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제시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: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기존 점증주의와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①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성질이 다른 예산대안을 통한 순차적 탐색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②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정보에 근거한 판단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’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을 적용한 비결정적 최종 선택에서 차이를 지님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순차적 판단이론은 조직과정 모형의 매우 정교화된 형태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Crecine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접근법에 기초에 관리예산처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(OMB)</a:t>
            </a:r>
            <a:r>
              <a:rPr lang="ko-KR" altLang="en-US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에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주목했으며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대통령 수준에서 재정적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정치적 제약 조건이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OMB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표준운영절차에 의해 어떻게 걸러질 수 있는지를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밝혀냄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338730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782A-AD62-D5F2-21D4-D2665455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F0522D1-523C-C3FB-79E5-AADBDA7902C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B8949-B30B-809C-DAD1-043446BDAA2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D5B46-28FD-6E50-EF8A-F121ACACFE90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83EA96-9167-B787-85EB-BCC47A714D06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확산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C6B1D14-81B1-BD70-EA06-CA78C18CB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47AE4D-96A7-8D74-ECA0-6AF516F0C8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38D575-3546-2260-B030-CC93829A8448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1980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년대의 경제학의 제국주의적 확장 등에 의해 조작과정 모형은 점차 퇴색되어 갔으나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1980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년대 후반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–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1990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년대 초에 조직과정 모형과 맥락을 같이하는 논문들이 발표됨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Kamlet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&amp; Mowery: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연방정부의 예산에 관한 연구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 엄격한 통계적 방법과 시계열 자료와 같은 분석적 접근법을 제도의 결과물과 정치적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레짐을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연구하기 위해 사용함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Choate &amp; Thompson: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조직과정 모형과 신 경제학적 조직이론을 연계해  예산과정의 의사결정자를 주인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대리인이론으로 설명하는 연구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3069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76D9-6CE4-8B70-5DCA-33C5A2D5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FFA6CF-8026-0D49-A89C-643CD013DC6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F43D16-0E07-B0E0-8E31-8AFF340C41D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8AF4F3-4CC9-4B09-B924-91D6C54D27B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641206-DA5B-EF4A-6D7D-FE3AA5DC36E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조직과정 모형의 확산 단계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59D0FB4-60A0-8699-A987-FF6120BB8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C8D00E-99BF-FF26-AC26-5AD42DA5F6B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9EE3E8F-0751-A041-902F-9113B69B0DB3}"/>
              </a:ext>
            </a:extLst>
          </p:cNvPr>
          <p:cNvSpPr txBox="1"/>
          <p:nvPr/>
        </p:nvSpPr>
        <p:spPr>
          <a:xfrm>
            <a:off x="1080000" y="1537317"/>
            <a:ext cx="10800000" cy="460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③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Baumgartner &amp; Jones(1993):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정책의 진화는 근본적으로 </a:t>
            </a:r>
            <a:r>
              <a:rPr lang="ko-KR" altLang="en-US" sz="2400" kern="0" spc="-5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점증주의적이며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안정적이라고 함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→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이후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True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가 연구에 동참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세 편의 논문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변화의 형상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-1996;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점증주의는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…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비롯된 것인가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?-1998a, 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정책단절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-1998b) 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을 발표하며 이들의 연구는 더욱더 조직과정 모형과 유사한 형태를 드러냄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④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Wood: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연방정부의 세입과 세출 간의 불균형을 오차 수정 과정으로 평가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균형예산 규범이 대공황 이전 시기보다 훨씬 더 강력해짐</a:t>
            </a:r>
            <a:r>
              <a:rPr lang="en-US" altLang="ko-KR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정당이나 행정부와 의회 간 정당 불일치가 예산을 균형화는 힘에 영향을 미치는 증거는 없음</a:t>
            </a:r>
            <a:endParaRPr lang="en-US" altLang="ko-KR" sz="2400" kern="0" spc="-5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1257300" lvl="2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400" kern="0" spc="-5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조직과정 모형과 유사한 곳에서 이러한 균형을 만드는 힘을 찾고 있음</a:t>
            </a:r>
            <a:endParaRPr kumimoji="0" lang="en-US" altLang="ko-KR" sz="2400" b="0" i="0" u="none" strike="noStrike" kern="0" cap="none" spc="-5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35783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2653</TotalTime>
  <Words>4112</Words>
  <Application>Microsoft Office PowerPoint</Application>
  <PresentationFormat>와이드스크린</PresentationFormat>
  <Paragraphs>372</Paragraphs>
  <Slides>52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8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881</cp:revision>
  <dcterms:created xsi:type="dcterms:W3CDTF">2025-03-10T02:54:00Z</dcterms:created>
  <dcterms:modified xsi:type="dcterms:W3CDTF">2025-10-28T06:08:54Z</dcterms:modified>
</cp:coreProperties>
</file>