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32"/>
  </p:notesMasterIdLst>
  <p:sldIdLst>
    <p:sldId id="256" r:id="rId2"/>
    <p:sldId id="289" r:id="rId3"/>
    <p:sldId id="443" r:id="rId4"/>
    <p:sldId id="473" r:id="rId5"/>
    <p:sldId id="497" r:id="rId6"/>
    <p:sldId id="498" r:id="rId7"/>
    <p:sldId id="499" r:id="rId8"/>
    <p:sldId id="474" r:id="rId9"/>
    <p:sldId id="500" r:id="rId10"/>
    <p:sldId id="501" r:id="rId11"/>
    <p:sldId id="502" r:id="rId12"/>
    <p:sldId id="503" r:id="rId13"/>
    <p:sldId id="445" r:id="rId14"/>
    <p:sldId id="504" r:id="rId15"/>
    <p:sldId id="505" r:id="rId16"/>
    <p:sldId id="506" r:id="rId17"/>
    <p:sldId id="507" r:id="rId18"/>
    <p:sldId id="508" r:id="rId19"/>
    <p:sldId id="509" r:id="rId20"/>
    <p:sldId id="510" r:id="rId21"/>
    <p:sldId id="511" r:id="rId22"/>
    <p:sldId id="512" r:id="rId23"/>
    <p:sldId id="514" r:id="rId24"/>
    <p:sldId id="513" r:id="rId25"/>
    <p:sldId id="515" r:id="rId26"/>
    <p:sldId id="516" r:id="rId27"/>
    <p:sldId id="517" r:id="rId28"/>
    <p:sldId id="518" r:id="rId29"/>
    <p:sldId id="520" r:id="rId30"/>
    <p:sldId id="258" r:id="rId3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A23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16" autoAdjust="0"/>
    <p:restoredTop sz="94737"/>
  </p:normalViewPr>
  <p:slideViewPr>
    <p:cSldViewPr snapToGrid="0">
      <p:cViewPr varScale="1">
        <p:scale>
          <a:sx n="106" d="100"/>
          <a:sy n="106" d="100"/>
        </p:scale>
        <p:origin x="8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0498F0-E222-4130-B559-E26B0B605E46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3D4FCB-31F1-4D49-A262-D5EAFE6F4D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8811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09487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D930E-30BC-80A4-8A91-B29D2A52B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71CD69B-B394-C9C6-276D-2A9342746E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3DEE0AB-D9E1-4A48-19A2-475356CF05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6313C3-D15A-BFE5-9DB7-F91FACA8D8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1412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00EEF-6AB0-0177-5700-DAC48A3A6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A294239-1DA4-CD2A-4529-98A02B98FE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5E70894-7A28-41B0-CDBD-F2846AD388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77BB20C-5DF9-6105-AD25-23806FC1BB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69712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13A07-19CC-86BE-1752-42D728842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AC23BF3-6731-23D1-3189-B8E9A1775E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53931C0-539E-E5E2-D107-6B5BEE7670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7D3051-561D-7B6E-2CF7-4BEEF31AAA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9958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8A9B0-73B4-81F9-A5EF-8247ADDBE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7E7E56D-70B2-2FFC-494E-58D770C8D4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CB286F5-A6E3-0517-79E8-9FC140CCF1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BBCAAC0-9ACF-F8CD-AE22-74B30CECF7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14975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32C2B-88F8-F5A5-5457-7DFB1065F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A8B3056-899D-2970-FA3F-FF89D217E9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241F401-798C-F29F-3AD9-A35D7936E1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5F1F002-8C6F-E0E7-E55F-5AC75A56E1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4494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2DFD0-675A-5A74-0D2F-E1A17ECD4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460D9A1-F4D6-2F2F-1EC4-F425065B1E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B0C134C-1972-545C-2D28-88925A6AE7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40E3FE-ECE7-42D7-9982-26C4027647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20667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D7BF7-3C06-48B2-D17A-B2FC9E262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B7F66E1-CF68-1F28-E4CB-1185317DF9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BE189CA-8AB9-9501-BD23-6EFBFF9B31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A59796-90A0-312F-9478-A9AA26EEF6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97258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5FEED-E4DC-E1BD-647A-755BC96EC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830C895-B633-2E1D-E8C1-68F044CF9A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7B954F2-F646-93DA-A7A0-B50AF1849D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A0AD14-C830-3408-817A-3B24A8B74B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3948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46681-1C01-5947-CC68-6C5E697B9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5CB6E08-013E-DFE4-B8B9-D2A34EE31E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7B50608-5BA8-C55F-4BA4-7E42528DCD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B47D058-72DD-2F08-F575-8C07ED7EA5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92944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7B455-9C7F-75FA-3B03-07923DEAE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4EC6A4D-CC58-5EDE-2C07-8E63A9637D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63CFF8D-A0F9-DE19-316B-F867FDACD1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13433FF-B4F3-6BA8-A133-D8AA534B29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58024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798F0-C24F-9B20-C3AA-7AC7CA981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77EAFB5-AE0F-1B78-B0FA-181059DE83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E5ED726-EC40-B5AB-028A-0D3E66A837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E72ED5-097A-3F1C-DDC2-C81D12C02E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91757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2AEEB-F4DE-2FBA-AA8C-CABEF5149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B9B45CA-B03A-4E31-6619-1078E273BB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6C8C5E6-D1FC-353A-529D-6DE9B33A33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664A943-0EAE-72A8-1E7E-B9FEB292CF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27926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3D309-3615-61EC-00C7-9124A9D67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2456E76-06A9-C49F-2F59-2156187979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D35E917-3D01-F2E9-FA93-6F2F0E6362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7F23852-B0E9-C9FC-56D8-397C530FAA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45591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ABB93-D2A9-F209-CA79-49067C101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ACCD845-E597-07E4-3D77-802862A295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FF723A1-37F0-E42A-F64C-AFAE0C2D2B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29B41B-DF0D-E383-F330-82CC52AA86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9475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F9544-F43E-06EF-2ADA-3580C0200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205FE25-F512-E1A8-62B3-D57A92413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F7DC0B4-8A19-50C9-8276-C7D945A5F9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12989D3-9002-D0AB-4BAD-109244E82D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49488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1E659-9566-D9D9-E425-1DF0BDFAB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5A1791B-75F0-DAAD-4F95-76E78DA975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9AAE9B6-2420-7EED-B119-CD8008BC51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FE0DB8-B226-64E1-AEBC-F77F59BED9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83080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CACAA-82EF-806C-8DB2-713CC03A8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BDA59B0-F4D3-5FE1-7199-72D807D2AC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D8BB85B-3109-B4E6-2C6B-FA06900526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33FD38-8C5D-3D5D-7841-1984B71D1E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703540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09B8A-FD33-3950-85B1-B85FD9AA8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DDBC524-64A1-1B0F-B5CC-919667FA5C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42DC952-B109-A5CF-E7C9-4CD7001961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828160-973E-189E-D689-B500B4BF19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44272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36FE37-B45E-702D-9B96-4299560E33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6E08DEC-7BB0-FA22-8DA3-B1AB8DEFC9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83A6BA-1565-C464-F4EB-3906E7373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7C39A-0473-4F06-BAED-15A0495CDC03}" type="datetime1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BC19E9-6DDD-6434-8E6B-06EF96BBE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85B267-7A29-ED1D-ACA4-7E277B84F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755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8B7FEF-A226-AA76-1459-1FDB0A4E5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A804A3-2F1B-0A55-13C5-3650E2677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F0C730-8C26-635F-3C55-9A7C0301F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B99A3-FCEB-4DA1-9F62-29D8C0003628}" type="datetime1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B7EFE1-B630-48F3-8A5C-C662E88B8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2850C1-CA85-ED3E-2330-22B834CB7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9009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EE0D3C-3680-19BF-4C67-D4B4784C2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5C665B-B2AA-B08F-C279-912EC2D10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D66F2D-16A0-557C-3CCB-8FFB7554D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900D-BC70-4759-8B81-959479FDE631}" type="datetime1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FBDE22-BDA4-74CE-8C4C-E4E73812C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8D6EA0-E1DE-BF0E-0912-85915DD8D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0163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6F7B9F-6A11-CC5A-7A36-44D8AD919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783DDB-E592-C2D4-A180-B5DEDBF7BE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F51331B-C0B4-8EDC-103E-47B36BBE59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60767AC-DDFA-8913-983C-6DA9B0A67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5B54D-7A36-44B1-8C28-43CC23156252}" type="datetime1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DDBFE1A-421D-107D-5DF2-1870DCECC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52004D5-4E92-0B4C-7EE6-FAB9D429C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9766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D0A58D-AA06-16B9-3770-41AD164C9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96E662-B7C3-7FD5-CD89-C526ED31F5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8B9CFFF-D7AA-F586-9E75-BF93A17113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9418F7E-3EA8-DC1E-43BE-7D850C4686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F1E95F9-9077-E721-07CD-4CA2411616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CEFD06E-78D1-0213-E60C-58C7C880A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9D56D-5F5D-4386-8229-7B3FCE23A9DB}" type="datetime1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BA4C8D-33C2-7987-6D00-869244A5B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D2AB68B-4F6B-A0AD-F831-29C6E58A1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0982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AAD11A-F73C-0207-0712-CC5C19669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8CC1D79-BC19-4316-F46D-F86B3936C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DD53D-D905-4ACB-AC18-AA7FCF8F80DE}" type="datetime1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D50F371-759C-8971-0893-79AC08C88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A58D82D-21E7-57EF-BE11-B67FED116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3146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2DEECEE-D8EA-089C-FBE6-ADF6F763B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BD813-ACF2-4610-9984-BFC3E3445E99}" type="datetime1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56F723E-2C54-55A9-296D-F360D200E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62517F-6DF0-37E6-743B-70F38A8A8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4220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08B69-7F2C-A92C-998A-A211E4A43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C4434C-27A6-FC8C-2488-5BF688F521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907BAD0-6B32-5C64-3F97-CF151C3C79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F30F74-FB46-CA2D-CE2A-520ACD1A3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359E2-8CCE-47B9-BB7A-030AE3600AA0}" type="datetime1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9900CC-E9D2-5A28-AF25-307ADC6E3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CB32BB5-82AE-8482-2D75-FF89DE29E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5764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CA0DA8-0481-0840-93EF-373E4CAC2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35C5FCC-6E56-4B61-8A3A-806032224D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03281E-513F-2090-6B6C-30573828E1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5C8138-7D38-BAA2-991C-DD73FA9AC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E92EE-1CF8-4367-A084-DA2FF58DBBDB}" type="datetime1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8DCA6D2-D45C-5920-4860-B918D7BB0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E13D3DA-09E9-2079-3755-86D4E6609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5974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35BFF0-B5FD-B1C9-7990-6E39B598F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BA3334E-6A42-25D9-36F5-3E2B606E35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E5EBEB-6DD2-0DC1-0485-D095141E0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E0889-A16A-434F-93C1-A64A52D175C8}" type="datetime1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47268B-0A1F-2E11-B10F-6214EB64A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646C17-DF9E-4AA3-63E2-DF71DCBC8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1524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1D2B582-D262-AA95-51F3-7DB2368588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E71DB97-E146-2A4B-9A20-568C9C345A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D1D531-D2EA-FDE0-273E-A182CC962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027F3-8B5B-4B0E-A74B-00FCFC008BFB}" type="datetime1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F24463-153E-992E-0670-078E99ED1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574CB5-B661-FD9B-8604-B864DDCEA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4507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4896CC-D357-0B15-BD4E-82985503F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76DE65-3AA6-CB13-9141-59D0783E05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9FD434-1997-7C62-7EE2-A5C4A20CF3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04A376-E7CB-4754-856D-B8EF9D28E97C}" type="datetime1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F7F881-B52B-6E21-A008-2784312083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AB78CF-D66F-B729-696F-488DF175C1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6146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kdkim@kipa.re.kr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10ED8B-338F-5AA3-7E4C-9CE149942F70}"/>
              </a:ext>
            </a:extLst>
          </p:cNvPr>
          <p:cNvSpPr txBox="1"/>
          <p:nvPr/>
        </p:nvSpPr>
        <p:spPr>
          <a:xfrm>
            <a:off x="303023" y="5307578"/>
            <a:ext cx="198419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</a:rPr>
              <a:t>김경동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  <a:p>
            <a:r>
              <a:rPr lang="ko-KR" altLang="en-US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</a:rPr>
              <a:t>행정학과 조교수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  <a:p>
            <a:r>
              <a:rPr lang="en-US" altLang="ko-KR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  <a:hlinkClick r:id="rId2"/>
              </a:rPr>
              <a:t>kdkim@kw.ac.kr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9AC125-E49A-1BDE-4CB3-1DDFDD1917F7}"/>
              </a:ext>
            </a:extLst>
          </p:cNvPr>
          <p:cNvSpPr txBox="1"/>
          <p:nvPr/>
        </p:nvSpPr>
        <p:spPr>
          <a:xfrm>
            <a:off x="1938662" y="2215148"/>
            <a:ext cx="8314676" cy="160043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2025</a:t>
            </a:r>
            <a:r>
              <a:rPr lang="ko-KR" altLang="en-US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년도 가을학기</a:t>
            </a:r>
            <a:endParaRPr lang="en-US" altLang="ko-KR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경기천년제목 Bold" panose="02020803020101020101" pitchFamily="18" charset="-127"/>
              <a:ea typeface="경기천년제목 Bold" panose="02020803020101020101" pitchFamily="18" charset="-127"/>
              <a:cs typeface="KoPubWorld돋움체 Bold" panose="00000800000000000000" pitchFamily="2" charset="-127"/>
            </a:endParaRPr>
          </a:p>
          <a:p>
            <a:pPr algn="ctr"/>
            <a:r>
              <a:rPr lang="ko-KR" altLang="en-US" sz="6600" b="1">
                <a:solidFill>
                  <a:srgbClr val="761F2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재무행정론</a:t>
            </a:r>
            <a:endParaRPr lang="ko-KR" alt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경기천년제목 Bold" panose="02020803020101020101" pitchFamily="18" charset="-127"/>
              <a:ea typeface="경기천년제목 Bold" panose="02020803020101020101" pitchFamily="18" charset="-127"/>
              <a:cs typeface="KoPubWorld돋움체 Bold" panose="00000800000000000000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3C7D5DA-9E30-A35C-384A-368E3B235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F4A3564C-61B8-C23D-8A58-2BDFC3C0594F}"/>
              </a:ext>
            </a:extLst>
          </p:cNvPr>
          <p:cNvGrpSpPr/>
          <p:nvPr/>
        </p:nvGrpSpPr>
        <p:grpSpPr>
          <a:xfrm>
            <a:off x="361144" y="531548"/>
            <a:ext cx="1635639" cy="371258"/>
            <a:chOff x="303023" y="453495"/>
            <a:chExt cx="1357980" cy="305606"/>
          </a:xfrm>
        </p:grpSpPr>
        <p:grpSp>
          <p:nvGrpSpPr>
            <p:cNvPr id="9" name="그룹 1004">
              <a:extLst>
                <a:ext uri="{FF2B5EF4-FFF2-40B4-BE49-F238E27FC236}">
                  <a16:creationId xmlns:a16="http://schemas.microsoft.com/office/drawing/2014/main" id="{6E7012C1-2889-777F-5077-8BBDEF2B9805}"/>
                </a:ext>
              </a:extLst>
            </p:cNvPr>
            <p:cNvGrpSpPr/>
            <p:nvPr/>
          </p:nvGrpSpPr>
          <p:grpSpPr>
            <a:xfrm>
              <a:off x="303023" y="453495"/>
              <a:ext cx="305606" cy="305606"/>
              <a:chOff x="7252263" y="581291"/>
              <a:chExt cx="1251000" cy="1251000"/>
            </a:xfrm>
          </p:grpSpPr>
          <p:pic>
            <p:nvPicPr>
              <p:cNvPr id="12" name="Object 13">
                <a:extLst>
                  <a:ext uri="{FF2B5EF4-FFF2-40B4-BE49-F238E27FC236}">
                    <a16:creationId xmlns:a16="http://schemas.microsoft.com/office/drawing/2014/main" id="{E0BA23DB-DD41-E0E9-8BD7-770B6BCB4C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7252263" y="581291"/>
                <a:ext cx="1251000" cy="1251000"/>
              </a:xfrm>
              <a:prstGeom prst="rect">
                <a:avLst/>
              </a:prstGeom>
            </p:spPr>
          </p:pic>
        </p:grpSp>
        <p:grpSp>
          <p:nvGrpSpPr>
            <p:cNvPr id="10" name="그룹 1007">
              <a:extLst>
                <a:ext uri="{FF2B5EF4-FFF2-40B4-BE49-F238E27FC236}">
                  <a16:creationId xmlns:a16="http://schemas.microsoft.com/office/drawing/2014/main" id="{719BD9D4-EA27-8883-6C3A-3B4D22263CD7}"/>
                </a:ext>
              </a:extLst>
            </p:cNvPr>
            <p:cNvGrpSpPr/>
            <p:nvPr/>
          </p:nvGrpSpPr>
          <p:grpSpPr>
            <a:xfrm>
              <a:off x="681789" y="472805"/>
              <a:ext cx="979214" cy="286296"/>
              <a:chOff x="4978293" y="70686"/>
              <a:chExt cx="1725714" cy="504552"/>
            </a:xfrm>
          </p:grpSpPr>
          <p:pic>
            <p:nvPicPr>
              <p:cNvPr id="11" name="Object 22">
                <a:extLst>
                  <a:ext uri="{FF2B5EF4-FFF2-40B4-BE49-F238E27FC236}">
                    <a16:creationId xmlns:a16="http://schemas.microsoft.com/office/drawing/2014/main" id="{74972B61-1483-C590-C007-CB56962870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4978293" y="70686"/>
                <a:ext cx="1725714" cy="50455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999096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29EAF-E542-DF3A-2695-853BC9C9A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4D0CEF8-B52D-DB8C-1594-BB8B62C1FF5E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9E32A99-2B7A-AE6B-472D-3D3066666C4C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EA155A-6C01-1457-F19B-BA4B053FEFD3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BF75ED-31AA-39A9-DC85-90AE55A9CE1B}"/>
              </a:ext>
            </a:extLst>
          </p:cNvPr>
          <p:cNvSpPr txBox="1"/>
          <p:nvPr/>
        </p:nvSpPr>
        <p:spPr>
          <a:xfrm>
            <a:off x="1235998" y="757300"/>
            <a:ext cx="8522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예산제도 개혁의 변천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5D437B-3E14-B500-6DD6-4D4CE1E3EEAF}"/>
              </a:ext>
            </a:extLst>
          </p:cNvPr>
          <p:cNvSpPr txBox="1"/>
          <p:nvPr/>
        </p:nvSpPr>
        <p:spPr>
          <a:xfrm>
            <a:off x="1080000" y="1671816"/>
            <a:ext cx="10800000" cy="405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재무행정에서 예산개혁 논의는 미국 연방정부 예산제도 개혁의 변천을 중심으로 이루어져 옴 → 이론의 발전 뿐만 아니라 개혁의 성공과 실패에 있어서도 주요한 시사점을 제공해줬기 때문임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미국의 예산제도는 품목별 예산제도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성과주의 예산제도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계획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기획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예산제도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영기준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예산제도 순서로 도입된 바 있음 → 이러한 개혁은 경제적 합리성을 높이고자 하는 측면에 더해 의사결정 구조의 개선이라는 점에서 정치적 합리성을 높이고자 하는 측면도 존재함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현재 우리 예산제도는 품목별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성과주의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계획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기획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예산제도의 요소를 모두 포함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93DBDF90-15CA-3CFA-FB7F-44240F89F1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1AD92805-807F-CB3C-F622-91A50E3D14A7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254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49A96-ABDE-C7C2-B855-AA1BE6F42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183176A-7BF9-C6A6-72F4-05D499C4E59E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F15B08A-DC04-97D5-5747-FB1854DE86E2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4A4944-2E24-A415-19D1-F2460AC5DB43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2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51C8F05-47C3-28BA-0F7A-2CB8A401B34F}"/>
              </a:ext>
            </a:extLst>
          </p:cNvPr>
          <p:cNvSpPr txBox="1"/>
          <p:nvPr/>
        </p:nvSpPr>
        <p:spPr>
          <a:xfrm>
            <a:off x="1235998" y="757300"/>
            <a:ext cx="8522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예산제도와 재정정보의 정향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(orientation)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4061BC7-D237-2E67-6325-511482165883}"/>
              </a:ext>
            </a:extLst>
          </p:cNvPr>
          <p:cNvSpPr txBox="1"/>
          <p:nvPr/>
        </p:nvSpPr>
        <p:spPr>
          <a:xfrm>
            <a:off x="1080000" y="1671816"/>
            <a:ext cx="10800000" cy="2040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예산제도는 다양한 재정정보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목표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활동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자원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조직단위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산출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사회적 영향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를 필요로 함 → 각 예산제도는 서로 다른 유형의 정보형태를 취하고 있음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(Lyden &amp; Miller, 1978)</a:t>
            </a: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2EA1842-9DDB-18D1-6A6C-6AD4CFEF4C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37FB29B6-ACE0-B3FE-8FDE-3AAA5C365A39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그림 1">
            <a:extLst>
              <a:ext uri="{FF2B5EF4-FFF2-40B4-BE49-F238E27FC236}">
                <a16:creationId xmlns:a16="http://schemas.microsoft.com/office/drawing/2014/main" id="{1EFF1E95-33E0-5F4B-711A-669ADD998A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9525" y="2913543"/>
            <a:ext cx="6512950" cy="3035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159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DDA86-2624-BB04-0494-72348338D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FD83B2E-C6F7-3013-E16A-1F1149B52D7D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65D877C-3B32-D7AE-5510-552EA405F4A3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70C6A8-380A-D1CB-8E07-06A8A9F53FB9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3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4E379E-36A6-6667-7783-2A5855DFBDDB}"/>
              </a:ext>
            </a:extLst>
          </p:cNvPr>
          <p:cNvSpPr txBox="1"/>
          <p:nvPr/>
        </p:nvSpPr>
        <p:spPr>
          <a:xfrm>
            <a:off x="1235998" y="757300"/>
            <a:ext cx="8522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품목별 예산제도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(LBS) (1)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189D580-4E80-E811-9FC7-421DEA9C2F93}"/>
              </a:ext>
            </a:extLst>
          </p:cNvPr>
          <p:cNvSpPr txBox="1"/>
          <p:nvPr/>
        </p:nvSpPr>
        <p:spPr>
          <a:xfrm>
            <a:off x="1080000" y="1671816"/>
            <a:ext cx="10800000" cy="342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품목별 예산제도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(Line-item Budgeting System)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는 예산을 지출 대상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품목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별로 분류해 편성하는 예산제도를 의미하며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지출대상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품목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이란 예산과목의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’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에 해당하는 것으로 인건비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물건비 등의 투입요소를 지칭하는 것임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품목별 예산제도는 예산액을 지출 대상별로 한계를 명확히 정해 배정함으로써 관료의 권한과 재량을 제한하는 통제 지향적 예산제도로서 입법부 재정통제를 통한 재정 민주주의 실현의 수단으로 등장하였으며 오늘날까지도 지속되고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01D19E47-9932-2731-B383-1AF0224F52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DC0DF9DD-EE37-8134-0AE2-F1E460573AB5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3285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D3323-E5F8-8E8C-BD54-5DEF5D11B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2C66CBC4-ACBC-9A10-CBDD-D00E48FC1D86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CB84006-490C-5771-DDEA-3F43C2FE99B7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9C1063-7255-718B-A061-4967E421E279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4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2E628EF-ED6B-ED70-AFB3-94F3A7E1A342}"/>
              </a:ext>
            </a:extLst>
          </p:cNvPr>
          <p:cNvSpPr txBox="1"/>
          <p:nvPr/>
        </p:nvSpPr>
        <p:spPr>
          <a:xfrm>
            <a:off x="1235998" y="757300"/>
            <a:ext cx="8522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품목별 예산제도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(LBS) (2)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807A5F-B565-155E-58B9-BD15ED5828BB}"/>
              </a:ext>
            </a:extLst>
          </p:cNvPr>
          <p:cNvSpPr txBox="1"/>
          <p:nvPr/>
        </p:nvSpPr>
        <p:spPr>
          <a:xfrm>
            <a:off x="1080000" y="1671816"/>
            <a:ext cx="10800000" cy="405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품목별 예산제도의 기원은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1907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년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뉴욕시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보건국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예산편성에서 시작되었음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. 1906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년 뉴욕시정연구원에서 예산 낭비와 부패를 방지하고 예산 통제를 확보하는 방안으로 이 제도의 도입을 건의함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1912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년 미국 연방정부가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능률과 절약을 위한 대통령위원회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태프트위원회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)’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를 통해 품목별 예산제도 도입을 권장하고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이후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1920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년대 대부분의 연방부처에서 이를 도입하였음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품목별 예산제도는 미국에서도 우리나라에서도 아직 일부 존속하고 있음 → 새로운 제도가 도입되더라도 이 제도는 변화한 모습으로 병존하는 것이 일반적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9053119-FD5F-B4A5-AC2B-9B0D85517D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24EACC3-8ACC-21DB-2728-AE919EEF0953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8902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BDBDE-8200-DA18-D40B-D9F14E118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234844D-0F9D-2559-1C56-92D9B59CCC43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158AC52-8F3F-4C70-476A-C46C11973917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C2BFC5-299A-7331-E354-7E853152D674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5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699643-D2C3-BA3A-7F73-8128132CD7B7}"/>
              </a:ext>
            </a:extLst>
          </p:cNvPr>
          <p:cNvSpPr txBox="1"/>
          <p:nvPr/>
        </p:nvSpPr>
        <p:spPr>
          <a:xfrm>
            <a:off x="1235998" y="757300"/>
            <a:ext cx="8522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품목별 예산제도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(LBS) (3)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61238DF-8A90-837D-09BD-59B03E55BC11}"/>
              </a:ext>
            </a:extLst>
          </p:cNvPr>
          <p:cNvSpPr txBox="1"/>
          <p:nvPr/>
        </p:nvSpPr>
        <p:spPr>
          <a:xfrm>
            <a:off x="1080000" y="1671816"/>
            <a:ext cx="10800000" cy="405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품목별 예산제도에서 예산편성의 기본 단위는 품목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(object)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.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우리나라의 경우 장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항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세항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목에서 목이 품목별 예산제도의 기본 단위임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목은 예산과목의 최종 단위로서 투입요소에 해당함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프로그램 예산제도 하에서는 편성 비목이 목에 해당함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→ 따라서 어떠한 투입 요소가 어느정도 투입되었는지를 보여주는 예산제도임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인건비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50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억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물건비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20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억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)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그러나 정부가 투입을 통해 달성하고자 하는 사업을 파악할 수 없으며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지출에 따른 성과나 효과에 대해서는 관심을 두지 않음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3280FA77-E237-57BA-4929-EBA1C2A106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1FC7FB9E-8AEA-892F-5753-A2569097EC96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02650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FBF3E-65D9-10FC-A0A1-955B950A0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90095E7-ACCC-79BC-85BA-7882835EE2B9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94B1977-6F49-2FD3-CE90-1294D374604D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0A71764-6071-56BD-3738-F87F47A193BB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6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EA352BD-102C-9BC5-00BD-81A7805E7FC9}"/>
              </a:ext>
            </a:extLst>
          </p:cNvPr>
          <p:cNvSpPr txBox="1"/>
          <p:nvPr/>
        </p:nvSpPr>
        <p:spPr>
          <a:xfrm>
            <a:off x="1235998" y="757300"/>
            <a:ext cx="8522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품목별 예산제도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(LBS) (4)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2934A92-BBF8-3007-880E-BDB93945C291}"/>
              </a:ext>
            </a:extLst>
          </p:cNvPr>
          <p:cNvSpPr txBox="1"/>
          <p:nvPr/>
        </p:nvSpPr>
        <p:spPr>
          <a:xfrm>
            <a:off x="1080000" y="1671816"/>
            <a:ext cx="10800000" cy="405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LBS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는 정부의 지출 대상이나 금액이 명확하게 표현되어 있으므로 관료 재량의 여지가 적고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예산의 남용도 방지할 수 있는 장점이 있음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회계 책임과 예산 통제의 용이성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)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또한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의회의 예산 심의도 용이한 편이고 예산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삭감시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이익집단의 저항도 적은 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급여와 재화 및 서비스 구매에 효과적이며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차년도 예산 편성에도 유용한 측면이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LBS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는 정부가 이것을 왜 구매하는지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어떠한 사업을 추진하는지도 파악할 수 없는 단점이 있으며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예산집행의 신축성이 낮은 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부처 입장에서 예산 항목에만 관심을 갖게 되어 정책 우선순위를 소홀히 할 가능성이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F213885A-F2AC-5161-DAE1-5240EB39AE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60F87A4C-9CF4-05B7-BD51-C09C84F11665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64273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AFB08-6118-09BC-46F8-FAF104FEF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8FF372D0-96E9-7BD3-51BA-811F8752F1DE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3ECD6E5-4623-D618-15A5-F62A48C344DF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F84467-99C2-2F17-DC75-C585F239D2CF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7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C3C08B4-27ED-E28E-6AA5-A9719BF08AE8}"/>
              </a:ext>
            </a:extLst>
          </p:cNvPr>
          <p:cNvSpPr txBox="1"/>
          <p:nvPr/>
        </p:nvSpPr>
        <p:spPr>
          <a:xfrm>
            <a:off x="1235998" y="757300"/>
            <a:ext cx="8522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성과주의 예산제도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(PBS)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C38F39-7189-7BD6-566A-0993771838A9}"/>
              </a:ext>
            </a:extLst>
          </p:cNvPr>
          <p:cNvSpPr txBox="1"/>
          <p:nvPr/>
        </p:nvSpPr>
        <p:spPr>
          <a:xfrm>
            <a:off x="1080000" y="1671816"/>
            <a:ext cx="10800000" cy="4515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성과주의 예산제도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(Performance Budgeting System)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은 예산을 사업별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활동별로 분류해 편성하되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업무 단위의 원가와 양을 계산하여 편성하는 제도로서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기존 품목별 예산제도의 한계를 고려하여 사업 중심으로 예산을 편성함으로써 사업 또는 정책의 성과에 더 초점을 맞춘 예산제도임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성과주의 예산제도의 기원은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1913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년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뉴욕시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리치먼드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구에서 시행한 원가예산제에서 찾을 수 있음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→ 업무를 기능별로 분류하고 업무의 원가를 계산해 예산에 적용한 것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1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차 후버위원회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(1950)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의 건의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모든 예산 개념이 기능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활동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사업에 근거를 둔 예산의 채택에 의해 재정립 되어야 한다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!!)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로 의회의 예산회계법 개정을 통해 전체 연방정부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주정부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지방정부로 확산되었음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91ABF743-1D97-7209-0D37-123870A07F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0ED55D0-742B-7F95-A026-403E08E7D6A5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80173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EA7CE-E0F0-C726-26D5-68F729AE4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39F029A-33B5-EF4E-972C-D2A6D46FBBB6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20B72BF-E424-2268-FAA1-A33767B6D38D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D862A6-A67A-B7A5-C140-1FD232D03BC4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8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8FC548-CBFD-769A-6D28-2D47402734C6}"/>
              </a:ext>
            </a:extLst>
          </p:cNvPr>
          <p:cNvSpPr txBox="1"/>
          <p:nvPr/>
        </p:nvSpPr>
        <p:spPr>
          <a:xfrm>
            <a:off x="1235998" y="757300"/>
            <a:ext cx="8522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성과주의 예산제도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(PBS)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(2)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31BA8F-F0E0-FBD0-D967-9FC85639B857}"/>
              </a:ext>
            </a:extLst>
          </p:cNvPr>
          <p:cNvSpPr txBox="1"/>
          <p:nvPr/>
        </p:nvSpPr>
        <p:spPr>
          <a:xfrm>
            <a:off x="1080000" y="1671816"/>
            <a:ext cx="10800000" cy="3074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성과주의 예산제도는 사업 및 활동을 중심으로 예산을 편성하며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사업의 비용과 규모를 과학적으로 계산하는 점이 특징 → 핵심은 업무 단위를 개발하고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단위 원가를 계산하는 것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성과주의 예산은 단위당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X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달러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단위원가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에 수행되는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Y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개의 업무단위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업무량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으로 표현할 수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업무단위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또는 업무측정단위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는 하나의 사업을 수행하는 과정에서 활동과 최종 산물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성과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실적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으로 이루어짐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.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이는 사업과 지출 대상의 중간에 위치하는 단위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FCE279C0-2C04-33F7-EE5A-CB402CB712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F7C5AC8D-429B-C3A9-53B0-6D85F44F3249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그림 1">
            <a:extLst>
              <a:ext uri="{FF2B5EF4-FFF2-40B4-BE49-F238E27FC236}">
                <a16:creationId xmlns:a16="http://schemas.microsoft.com/office/drawing/2014/main" id="{04630B09-741E-0144-FFE7-158670061E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8537" y="5078923"/>
            <a:ext cx="7699612" cy="708657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42997F6-588C-76FA-3857-3EB38E8B18C6}"/>
              </a:ext>
            </a:extLst>
          </p:cNvPr>
          <p:cNvSpPr/>
          <p:nvPr/>
        </p:nvSpPr>
        <p:spPr>
          <a:xfrm>
            <a:off x="7125077" y="5078923"/>
            <a:ext cx="1412341" cy="79792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82460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915C2-7470-9AEE-8C95-0DFD66D7A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E283B264-22EB-5215-A28F-43A4D4864F4C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A76D03C-4AC0-D803-32A3-7F09C4F4D546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249526-01BB-FD57-4CE3-2B9FEBBE5F00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9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F24F4F-48A1-2FF6-8667-45B2A26CC647}"/>
              </a:ext>
            </a:extLst>
          </p:cNvPr>
          <p:cNvSpPr txBox="1"/>
          <p:nvPr/>
        </p:nvSpPr>
        <p:spPr>
          <a:xfrm>
            <a:off x="1235998" y="757300"/>
            <a:ext cx="8522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성과주의 예산제도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(PBS)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(3)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CD106E-593F-76B5-AF83-AA3A820FC095}"/>
              </a:ext>
            </a:extLst>
          </p:cNvPr>
          <p:cNvSpPr txBox="1"/>
          <p:nvPr/>
        </p:nvSpPr>
        <p:spPr>
          <a:xfrm>
            <a:off x="1080000" y="1671816"/>
            <a:ext cx="10800000" cy="4108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업무단위는 가능한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계량화되고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표준화되어야 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.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업무단위의 선정 기준은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1)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동질성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2)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계산가능성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완결된 업무로서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), 3)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영속성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4)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단수성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(1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사업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1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단위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), 5)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이해용이성 등임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예를 들어 고속도로 건설사업은 건설된 도로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1km(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최종산물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),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순찰활동의 경우 순찰횟수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1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활동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)</a:t>
            </a: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업무단위가 개발되면 다음으로는 단위 원가와 업무량을 계산하는 것임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→ 예산액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=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단위원가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x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업무량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단위원가는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1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단위를 산출 또는 수행하는데 소요되는 경비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인건비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재료비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기타경비 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를 의미하고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업무량은 업무 단위로 측정한 단위수를 의미함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3D154311-CC37-82BF-82D7-D43D3DEBD2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2CC8EE2F-856B-B64A-DA90-7448BCFB678A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90630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9AB69-6211-8FF4-853F-DEDB23D79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E1CA9344-00B8-BA74-7BBE-9E36C0B45E17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EC7BF10-D1ED-0A52-6B8E-6EC2768A0C62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54EBA2-FAF9-39D5-2141-FDE32679974B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10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FEBBAB9-DCC3-ADE2-58B4-530A044C1225}"/>
              </a:ext>
            </a:extLst>
          </p:cNvPr>
          <p:cNvSpPr txBox="1"/>
          <p:nvPr/>
        </p:nvSpPr>
        <p:spPr>
          <a:xfrm>
            <a:off x="1235998" y="757300"/>
            <a:ext cx="8522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성과주의 예산제도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(PBS)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(4)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53ADC12-54C3-5E0E-362E-401AAAD45307}"/>
              </a:ext>
            </a:extLst>
          </p:cNvPr>
          <p:cNvSpPr txBox="1"/>
          <p:nvPr/>
        </p:nvSpPr>
        <p:spPr>
          <a:xfrm>
            <a:off x="1080000" y="1671816"/>
            <a:ext cx="10800000" cy="1966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단위원가를 정확히 계산하는 것은 예산 낭비의 요소를 없애고 효율성을 증대하는데 기여하고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예산집행 결과 실제로 산출된 업무량은 사업의 목표 달성 여부를 판단할 수 있는 효과성의 측정지표가 됨 → 이처럼 성과주의 예산은 관리상의 정보가 예산에 표시되기 때문에 관리상의 능률성을 제고하는데 기여하게 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AA0F5F93-2134-DF63-0C12-F4E62540D5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E725AA4A-21EA-6F64-190F-9F49F573F002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>
            <a:extLst>
              <a:ext uri="{FF2B5EF4-FFF2-40B4-BE49-F238E27FC236}">
                <a16:creationId xmlns:a16="http://schemas.microsoft.com/office/drawing/2014/main" id="{688B1E0C-42F5-8C5F-5B95-56151E3013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0562" y="3762011"/>
            <a:ext cx="5748951" cy="2230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5299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AF677-1FCA-296F-257D-03F469D3F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07CD1BD-08BC-8647-777F-B5BCA705BADF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7EA8CA2-8474-6E90-9CF3-CF95EDE5E773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F28B2E-8245-A209-9446-B7EF80566C05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11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45F7284-A066-3D79-4664-0CF1BE3FDB92}"/>
              </a:ext>
            </a:extLst>
          </p:cNvPr>
          <p:cNvSpPr txBox="1"/>
          <p:nvPr/>
        </p:nvSpPr>
        <p:spPr>
          <a:xfrm>
            <a:off x="1235998" y="757300"/>
            <a:ext cx="8522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성과주의 예산제도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(PBS)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(5)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4BB280A-3C04-BE31-4F3E-E82DAA3F346A}"/>
              </a:ext>
            </a:extLst>
          </p:cNvPr>
          <p:cNvSpPr txBox="1"/>
          <p:nvPr/>
        </p:nvSpPr>
        <p:spPr>
          <a:xfrm>
            <a:off x="1080000" y="1671816"/>
            <a:ext cx="10800000" cy="444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장점은 첫째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업무 단위의 선정과 단위 원가의 과학적 계산에 의해 합리적이고 효율적인 자원 배분을 이룰 수 있음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.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둘째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계량화된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정보를 통해 합리적 의사결정과 관리 개선에 도움을 받을 수 있음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.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셋째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사업 또는 활동별로 예산이 편성되기 때문에 정부가 무슨 사업을 추진하는지 국민들이 쉽게 이해할 수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단점은 첫째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업무 단위의 선정이 곤란함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.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업무 단위의 개발은 성과주의 예산제도의 가장 핵심적인 작업임에도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앞에서 논의한 선정 기준을 충족시킬 수 있는 업무 단위를 찾아낸다는 것은 쉽지 않음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.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둘째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단위 원가의 계산이 어려움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.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셋째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성과지표로서 업무 단위가 실질적으로는 중간 산출물인 경우가 대부분이며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이로 인해 예산 성과의 질적인 측면을 파악하는 데에는 한계가 있음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순찰시간이 늘어난다고 치안이 잘 유지되는가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?)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CB6A1D63-731F-8A79-3F73-25F6AB7445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DD4D406C-148B-5C94-F9ED-CBABF7CC7ABD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03939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28631-97D9-A57D-01DE-D11B5BAA5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A521B13-060C-5076-8509-F52DF22DFB0A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56BCA97-7E55-1298-873E-F4F3EC7C6B54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A56F8E-BA4C-9F28-ED07-7B041F628493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12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866C669-8FA4-757B-DCFD-8E6437AFACAC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계획예산제도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(PPBS)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3383F6A0-BD1C-CD4E-F73D-F4448B861C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91ACB13E-A20C-E4E5-C739-EFF20451098B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D5C7830B-FAC4-93F2-E1CD-74095BD06CD9}"/>
              </a:ext>
            </a:extLst>
          </p:cNvPr>
          <p:cNvSpPr txBox="1"/>
          <p:nvPr/>
        </p:nvSpPr>
        <p:spPr>
          <a:xfrm>
            <a:off x="1080000" y="1671816"/>
            <a:ext cx="10800000" cy="4515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계획예산제도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(Planning Programming Budgeting System)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는 장기적인 기획과 단기적인 예산편성을 유기적으로 연결시킴으로써 합리적인 자원배분을 이루려는 제도로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기획과 예산을 연결시키는 프로그래밍에 초점이 맞춰진 제도임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PPBS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는 목표를 분명히 정의하고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각종 대안을 검토해 이를 달성할 사업계획을 수립하며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다년간에 걸친 사업재정계획을 수립하는 장기적인 시계를 갖는다는 점이 특징임 → 금액에 대한 결정보다는 사업에 대한 결정에 더 초점을 맞추고 있는 예산제도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핵심은 투입 요소 대신에 정부의 목적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최종 산물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사업 등과 같은 산출 영역에 관심을 집중하여 예산상의 결정이 이뤄져야 한다는 것 → 기획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사업분석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 기능을 단일의 의사결정으로 통합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360220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46C3D-5DC2-F626-C153-97A83087C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2CAD31BB-A71B-1971-8787-C237FAC7C8F8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5F98EA3-C2F1-F71B-77C1-F8128E128334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A77D1CC-101F-3A9C-56FA-E885381865B2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13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B46690E-B91A-F249-64A7-FB60753E9D17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계획예산제도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(PPBS)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(2)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1CE87219-8502-0B5B-C0D7-AD2A25E597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157C9533-5B50-0C34-5610-79496B330E91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772EE3F-1909-199E-A836-D1FF72E73CD8}"/>
              </a:ext>
            </a:extLst>
          </p:cNvPr>
          <p:cNvSpPr txBox="1"/>
          <p:nvPr/>
        </p:nvSpPr>
        <p:spPr>
          <a:xfrm>
            <a:off x="1080000" y="1671816"/>
            <a:ext cx="10800000" cy="36286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PPBS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는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1950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년대 미국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랜드연구소에서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사업예산 개념을 개발한데서 시작하여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1963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 케네디 행정부의 국방장관인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맥나마라는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이를 국방부에 도입하였음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이후 존슨 대통령의 지시에 따라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1965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 모든 연방정부에 전면적으로 도입되었다가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1971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 닉슨 행정부에서 공식적으로 폐지하였음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그러나 미국 국방부에서는 내부관리 제도로서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PPBS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를 아직까지 활용하고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우리나라 국방부도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1979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년부터 국방기획관리 제도를 운용해왔으며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1983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 예산개혁을 통해 자원배분과 관리기능을 포괄하는 종합적인 자원관리 체계로 제도화되었음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540931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AFE42-7D38-B825-F917-4F3976E45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A43840-3FF0-4C1B-F8F9-9DD45BA32F10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A5C3E5B-4057-8D10-4A5D-B58F8DE4389E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906BD8-3B7F-8719-6577-D7303C9CBCCC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14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853E12D-E712-A312-E20E-A7D81CAF9260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계획예산제도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(PPBS)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(3)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ED0C7A36-D5A8-B5A2-9D4F-1C9CC4B192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0A24F29E-D1D9-C957-F13B-DE89AB86FB64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FA0C4CA1-44B7-111C-25A9-788E595DB81B}"/>
              </a:ext>
            </a:extLst>
          </p:cNvPr>
          <p:cNvSpPr txBox="1"/>
          <p:nvPr/>
        </p:nvSpPr>
        <p:spPr>
          <a:xfrm>
            <a:off x="1080000" y="1689922"/>
            <a:ext cx="10800000" cy="4108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PPBS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 구조적 측면은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기획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-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사업예산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-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 배정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’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 주기를 확립하는 것으로 가장 핵심적인 작업은 사업구조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(program structure)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를 만드는 것 → 이는 목표를 구체화하는 작업이며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대안을 체계적으로 검토해 사업계획을 확정하는 작업임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목표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-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수단 관계의 체계화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사업구조는 각 조직의 소관 사업을 여러가지 종류와 수준별로 분류해서 작성하며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사업범주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대분류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하위사업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중분류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사업요소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소분류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3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단계로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계층화하는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것이 일반적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사업범주는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사업의 집합체를 최상위 수준에서 분류한 것으로 최고관리층이 의사결정을 내리는데 도움이 되는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사업군임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(e.g.,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미국 국방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5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개년 계획의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10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가지 주요 사업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하위사업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유사한 사업요소의 집합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은 중분류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사업요소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기본단위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는 소분류에 해당함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631052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78DE7-204A-7002-C586-0E8573EF6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90817810-6002-E202-B83E-FFACD1A223D7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61CAD97-B517-71B6-933D-72913385FC6F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0ACB1C-196D-BFE2-A09F-F011A9DCC6A6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15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4F056E1-0AF0-D5DE-A3E8-D77402EBDAAC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계획예산제도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(PPBS)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(4)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A6FFFDD-B065-8463-DB69-CB5411BD66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F90B91D6-F331-E236-12EE-5596C304CE86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098BA6E-020A-8492-FFE0-48F24ED5621D}"/>
              </a:ext>
            </a:extLst>
          </p:cNvPr>
          <p:cNvSpPr txBox="1"/>
          <p:nvPr/>
        </p:nvSpPr>
        <p:spPr>
          <a:xfrm>
            <a:off x="1080000" y="1689922"/>
            <a:ext cx="10800000" cy="36286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사업요소는 사업구조의 기본 단위이며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최종 산출물을 산출하는 조직체의 활동임 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사업요소는 명확히 정의할 수 있고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수량화할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수 있는 최종 산출물로서 투입과 연계될 수 있어야 함 → 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사업구조가 곧바로 예산과목 구조를 지칭하는 것은 아님 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사업구조는 목표 달성을 위한 대안을 체계적으로 검토해 반영해 놓은 일종의 사업요강으로서 최종적인 사업 및 재정계획이 수립되기 위해서는 예산과 별도의 연계작업이 필요함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PPBS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 사업 및 재정계획은 자금 소요를 추정한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수년간의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자금계획과 각 사업의 특성을 표시하는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수년간의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산출계획으로 구성 → 연동식 계획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(rolling plan)</a:t>
            </a:r>
          </a:p>
        </p:txBody>
      </p:sp>
    </p:spTree>
    <p:extLst>
      <p:ext uri="{BB962C8B-B14F-4D97-AF65-F5344CB8AC3E}">
        <p14:creationId xmlns:p14="http://schemas.microsoft.com/office/powerpoint/2010/main" val="1262930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92CA1-8C46-CB36-E15A-B07B965DA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C733CC0-B0D6-5373-DAC6-94C7F6A05CC5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407C2DB-E47C-C2E4-3C3E-7FB544D14266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33C617-87C2-3EB2-88C5-57A969B0425A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16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217D7C-AB2A-89B8-9066-EF045CF2CAEA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계획예산제도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(PPBS)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(5)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AF597970-5C95-6699-51C4-044CE740A6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D445AFC8-D094-33EB-623D-976793E208A8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6140B9F-1CA6-7DDC-5329-AF6F73A25913}"/>
              </a:ext>
            </a:extLst>
          </p:cNvPr>
          <p:cNvSpPr txBox="1"/>
          <p:nvPr/>
        </p:nvSpPr>
        <p:spPr>
          <a:xfrm>
            <a:off x="1080000" y="1689922"/>
            <a:ext cx="10800000" cy="40349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PPBS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는 목표 달성을 위한 사업계획을 마련할 때 여러 대안을 체계적으로 분석 검토하는 작업을 거치는데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프로그래밍 단계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이때 체제분석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또는 비용편익분석 등이 사용됨 → 자원배분에 관한 의사결정을 합리화하는 제도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체제분석은 의사결정자가 직면하는 복잡한 문제를 좀 더 정확하게 정의하고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관련된 대안을 개발해 그 비용과 효과를 추정하고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대안을 비교 평가함으로써 의사결정자가 최선의 대안을 선택할 수 있도록 도움을 주는 접근법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체제분석의 기본요소는 목적의 설정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대안의 개발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비용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효과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모델의 작성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평가 기준의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6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가지로 구별할 수 있으며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이중에서 대안의 비용과 효과를 비교하는 비용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-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효과분석이 중심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884279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93045-5440-7C10-FE74-32BAAA96B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3B3C673-1DFA-AE64-8F09-09799FDABD57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D9DC7C6-CB15-044A-6EFE-F2BE455FE5E8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071D38-5297-7FE6-CBCA-20326E8C0A12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17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EBBB6B-92FD-F86E-38BB-74EC13097019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계획예산제도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(PPBS)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(6)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C8B53E3A-A492-CC95-10DC-4DD04B859E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AD8AFD7C-4A65-9BC5-7EFE-5628CBEC9675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AA4F2038-0DC7-BC7E-B652-437BAF4FCDB8}"/>
              </a:ext>
            </a:extLst>
          </p:cNvPr>
          <p:cNvSpPr txBox="1"/>
          <p:nvPr/>
        </p:nvSpPr>
        <p:spPr>
          <a:xfrm>
            <a:off x="1080000" y="1689922"/>
            <a:ext cx="10800000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PPBS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 구조적 측면과 분석과정을 뒷받침하는 정보시스템은 어떠한 문서를 만들고 어떻게 보고체계를 확립하는가를 의미함 →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PPBS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는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사업요강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2)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사업재정계획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3)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특수분석연구의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3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가지 문서를 생성하여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OMB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에 제출하도록 되어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사업요강은 사업구조를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사업재정계획은 연동형 계획으로 수입과 지출에 대한 계획을 담고 있으며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특수분석연구는 사업요강에 있는 결정사항에 대한 분석자료를 담고 있음 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즉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부처의 장이나 예산국에 사업대안 결정에 필요한 정보를 제공하는 문서로서의 성격을 가짐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3381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34C53-85E0-11A7-A1AB-C0FB66F73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B992892-389B-8476-E78D-2C5EB498E08E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7B3BC09-FA16-0788-6B09-DC065610B76D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BFC3700-34B9-B792-974D-B7E945A5C8A4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18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3C67B9D-6CD5-1996-2F5A-0BE825A869EF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계획예산제도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(PPBS)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(7)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A917972F-63E1-A9F6-BF6B-BA74C3B964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B1120FC4-56F7-F31B-631B-3BFA7DB1F3D8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67DB3CAC-F687-8C88-F709-EE728C601CA1}"/>
              </a:ext>
            </a:extLst>
          </p:cNvPr>
          <p:cNvSpPr txBox="1"/>
          <p:nvPr/>
        </p:nvSpPr>
        <p:spPr>
          <a:xfrm>
            <a:off x="1080000" y="1689922"/>
            <a:ext cx="10800000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PPBS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는 목표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대안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비용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효과 등을 고려하고 분석적 기법을 이용하며 장기적 시계를 고려 → 자원배분의 합리화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장점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 </a:t>
            </a: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PPBS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는 기획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사업분석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예산편성이 단일한 의사결정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최고관리층에 집중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으로 통합되는 제도 → 의사결정의 일원화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장점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 </a:t>
            </a: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반면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PPBS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는 과도한 중앙집권화로 인한 부작용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사업구조 작성의 어려움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계량화의 어려움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간접비 배분 등 문제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사업구조와 예산과목 구조의 불일치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과다한 문서와 정보량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공무원과 의회의 이해부족 등 </a:t>
            </a:r>
            <a:r>
              <a:rPr lang="ko-KR" altLang="en-US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단점도 존재함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99583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8BC8F-2E80-2EC5-ED47-F2530A987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5C4F290-B1B4-651C-BFDA-27E523058D3D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968324A-F7B0-8FE7-9137-9AB53591CC35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2B05E1-8AF3-AA09-9787-523D708D1409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19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138641-D483-3FAB-9DAA-F42E7C679299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 err="1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영기준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예산제도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(ZBB)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FCEE189-6877-7BC6-C175-C07FE0E0C1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90478EEB-0C56-8D9F-210F-A13D27E47124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099693F-80CD-C117-66E4-BC463B0B8D5F}"/>
              </a:ext>
            </a:extLst>
          </p:cNvPr>
          <p:cNvSpPr txBox="1"/>
          <p:nvPr/>
        </p:nvSpPr>
        <p:spPr>
          <a:xfrm>
            <a:off x="1080000" y="1689922"/>
            <a:ext cx="10800000" cy="40349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영기준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예산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(Zero Base Budgeting)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은 과거의 관행을 전혀 참고하지 않고 목적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방법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자원에 대한 근본적인 재평가를 바탕으로 예산을 편성하는 제도를 의미하며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점증주의를 극복하기 위해 경제적 합리성을 제도화한 것으로 볼 수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영기준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예산이 모든 사업계획에 대해 출발점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(scratch)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로부터 검토해 예산을 편성한다고 보는 것은 아니며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선정된 사업계획에 대해 예산 기준 영역의 한 지점으로부터 검토하는 것을 포괄적으로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영기준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예산제도라고 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en-US" altLang="ko-KR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Sarant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1978)</a:t>
            </a: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영기준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예산제도의 기본 전제는 행정기관이 모든 사업계획에 대해 적어도 한번은 광범위하게 검토해야 한다는 것임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126859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F4931-0EDC-EF41-4A5F-5F7759684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77EC2B4-CE01-C917-0B71-CD4E3DBE2210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D8D667A-4497-1A45-6A4F-524AF3BBB36B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B56006F-DCD9-C4CB-4292-C5A4B39297B4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20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E21EA1-AC16-0060-6402-5E9B1064FFE0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 err="1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영기준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예산제도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(ZBB)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(2)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5CF93E95-2F7D-045B-3FFB-2D3B6C294B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5F153640-2EA3-E65E-1D16-5CB0DB007355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5DE2788A-3884-A489-0CCE-BDA86D951582}"/>
              </a:ext>
            </a:extLst>
          </p:cNvPr>
          <p:cNvSpPr txBox="1"/>
          <p:nvPr/>
        </p:nvSpPr>
        <p:spPr>
          <a:xfrm>
            <a:off x="1080000" y="1689922"/>
            <a:ext cx="10800000" cy="40349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미국 관리예산처에서도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영기준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예산을 사업의 기획 및 예산요구액의 편성과 관련해 모든 사업 및 활동을 체계적으로 검토하는 관리과정으로 보고 있음 →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Schick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 예산 기능의 연속선상에서 보면 평가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(evaluation)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기능을 강조한 제도임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(Chandler &amp; Plano, 1982)</a:t>
            </a: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PPBS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가 사업에 대한 결정에 초점을 맞춘 제도라면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ZBB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는 사업 뿐만 아니라 금액에 대한 결정에도 초점을 두고 있는 점이 특징임 → 따라서 예산정보에 사업대안에 대한 결정 뿐만 아니라 금액대안에 대한 결정 내용까지 포함된다는 점에서 차이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ZBB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는 민간기업에서 처음 활용되었으며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1977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 카터 대통령이 연방정부로 확대 도입하였다가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1981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 레이건 행정부에서 공식적으로 폐지함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348693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D1651-6B63-022A-98BA-87C3AB942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D937A4B-51AD-086C-0298-82DF9DCEDC8C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92B0C92-01F3-7FF4-78E9-8265C3F131F9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DED5CDF-BE8C-32AB-BF97-26492E2FC9DB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21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3D56385-B88A-17B5-3D41-E88FF741FEC4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 err="1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영기준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예산제도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(ZBB)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(3)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A9D6DF5A-D43D-4052-2B54-25CD032CA8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3F78D1F2-F39E-8F9E-9DB5-09B075FB730C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3545880-743A-1EEC-7751-D3A7DD83B2CD}"/>
              </a:ext>
            </a:extLst>
          </p:cNvPr>
          <p:cNvSpPr txBox="1"/>
          <p:nvPr/>
        </p:nvSpPr>
        <p:spPr>
          <a:xfrm>
            <a:off x="1080000" y="1689922"/>
            <a:ext cx="10800000" cy="4515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ZBB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 예산편성 기본단위는 의사결정 단위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(decision unit)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의사결정 단위는 조직의 관리자가 독자적인 업무수행의 범위 및 예산편성의 결정권을 갖는 사업단위 또는 조직단위를 지칭함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조직체가 구체적인 예산단위나 비용중심 구조를 가지고 있는 경우 의사결정 단위와 예산단위가 일치하게 되지만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 단위의 규모가 클 경우에는 한 예산 단위 내에 여러 개의 의사결정 단위가 존재하기도 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ZBB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는 사업 단위 뿐만 아니라 조직 단위도 의사결정 단위가 될 수 있다는 점에서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PPBS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보다 융통성이 있는 제도임 → 업무의 규모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사업대안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조직 구조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시간적 제약 등을 고려하여 조직에서 의사결정을 담당하는 계층을 정하게 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793192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3E187-CA3B-C0EE-6CD8-048C3D195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1633DA22-84CB-438B-BDAF-EE2E66265993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9AE4397-D3F6-C80F-CE55-C6908F3C5743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BDC989-7EEE-E162-B683-4AACEC18589C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22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5CF844-C7E4-8463-6FA0-935908932CC0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 err="1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영기준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예산제도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(ZBB)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(4)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4345603B-B37A-726D-9AA3-A535678E34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7F49EAC7-F3CC-E9F1-4065-474889A5FAE6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AB2CC780-B885-20B4-540E-E231CE05E559}"/>
              </a:ext>
            </a:extLst>
          </p:cNvPr>
          <p:cNvSpPr txBox="1"/>
          <p:nvPr/>
        </p:nvSpPr>
        <p:spPr>
          <a:xfrm>
            <a:off x="1080000" y="1689922"/>
            <a:ext cx="10800000" cy="4108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ZBB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 핵심은 의사결정 패키지를 작성하는 일임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의사결정 패키지는 의사결정 단위에 대한 분석 및 평가 결과를 명시해 놓은 표임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의사결정 패키지에 포함되는 의사결정 단위에 대한 정보는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1)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목적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또는 목표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), 2)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사업의 내용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3)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비용과 편익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4)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업무량과 성과측정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5)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목표달성을 위한 대안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6)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투입의 수준 등임 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ZBB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는 사업대안에 대한 정보와 금액 대안에 대한 정보가 혼재되어 있음을 상기할 필요가 있음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1)~5)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는 사업대안에 대한 정보이며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6)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은 금액 대안에 대한 정보임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ZBB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는 금액대안을 고려한다는 점에서 다른 예산제도와 가장 큰 차이가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257851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3152D-288A-743A-F0C4-713F453E5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F07EB36A-BECB-F787-BF14-BAD816948515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A276708-45E9-6EA6-49C2-FEF55308A2DA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A462AD8-0CD9-97BF-F5FB-7598E7A306F7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23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A678D0-A78F-29D7-E65F-9354ECE56A97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 err="1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영기준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예산제도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(ZBB)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(5)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191EC5E-0F33-CA0A-7E74-A8075B5006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D7891C77-B58E-BD16-A434-A783506878E5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5016B19-23BB-4706-8522-3B776B81AAF6}"/>
              </a:ext>
            </a:extLst>
          </p:cNvPr>
          <p:cNvSpPr txBox="1"/>
          <p:nvPr/>
        </p:nvSpPr>
        <p:spPr>
          <a:xfrm>
            <a:off x="1080000" y="1689922"/>
            <a:ext cx="10800000" cy="36286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사업대안 패키지는 의사결정 단위의 목표를 달성하기 위한 상호 배타적인 대안들을 탐색하고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이들을 분석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평가해 최선의 대안을 선택한 결과를 담은 정보임 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대안의 선택은 성질이 서로 다르고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논리적 질서가 없는 대안 중 하나를 선택하는 것을 의미함 → 일정한 재원을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A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사업에 쓸 것인가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B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사업에 쓸 것인가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비용편익분석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증액대안 패키지는 선정된 사업대안의 투입수준별 대안을 검토한 정보임 → 사업대안에 대한 투입을 변화시켜 봄으로써 한계효과를 검토하는 것이라고 할 수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증액대안은 대개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2~5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개로 구성되는데 일반적으로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3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개 수준으로 구분함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180396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89585-BBB0-4519-3458-A1233AAB9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2882ECA-0E3E-9CDC-3623-DAFF99650771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3941E95-C626-9FFF-213B-5DA8280A7FA7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5B789D-F472-71E2-567D-0F534DF5A814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24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02F78F-8852-8396-16AA-E9C839159343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 err="1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영기준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예산제도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(ZBB)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(6)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FBAD1A26-D097-4776-B116-9A6C977A12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8E457CC-CB25-C397-AC56-1F2FAB1FDBC0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C731C98D-FC62-011D-A150-4CAEA0CF349E}"/>
              </a:ext>
            </a:extLst>
          </p:cNvPr>
          <p:cNvSpPr txBox="1"/>
          <p:nvPr/>
        </p:nvSpPr>
        <p:spPr>
          <a:xfrm>
            <a:off x="1080000" y="1689921"/>
            <a:ext cx="5393228" cy="40349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최저수준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현행 수준보다 낮은 수준으로 사업의 축소된 투입수준을 반영한 것임 →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최저 수준은 이보다 더 축소시키면 사업 수행 자체가 무의미해지는 수준임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증액수준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현행 수준을 초과하는 한가지 이상의 점증 수준이 채택된 경우임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증액대안패키지는 최저수준과의 차액으로 나타냄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최저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30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억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현행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+1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억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증액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+1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억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0A86356-7B43-8BD9-75BB-A5FF24900F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1273" y="2552653"/>
            <a:ext cx="3798521" cy="2015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3012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3DF96-6FEF-F168-873F-8E8EAD505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3FAE6C8-8360-AF3E-A4CC-62B83B890203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6D44ADF-AA8E-3D20-A036-1B3760ABBC9F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D2DCB8A-7747-5A79-2AA8-946304CFC9C5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25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D051B95-4A05-E258-FE6C-DBAAB23C9D99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 err="1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영기준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예산제도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(ZBB)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(7)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52C9123-B165-F736-0FDA-6D61A5117B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14B6D105-7C73-A361-91C3-A926601D6149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2BBB8219-EB0D-A919-4965-B675D1BE5C04}"/>
              </a:ext>
            </a:extLst>
          </p:cNvPr>
          <p:cNvSpPr txBox="1"/>
          <p:nvPr/>
        </p:nvSpPr>
        <p:spPr>
          <a:xfrm>
            <a:off x="1080000" y="1689921"/>
            <a:ext cx="10227778" cy="40349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우선순위의 결정은 관리자에게 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얼마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를 어디에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지출해야하는가의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문제에 관심을 집중하도록 함으로서 효율성을 제고함 →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ZBB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에서 우선순위 결정의 대상은 사업대안이 아니라 증액대안 패키지임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한계적 분석의 형태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우선순위 결정 과정은 의사결정 단위별로 결정 패키지가 개발되면 해당 업무를 관장하는 상급 관리자가 단위별 패키지를 통합해 순위를 결정함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어떤 부서에서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A, B, C, D 4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가지 사업을 수행한다고 가정하고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600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억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각 사업은 최저수준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(1),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현행수준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(2),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증액수준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(3)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 세가지 증액대안이 모두 개발되어 있다고 가정하면 증액 대안의 수는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12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개이며 우선순위와 예산액은 다음 표와 같음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920930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2CD4D-1C49-EA77-14BF-A72573C7D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FBB4A032-AF2F-D49A-2DDE-1DD31033E39C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379C2DC-473B-4333-9EF7-81BCFE670762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ED4C5D1-797A-4DD6-8BD3-1E46241ABFC7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26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33B896-6E4A-9713-6284-75A0E2925CC7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 err="1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영기준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예산제도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(ZBB)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(8)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9838D61D-0215-04E9-7FA0-C45F8F37E7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8C04256C-AF09-BE92-DB3B-FA1B46A08ED1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>
            <a:extLst>
              <a:ext uri="{FF2B5EF4-FFF2-40B4-BE49-F238E27FC236}">
                <a16:creationId xmlns:a16="http://schemas.microsoft.com/office/drawing/2014/main" id="{7AAA9B19-80D7-9050-EA73-D855919456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5997" y="1342076"/>
            <a:ext cx="9829518" cy="4291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3015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63612-B850-614D-6448-643A13B90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688ECB1-BCBC-4776-B01C-9C241CA972B0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ABB52B5-342E-B6A5-D618-5F564DFEC97F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E8B69AC-C50C-DE13-9518-56F3B7A546D6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27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FC5F91-82D0-1BDD-41DF-3A784EF69B90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 err="1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영기준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예산제도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(ZBB)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(9)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F80E47A9-A84B-947E-90F6-4AEF7BE070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5EC18F78-3354-749F-D112-9EAE251B5C32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그림 1" descr="테이블이(가) 표시된 사진&#10;&#10;자동 생성된 설명">
            <a:extLst>
              <a:ext uri="{FF2B5EF4-FFF2-40B4-BE49-F238E27FC236}">
                <a16:creationId xmlns:a16="http://schemas.microsoft.com/office/drawing/2014/main" id="{3B7B0524-3F52-FFE5-32DE-C39B21C92A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5997" y="1837236"/>
            <a:ext cx="9517988" cy="3482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6457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90300-FC8D-48B2-F234-B2148307A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8027AF3-62CF-F7AE-FA0A-4DB948E91E73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361EAA7-1D61-04C8-DA2E-88D06CDAF0ED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432A853-0390-6783-BC9B-999042FBA56C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28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66A4514-481A-E4EE-EFA0-8A33A039C7A8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 err="1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영기준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예산제도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(ZBB)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(10)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0161B07-1F47-4E94-F9B5-4C711C8C49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C7634AA3-5DCE-2EDA-E7C9-7622E4C32CEA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46F3C706-4721-39D3-44DA-ED840B53F8CB}"/>
              </a:ext>
            </a:extLst>
          </p:cNvPr>
          <p:cNvSpPr txBox="1"/>
          <p:nvPr/>
        </p:nvSpPr>
        <p:spPr>
          <a:xfrm>
            <a:off x="1080000" y="1689921"/>
            <a:ext cx="10227778" cy="3961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ZBB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는 합리적 의사결정과 합리적 자원배분을 달성할 수 있다는 장점이 있으며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의사결정 단위가 조직단위 또는 사업단위가 될 수 있다는 점에서 다양성과 신축성을 가질 뿐만 아니라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 결정과정에서 구성원의 참여가 이뤄진다는 점에서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분권화된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관리체계를 가짐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반면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ZBB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는 과다한 노력과 시간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그리고 분석이 필요하다는 점에서 단점이 있으며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방대한 의사결정 패키지의 우선순위를 정하는 것도 어렵고 주관적인 문제가 있을 뿐만 아니라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ZBB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를 도입했던 연방정부에서의 예산 팽창 억제 실적에 크게 기여하지 못했음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(90%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기준 예산이라는 비판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201860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C8635D4-D3E2-C1C1-2DF9-711C09D1EC0A}"/>
              </a:ext>
            </a:extLst>
          </p:cNvPr>
          <p:cNvCxnSpPr>
            <a:cxnSpLocks/>
          </p:cNvCxnSpPr>
          <p:nvPr/>
        </p:nvCxnSpPr>
        <p:spPr>
          <a:xfrm>
            <a:off x="2152783" y="717177"/>
            <a:ext cx="9727217" cy="2823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DE01540-6402-0BA0-5B48-1A12659FE302}"/>
              </a:ext>
            </a:extLst>
          </p:cNvPr>
          <p:cNvSpPr txBox="1"/>
          <p:nvPr/>
        </p:nvSpPr>
        <p:spPr>
          <a:xfrm>
            <a:off x="4874350" y="3075057"/>
            <a:ext cx="2443298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rtlCol="0">
            <a:spAutoFit/>
          </a:bodyPr>
          <a:lstStyle/>
          <a:p>
            <a:pPr algn="dist"/>
            <a:r>
              <a:rPr lang="ko-KR" altLang="en-US" sz="40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감사합니다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D89A27F3-6396-4A24-947F-2EDC13EB62AA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3755EA48-AAC8-8D9F-CFA6-5208CD71E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C8A388A4-7040-6B9A-9AE1-834C88364A48}"/>
              </a:ext>
            </a:extLst>
          </p:cNvPr>
          <p:cNvGrpSpPr/>
          <p:nvPr/>
        </p:nvGrpSpPr>
        <p:grpSpPr>
          <a:xfrm>
            <a:off x="361144" y="531548"/>
            <a:ext cx="1635639" cy="371258"/>
            <a:chOff x="303023" y="453495"/>
            <a:chExt cx="1357980" cy="305606"/>
          </a:xfrm>
        </p:grpSpPr>
        <p:grpSp>
          <p:nvGrpSpPr>
            <p:cNvPr id="9" name="그룹 1004">
              <a:extLst>
                <a:ext uri="{FF2B5EF4-FFF2-40B4-BE49-F238E27FC236}">
                  <a16:creationId xmlns:a16="http://schemas.microsoft.com/office/drawing/2014/main" id="{C2047555-F6C8-2082-96FB-974FF14E9C11}"/>
                </a:ext>
              </a:extLst>
            </p:cNvPr>
            <p:cNvGrpSpPr/>
            <p:nvPr/>
          </p:nvGrpSpPr>
          <p:grpSpPr>
            <a:xfrm>
              <a:off x="303023" y="453495"/>
              <a:ext cx="305606" cy="305606"/>
              <a:chOff x="7252263" y="581291"/>
              <a:chExt cx="1251000" cy="1251000"/>
            </a:xfrm>
          </p:grpSpPr>
          <p:pic>
            <p:nvPicPr>
              <p:cNvPr id="12" name="Object 13">
                <a:extLst>
                  <a:ext uri="{FF2B5EF4-FFF2-40B4-BE49-F238E27FC236}">
                    <a16:creationId xmlns:a16="http://schemas.microsoft.com/office/drawing/2014/main" id="{A816CA28-ED33-29B0-8851-0B9BAB3111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7252263" y="581291"/>
                <a:ext cx="1251000" cy="1251000"/>
              </a:xfrm>
              <a:prstGeom prst="rect">
                <a:avLst/>
              </a:prstGeom>
            </p:spPr>
          </p:pic>
        </p:grpSp>
        <p:grpSp>
          <p:nvGrpSpPr>
            <p:cNvPr id="10" name="그룹 1007">
              <a:extLst>
                <a:ext uri="{FF2B5EF4-FFF2-40B4-BE49-F238E27FC236}">
                  <a16:creationId xmlns:a16="http://schemas.microsoft.com/office/drawing/2014/main" id="{E80146EE-C903-87DE-0B04-EFB7BD1B165A}"/>
                </a:ext>
              </a:extLst>
            </p:cNvPr>
            <p:cNvGrpSpPr/>
            <p:nvPr/>
          </p:nvGrpSpPr>
          <p:grpSpPr>
            <a:xfrm>
              <a:off x="681789" y="472805"/>
              <a:ext cx="979214" cy="286296"/>
              <a:chOff x="4978293" y="70686"/>
              <a:chExt cx="1725714" cy="504552"/>
            </a:xfrm>
          </p:grpSpPr>
          <p:pic>
            <p:nvPicPr>
              <p:cNvPr id="11" name="Object 22">
                <a:extLst>
                  <a:ext uri="{FF2B5EF4-FFF2-40B4-BE49-F238E27FC236}">
                    <a16:creationId xmlns:a16="http://schemas.microsoft.com/office/drawing/2014/main" id="{2EBFA3EB-50D2-8153-CCB7-97A94AEAF1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978293" y="70686"/>
                <a:ext cx="1725714" cy="504552"/>
              </a:xfrm>
              <a:prstGeom prst="rect">
                <a:avLst/>
              </a:prstGeom>
            </p:spPr>
          </p:pic>
        </p:grpSp>
      </p:grp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948503B-7E35-726A-03B0-63A0FC981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0505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7209</TotalTime>
  <Words>2418</Words>
  <Application>Microsoft Office PowerPoint</Application>
  <PresentationFormat>와이드스크린</PresentationFormat>
  <Paragraphs>159</Paragraphs>
  <Slides>30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6" baseType="lpstr">
      <vt:lpstr>경기천년제목 Bold</vt:lpstr>
      <vt:lpstr>경기천년제목 Light</vt:lpstr>
      <vt:lpstr>맑은 고딕</vt:lpstr>
      <vt:lpstr>이사만루체 Bold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KKD</dc:creator>
  <cp:lastModifiedBy>KKD</cp:lastModifiedBy>
  <cp:revision>1241</cp:revision>
  <dcterms:created xsi:type="dcterms:W3CDTF">2025-03-10T02:54:00Z</dcterms:created>
  <dcterms:modified xsi:type="dcterms:W3CDTF">2025-11-26T02:03:24Z</dcterms:modified>
</cp:coreProperties>
</file>