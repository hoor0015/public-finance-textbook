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386" r:id="rId4"/>
    <p:sldId id="367" r:id="rId5"/>
    <p:sldId id="387" r:id="rId6"/>
    <p:sldId id="388" r:id="rId7"/>
    <p:sldId id="389" r:id="rId8"/>
    <p:sldId id="390" r:id="rId9"/>
    <p:sldId id="391" r:id="rId10"/>
    <p:sldId id="368" r:id="rId11"/>
    <p:sldId id="392" r:id="rId12"/>
    <p:sldId id="394" r:id="rId13"/>
    <p:sldId id="396" r:id="rId14"/>
    <p:sldId id="397" r:id="rId15"/>
    <p:sldId id="399" r:id="rId16"/>
    <p:sldId id="398" r:id="rId17"/>
    <p:sldId id="400" r:id="rId18"/>
    <p:sldId id="402" r:id="rId19"/>
    <p:sldId id="406" r:id="rId20"/>
    <p:sldId id="404" r:id="rId21"/>
    <p:sldId id="405" r:id="rId22"/>
    <p:sldId id="407" r:id="rId23"/>
    <p:sldId id="258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3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재무행정론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9EAF-E542-DF3A-2695-853BC9C9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D0CEF8-B52D-DB8C-1594-BB8B62C1FF5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E32A99-2B7A-AE6B-472D-3D3066666C4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A155A-6C01-1457-F19B-BA4B053FEFD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BF75ED-31AA-39A9-DC85-90AE55A9CE1B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예산주기의 의의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D437B-3E14-B500-6DD6-4D4CE1E3EEAF}"/>
              </a:ext>
            </a:extLst>
          </p:cNvPr>
          <p:cNvSpPr txBox="1"/>
          <p:nvPr/>
        </p:nvSpPr>
        <p:spPr>
          <a:xfrm>
            <a:off x="1080000" y="1671816"/>
            <a:ext cx="10800000" cy="231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일반적으로 예산과정은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2)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심의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3)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4)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결산 및 회계검사의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단계로 이뤄지며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일정한 주기를 가지고 반복되는 특성이 있음 → 예산주기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예산의 편성과 심의는 전년도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(t-1),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집행은 당해 연도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(t),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결산 및 회계검사는 차년도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(t+1)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수행됨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중첩된 예산주기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3DBDF90-15CA-3CFA-FB7F-44240F89F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AD92805-807F-CB3C-F622-91A50E3D14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 descr="테이블이(가) 표시된 사진&#10;&#10;자동 생성된 설명">
            <a:extLst>
              <a:ext uri="{FF2B5EF4-FFF2-40B4-BE49-F238E27FC236}">
                <a16:creationId xmlns:a16="http://schemas.microsoft.com/office/drawing/2014/main" id="{0C39C7D7-F8B7-6929-5DC0-9F0E216AE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998" y="4095518"/>
            <a:ext cx="10058398" cy="169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5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18418-4487-864D-5622-69A43AE5B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73285BB-3C48-9B2B-EDFB-66CB289CF5F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11836D4-E983-F72E-DBC3-E6641AF74E7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0E70F5-A7DA-0ADC-F1DF-95F75BDD7477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B9EA83-0BA4-27CB-3BE7-C7FA7FFFFD58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예산주기의 의의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B3FE57-0AE7-96D4-F7A3-AECDAF108AA6}"/>
              </a:ext>
            </a:extLst>
          </p:cNvPr>
          <p:cNvSpPr txBox="1"/>
          <p:nvPr/>
        </p:nvSpPr>
        <p:spPr>
          <a:xfrm>
            <a:off x="1080000" y="1671816"/>
            <a:ext cx="10800000" cy="2317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행정부는 예산 편성과 집행에 대한 권한과 책임을 가지며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입법부는 예산과 결산에 대한 심의 권한을 가짐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회계는 독립적 검사기관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견제와 균형의 제도적 장치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이러한 예산 주기 속에서 정부의 책임성과 반응성은 제고됨 → 그러나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예산에 대한 최종적인 책임은 입법부가 가짐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재정민주주의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A9D3669-BAF3-C82A-CAF7-439831B5A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EB71850-5FA5-C120-B56A-D00E678297C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0E7713B3-2D5E-D1FC-C0A3-DD4BB9C6B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670" y="4387191"/>
            <a:ext cx="8641974" cy="142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391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D3783-D2C1-F21C-3251-8B6219092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67D3752-8488-CC87-8F7C-01C66696935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38445C-60E8-EFC7-2DFD-B92EA8A59E0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F562AB-A9D9-06B0-41FF-855C31A9480E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8C38BC-BA0B-16D4-BD61-4BF864B982D2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예산과정과 정책과정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973F69-B386-0A64-4E9A-509B5379C7AC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예산의 본질적인 모습은 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예산과정과 정책과정은 밀접하게 연계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예산주기를 정책과정 측면에서 살펴보면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 및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2)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정책형성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3)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정책집행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4)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감사 및 평가의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단계로 살펴볼 수 있음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(Lynch, 1995)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 및 분석은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 예측을 통해 재정정책의 방향을 정립하고 세입예측과 재정운용의 방향을 모색하는 단계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각 부처에서 기획과 분석 작업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예측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한계효용 분석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 및 재정계획을 수립함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분석은 정책형성 단계와 정책평가 단계에서 주로 이뤄짐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분석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평가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46ADB37-8F15-FD43-971C-3B8D919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74A4574-D1B6-CE19-8E77-C2638FB18BE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447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57B78-7721-9FB9-8610-095F267BE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A523D34-6D0B-4262-673F-267490B0051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FC96285-68DC-4B40-FB69-784FA97C0A8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33B131-7F54-BEB4-F84F-9A5CF04A60D5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FE421F-527C-3051-84A7-2B880A293590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예산과정과 정책과정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982238-BF7E-2E7E-FFF2-742BB4A44EEF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정책형성 단계는 예산편성과 심의가 이뤄지는 단계임 → 예산편성과 심의는 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결정이며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단계에서 다양한 이해관계자의 영향력이 예산과정에 수렴됨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예산편성 단계에서는 사업계획의 제출 및 검토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편성지침 마련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예산요구서의 제출 및 사정 작업이 이뤄지며 정부예산안이 편성됨 → 이후 예산 심의를 거쳐 예산안이 확정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정책집행 단계는 예산이 사용되는 단계임 → 사업예산의 집행은 월별 예산 배정과 자금 배정이 이뤄지고 난 다음 지출원인행위를 거쳐 자금이 지출됨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예산집행 단계에서 정부회계 기준에 의한 회계처리가 이뤄지고 결산보고서가 작성됨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B07AD7C-86D7-B18B-10D7-171788E59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D8AB9E1-D652-2CF7-0003-612F0ECEB3B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371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170E0-7F92-2B16-62CA-76EA63D4B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960632E-54DD-E485-E8DF-A72B59EB5F1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EC04E5D-359D-CE20-FE0F-70BE4F8E1F9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732153-482C-F418-9672-390B91F12D34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D8DEE7-F4C1-5BD9-4649-1CE7148C7B13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예산과정과 정책과정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F9F598-DC48-10A2-7A8F-1AEF9C3E9B2F}"/>
              </a:ext>
            </a:extLst>
          </p:cNvPr>
          <p:cNvSpPr txBox="1"/>
          <p:nvPr/>
        </p:nvSpPr>
        <p:spPr>
          <a:xfrm>
            <a:off x="1080000" y="1671815"/>
            <a:ext cx="5393228" cy="342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감사 및 평가는 집행 이후 감사원과 국회와 같은 곳에서 이뤄짐 → 감사는 합법성 심사만을 수행하지만 최근에는 정책 및 사업평가를 중시하고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자체평가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의무화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회계검사 이후 국회의 결산심의를 거치면 예산주기 종료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2E02EC6-F88A-B13D-2409-09249989A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C6F0923-B51C-ED69-5905-2F3DB31BD33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69EED35-DBDA-53B9-9560-7F4AB5BBC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480066"/>
              </p:ext>
            </p:extLst>
          </p:nvPr>
        </p:nvGraphicFramePr>
        <p:xfrm>
          <a:off x="6840868" y="1408104"/>
          <a:ext cx="4670779" cy="41513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49790">
                  <a:extLst>
                    <a:ext uri="{9D8B030D-6E8A-4147-A177-3AD203B41FA5}">
                      <a16:colId xmlns:a16="http://schemas.microsoft.com/office/drawing/2014/main" val="3408897897"/>
                    </a:ext>
                  </a:extLst>
                </a:gridCol>
                <a:gridCol w="1240325">
                  <a:extLst>
                    <a:ext uri="{9D8B030D-6E8A-4147-A177-3AD203B41FA5}">
                      <a16:colId xmlns:a16="http://schemas.microsoft.com/office/drawing/2014/main" val="1363595087"/>
                    </a:ext>
                  </a:extLst>
                </a:gridCol>
                <a:gridCol w="2280664">
                  <a:extLst>
                    <a:ext uri="{9D8B030D-6E8A-4147-A177-3AD203B41FA5}">
                      <a16:colId xmlns:a16="http://schemas.microsoft.com/office/drawing/2014/main" val="2245308942"/>
                    </a:ext>
                  </a:extLst>
                </a:gridCol>
              </a:tblGrid>
              <a:tr h="2425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정책 과정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예산 과정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예산업무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661187149"/>
                  </a:ext>
                </a:extLst>
              </a:tr>
              <a:tr h="734911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기획 및 분석</a:t>
                      </a:r>
                    </a:p>
                  </a:txBody>
                  <a:tcPr marL="17907" marR="17907" marT="17907" marB="17907" anchor="ctr"/>
                </a:tc>
                <a:tc rowSpan="2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예산편성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국가재정 운용계획 작성</a:t>
                      </a:r>
                    </a:p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정책ㆍ사업분석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 및 세입예측</a:t>
                      </a:r>
                    </a:p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예산총액배분 자율편성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127525717"/>
                  </a:ext>
                </a:extLst>
              </a:tr>
              <a:tr h="734911">
                <a:tc rowSpan="2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정책형성</a:t>
                      </a:r>
                    </a:p>
                  </a:txBody>
                  <a:tcPr marL="17907" marR="17907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예산편성 기본지침 </a:t>
                      </a: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작성ㆍ송부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예산요구서 제출</a:t>
                      </a:r>
                    </a:p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예산안의 사정 및 편성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274351424"/>
                  </a:ext>
                </a:extLst>
              </a:tr>
              <a:tr h="4885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예산심의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예비심사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상임위원회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)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종합심사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예산결산특별위원회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)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538318285"/>
                  </a:ext>
                </a:extLst>
              </a:tr>
              <a:tr h="488556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정책집행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예산집행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예산 </a:t>
                      </a: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배정ㆍ자금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 배정</a:t>
                      </a:r>
                    </a:p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지출원인행위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지출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회계 처리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818250280"/>
                  </a:ext>
                </a:extLst>
              </a:tr>
              <a:tr h="488556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감사 및 평가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결산 및 회계검사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재정성과관리</a:t>
                      </a:r>
                    </a:p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회계검사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결산심의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4224433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4163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4AAB0-7785-1E13-C846-71BEA303F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DDAB274-BABA-4867-2303-428344DE3E6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246EDD3-535F-C733-B150-DE940663EFF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771697-44AF-3FD3-E2B5-9593FF1CFD49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F2D151-29DF-E7FE-B510-AFFF8E7B54EB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예산편성의 의의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12DB1A-63DC-EF83-C90E-EC5276BCA6B9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예산편성은 정부가 수행하고자 하는 계획과 사업을 구체화하는 과정 → 사업에 사용될 재원을 추계하고 지출 규모를 확정하는 과정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과거에는 입법부가 예산편성을 담당하기도 하였으나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예산편성은 행정부가 담당하는 것이 일반적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(executive budget system)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오늘날 정부의 기능은 매우 복잡하고 전문적이기 때문에 행정부 제출 예산제도를 택할 수 밖에 없음 → 정책분석에 필요한 지식과 전문성을 가진 전문관료들이 각 분야별 예산 편성에 더욱 적합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174CCAF-911C-F328-AFB5-94A4204EB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24ABB2F-374C-827A-70DC-03E143279B5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605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66980-EABC-2CE6-B45E-62A691297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3B5CD5B-D419-FC4B-6FB9-5CC07216BE2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BBC0AF8-517A-4526-450A-47A5092FFC6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E667CE-A22D-CED1-729F-092EE6BF0739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C33320-765C-4C3E-BC5E-DE434BD1BFA2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거시적 예산결정과 미시적 예산결정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F0ECCC-29E2-64BB-2848-0D249FA91F2B}"/>
              </a:ext>
            </a:extLst>
          </p:cNvPr>
          <p:cNvSpPr txBox="1"/>
          <p:nvPr/>
        </p:nvSpPr>
        <p:spPr>
          <a:xfrm>
            <a:off x="1080000" y="1671816"/>
            <a:ext cx="10800000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예산편성 의사결정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위에서 아래로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(top-down)  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아래에서 위로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(bottom-up)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대통령과 기획재정부를 중심으로 한 예산운용 전반에 대한 거시적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하향식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예산결정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 행정기관이 자신의 사업에 재원을 배분하는 미시적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상향식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예산결정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거시적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하향적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예산결정은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1970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년대 후반 만성적 재정적자에 대한 해결책을 모색하는 과정에서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한도액을 잠정적으로 정해놓고 예산 심의를 시작하도록 제도화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총량적 재정 규율에 해당하는 예산 총액의 결정이 초점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우리나라도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2005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년부터 예산총액배분 자율편성제도를 도입함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E2BAA02-584F-A07D-7BA8-1470F608A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11507F9-3277-A16E-3291-2E41A553679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286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2BCBD-D618-B5A3-BAD8-A26C0F223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395AC65-C7C0-BF02-57EF-4C352D12DD7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27206F-041B-CD41-DD71-8C5B0F9F2E2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A8FD76-2467-1A5E-0939-78A16F0A3F28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D2137F-F8DD-904F-9822-3E0A9B813A64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거시적 예산결정과 미시적 예산결정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E7CB4A2-B3E0-D2DB-8D12-385964C96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D812F9D-5E5C-BC52-D5CE-2BA2A280F28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0D4D2DB-02B5-3E32-9A47-6C463041A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608349"/>
              </p:ext>
            </p:extLst>
          </p:nvPr>
        </p:nvGraphicFramePr>
        <p:xfrm>
          <a:off x="817418" y="1363715"/>
          <a:ext cx="10557164" cy="45948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95891">
                  <a:extLst>
                    <a:ext uri="{9D8B030D-6E8A-4147-A177-3AD203B41FA5}">
                      <a16:colId xmlns:a16="http://schemas.microsoft.com/office/drawing/2014/main" val="929257220"/>
                    </a:ext>
                  </a:extLst>
                </a:gridCol>
                <a:gridCol w="2173598">
                  <a:extLst>
                    <a:ext uri="{9D8B030D-6E8A-4147-A177-3AD203B41FA5}">
                      <a16:colId xmlns:a16="http://schemas.microsoft.com/office/drawing/2014/main" val="2016258392"/>
                    </a:ext>
                  </a:extLst>
                </a:gridCol>
                <a:gridCol w="2173598">
                  <a:extLst>
                    <a:ext uri="{9D8B030D-6E8A-4147-A177-3AD203B41FA5}">
                      <a16:colId xmlns:a16="http://schemas.microsoft.com/office/drawing/2014/main" val="1813869744"/>
                    </a:ext>
                  </a:extLst>
                </a:gridCol>
                <a:gridCol w="2095891">
                  <a:extLst>
                    <a:ext uri="{9D8B030D-6E8A-4147-A177-3AD203B41FA5}">
                      <a16:colId xmlns:a16="http://schemas.microsoft.com/office/drawing/2014/main" val="3303509406"/>
                    </a:ext>
                  </a:extLst>
                </a:gridCol>
                <a:gridCol w="2018186">
                  <a:extLst>
                    <a:ext uri="{9D8B030D-6E8A-4147-A177-3AD203B41FA5}">
                      <a16:colId xmlns:a16="http://schemas.microsoft.com/office/drawing/2014/main" val="4021216670"/>
                    </a:ext>
                  </a:extLst>
                </a:gridCol>
              </a:tblGrid>
              <a:tr h="19050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400" b="1" kern="0" spc="0" dirty="0">
                        <a:solidFill>
                          <a:srgbClr val="000000"/>
                        </a:solidFill>
                        <a:effectLst/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17907" marR="17907" marT="17907" marB="17907"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행정부 과정</a:t>
                      </a: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1" kern="0" spc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입법부 과정</a:t>
                      </a: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140988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미시적 결정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거시적 결정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미시적 결정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거시적 결정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260150075"/>
                  </a:ext>
                </a:extLst>
              </a:tr>
              <a:tr h="346964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주요 행위자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정부 각 기관 </a:t>
                      </a: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OMB</a:t>
                      </a: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의 사정관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대통령</a:t>
                      </a: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백악관</a:t>
                      </a: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참모</a:t>
                      </a: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OMB </a:t>
                      </a: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처장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세출위원회와 </a:t>
                      </a: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소위원회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예산위원회</a:t>
                      </a:r>
                      <a:r>
                        <a:rPr lang="en-US" altLang="ko-KR" sz="2400" kern="0" spc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endParaRPr lang="ko-KR" altLang="en-US" sz="2400" kern="0" spc="0">
                        <a:solidFill>
                          <a:srgbClr val="000000"/>
                        </a:solidFill>
                        <a:effectLst/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정당지도자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2972013607"/>
                  </a:ext>
                </a:extLst>
              </a:tr>
              <a:tr h="503428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활동의 초점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개별 부처의 </a:t>
                      </a: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사업</a:t>
                      </a: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매년 증액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예산총액</a:t>
                      </a: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경제 예측</a:t>
                      </a: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GNP </a:t>
                      </a: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대비 예산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개별 법안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의회결의안</a:t>
                      </a: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</a:t>
                      </a: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 </a:t>
                      </a:r>
                      <a:endParaRPr lang="en-US" altLang="ko-KR" sz="2400" kern="0" spc="0" dirty="0">
                        <a:solidFill>
                          <a:srgbClr val="000000"/>
                        </a:solidFill>
                        <a:effectLst/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조정 지침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1339875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절차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분산</a:t>
                      </a:r>
                      <a:r>
                        <a:rPr lang="en-US" altLang="ko-KR" sz="2400" kern="0" spc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sz="2400" kern="0" spc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상향적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집권</a:t>
                      </a:r>
                      <a:r>
                        <a:rPr lang="en-US" altLang="ko-KR" sz="2400" kern="0" spc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sz="2400" kern="0" spc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하향적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분산</a:t>
                      </a: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상향적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집권</a:t>
                      </a: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하향적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4165852326"/>
                  </a:ext>
                </a:extLst>
              </a:tr>
              <a:tr h="503428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재정 개혁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사업예산</a:t>
                      </a: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endParaRPr lang="ko-KR" altLang="en-US" sz="2400" kern="0" spc="0" dirty="0">
                        <a:solidFill>
                          <a:srgbClr val="000000"/>
                        </a:solidFill>
                        <a:effectLst/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MBO, PPBS, ZBB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하향식 예산</a:t>
                      </a: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집행 절차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세출위원회 강화</a:t>
                      </a: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sz="2400" kern="0" spc="0" dirty="0" err="1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일몰법</a:t>
                      </a:r>
                      <a:endParaRPr lang="ko-KR" altLang="en-US" sz="2400" kern="0" spc="0" dirty="0">
                        <a:solidFill>
                          <a:srgbClr val="000000"/>
                        </a:solidFill>
                        <a:effectLst/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총괄예산법</a:t>
                      </a: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적자삭감법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2205414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54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048D2-ECAD-25E7-1444-A39A4192E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AA67BBD-D1C0-92BE-3C21-F3F51AEC369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31CBAC5-2D9C-2354-4831-3338563ACFE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0E8F85-6854-8530-37B6-42797863E754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741E63-1A82-E53A-E8E1-773EB0E1003A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국가재정 운용계획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5F14A6-FF79-44E7-F84F-2D1B6B80813D}"/>
              </a:ext>
            </a:extLst>
          </p:cNvPr>
          <p:cNvSpPr txBox="1"/>
          <p:nvPr/>
        </p:nvSpPr>
        <p:spPr>
          <a:xfrm>
            <a:off x="1080000" y="1671816"/>
            <a:ext cx="10800000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 운용계획은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년의 재정운용 시계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(time horizon)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갖는 연동식 중기재정계획으로서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2004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년부터 도입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운영되고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 운용계획은 중장기적 시계에서 국정과제를 체계적으로 뒷받침하고 예측가능성을 제고하며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재정의 건전성과 효율성을 도모하는 것을 목적으로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7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조에 따르면 정부는 매년 회계연도부터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회계연도 이상의 기간에 대한 재정운용계획을 수립하여 회계연도 개시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120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전까지 국회에 제출하여야 한다고 규정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B3B8075-246F-FD53-5F1E-5A8222106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4DD82BF-65C5-5E7B-1D53-44B4E14CB09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357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01586-7576-756E-172F-27CD5D5A9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국회도서관 국가전략정보포털">
            <a:extLst>
              <a:ext uri="{FF2B5EF4-FFF2-40B4-BE49-F238E27FC236}">
                <a16:creationId xmlns:a16="http://schemas.microsoft.com/office/drawing/2014/main" id="{27F3E117-1A08-1F1F-42EC-6C89135DD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3237" y="812112"/>
            <a:ext cx="3671454" cy="52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EA01549-61E0-A2A6-A752-1A443B13C01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F2E75DE-1DB4-7A82-D54D-E7112A85272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DABA20-C18D-E127-79A8-6D3BE81B9CFD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55B45F-5678-2EF8-D095-EF17D26593D0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국가재정 운용계획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209B32-2B4D-2D82-66D6-7BCA42E554AE}"/>
              </a:ext>
            </a:extLst>
          </p:cNvPr>
          <p:cNvSpPr txBox="1"/>
          <p:nvPr/>
        </p:nvSpPr>
        <p:spPr>
          <a:xfrm>
            <a:off x="1080000" y="1671816"/>
            <a:ext cx="5944255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기획재정부는 재정운용 방향과 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재원배분계획 등을 수립하고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분야별 작업반을 구성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운영하며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공청회 또는 토론회를 거쳐 국가재정 운용계획을 작성함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 운용계획은 국무회의 심의를 거쳐 정부예산안과 함께 국회에 제출되나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국회의 심의 대상은 아님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AD2A8DA-CCAC-0210-AE31-FD355699B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5D1C069-A312-AC3D-5165-8675493C681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033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1F5DA-16F9-10AC-5BF9-5DCA3D74A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7A9658AF-7595-8C54-FEA8-7E6B1F812C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57" t="14044" r="19558" b="34402"/>
          <a:stretch>
            <a:fillRect/>
          </a:stretch>
        </p:blipFill>
        <p:spPr>
          <a:xfrm>
            <a:off x="7914800" y="1483379"/>
            <a:ext cx="3135421" cy="4636620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81FC9C8-6F74-F488-C345-1BD332677BB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503225-04A9-9032-94D6-C7EABAD18AF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B04729-00C0-F2F8-7879-A163443CE9DC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03673E-A27A-1090-48F6-13213D98D19E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국가재정 운용계획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BAD79FF-84E1-8B32-EEBD-EC57D2979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6C205DF-866E-E0B4-73A5-E7873D0D5E8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C87C4188-878F-E594-1697-1B5DEF71E6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426" t="26464" r="14482" b="22222"/>
          <a:stretch>
            <a:fillRect/>
          </a:stretch>
        </p:blipFill>
        <p:spPr>
          <a:xfrm>
            <a:off x="1004048" y="1510247"/>
            <a:ext cx="3692643" cy="45752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1CB2C75-8C80-55A4-19D0-2E84DF3231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757" t="18169" r="21164" b="31111"/>
          <a:stretch>
            <a:fillRect/>
          </a:stretch>
        </p:blipFill>
        <p:spPr>
          <a:xfrm>
            <a:off x="4678585" y="1586798"/>
            <a:ext cx="3010364" cy="449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625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24C05-3CF0-DDA4-053F-82F9DC1D6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205F4A-D93F-0EBF-3F0B-4335C6707EF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90CBD64-2761-56C2-F1BA-39E4ACD0166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881A57-D194-533E-21B8-45E7EE00C5B8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638E1D-925E-BA9A-96BA-5B48180D404C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총액배분 자율편성제도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9C4A39-F2F4-553D-9494-20240250445F}"/>
              </a:ext>
            </a:extLst>
          </p:cNvPr>
          <p:cNvSpPr txBox="1"/>
          <p:nvPr/>
        </p:nvSpPr>
        <p:spPr>
          <a:xfrm>
            <a:off x="1080000" y="1671816"/>
            <a:ext cx="10800000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총액배분 자율편성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(top-down)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예산제도는 중앙예산기관이 사전에 지출총액을 결정하고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전략적 재원 배분을 위한 분야별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부처별 지출한도를 설정하여 그 한도 내에서 각 부처가 사업별로 재원을 배분하는 제도임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top-down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예산제도는 정부 예산의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점진적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증가를 막기 위한 제도이자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지출 한도내에서는 부처에 예산편성의 자율성을 확대해주기 위한 제도임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2004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전면 도입 이후 재원 배분의 효율성 증진에 일차적인 목적을 두고 운영되어 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9EE7B7B-9986-B7C7-F54C-C94EB23C9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44CC6F2-9BD0-F663-B100-441375A8ECB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615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6B3E6-73F8-AEB9-205D-66AAB5786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57CADEF-266A-C860-638B-4586EB61972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843641-D4B1-283C-C5EF-41F761D0E87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1C62C1-DCB8-3D04-FD43-D6DE92126F12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4482E8-22A0-DE97-8512-6C2D93021778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총액배분 자율편성제도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ECACC5-3CAB-9393-DAA7-16CF732A1E39}"/>
              </a:ext>
            </a:extLst>
          </p:cNvPr>
          <p:cNvSpPr txBox="1"/>
          <p:nvPr/>
        </p:nvSpPr>
        <p:spPr>
          <a:xfrm>
            <a:off x="1080000" y="1671816"/>
            <a:ext cx="10800000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기대효과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정책과 우선순위에 입각한 재원의 전략적 배분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2)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 당국의 거시 재정정책 기능을 활성화하고 부처의 전문성과 자율성을 활용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정보 비대칭 완화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3)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중기적 시각에서 재정의 경기조절 기능 강화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4)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비합리적인 예산 편성 관행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과다요구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대폭 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극복하여 효율성 향상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5)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미래의 재정적자에 대비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한계점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1)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신규사업에 대한 기재부의 관여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2)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예산요구시 사업내용이 변경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3)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지출한도의 준수가 잘 이루어지지 않는 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4)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실제 지출한도 결정 단위가 세부사업으로 너무 범위가 좁아 부처의 자율성을 저해함 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91145E-1A36-CC4B-7BA1-33AC520DD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FDC741A-581D-B6B2-8B9C-BA0A0B3CA56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085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C944E-9636-CEEE-FC5A-CF9262743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7FA5DEB-D99D-69F9-511D-F790F58D87E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5017DBE-4C12-261D-3751-F0CF6B9FDF0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75F2F0-92D1-6B1C-9656-5444BE8AC981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41E5C3-9F43-6AB8-6690-4398948E3A98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 편성 절차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AC70E9-0649-1218-46BE-AA3DD9BA49BF}"/>
              </a:ext>
            </a:extLst>
          </p:cNvPr>
          <p:cNvSpPr txBox="1"/>
          <p:nvPr/>
        </p:nvSpPr>
        <p:spPr>
          <a:xfrm>
            <a:off x="1080000" y="1671815"/>
            <a:ext cx="10266873" cy="4231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기재부 장관은 국가재정운용계획의 수립을 위한 지침을 마련하여 당해 회계연도의 전년도 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12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31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일까지 각 중앙관서의 장에게 통보하여야 한다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시행령 제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제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 중앙관서의 장은 매년 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31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일까지 해당 회계연도로부터 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회계연도 이상 기간 동안의 신규사업 및 기재부 장관이 정하는 주요 계속사업에 대한 중기사업계획서를 기재부 장관에게 제출하여야 한다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28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기재부장관은 매년 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31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일까지 예산안편성지침과 기금운용계획안 작성지침을 국무회의 심의와 대통령의 승인을 받아 각각 중앙관서의 장 및 기금관리 주체에게 통보해야 한다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29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제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3A49038-F341-DE2F-F94E-52AFEFDF0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1922BB1-E93F-ED39-A225-B9ED096AA74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036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F947B-D3A7-53DA-DB17-136617C0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EBC5114-0084-F02F-3808-63795F14CD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60" t="15590" r="20319" b="30304"/>
          <a:stretch>
            <a:fillRect/>
          </a:stretch>
        </p:blipFill>
        <p:spPr>
          <a:xfrm>
            <a:off x="8299146" y="1080653"/>
            <a:ext cx="3168712" cy="5039345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AEF19C0-B4FF-CC11-556E-785D54066DC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C25AD19-9606-3E65-2326-F00820C2055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636EA3-8217-27CF-1449-6EB919DEDFCB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A493B9-F1BD-209B-B676-755E727DD164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 편성 절차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B7A1D8A-C40D-FA26-47D6-7FDCEBED6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6AC8314-D808-1E28-0FED-8BA1A8A3DA0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353967CB-957D-18F2-6350-E0320CF1C0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426" t="9956" r="14482" b="30909"/>
          <a:stretch>
            <a:fillRect/>
          </a:stretch>
        </p:blipFill>
        <p:spPr>
          <a:xfrm>
            <a:off x="1015134" y="1270310"/>
            <a:ext cx="3308293" cy="472397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7679BB7-DC69-0410-9271-23D1F353B2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460" t="29899" r="21164" b="16768"/>
          <a:stretch>
            <a:fillRect/>
          </a:stretch>
        </p:blipFill>
        <p:spPr>
          <a:xfrm>
            <a:off x="4726930" y="1018910"/>
            <a:ext cx="3168712" cy="503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143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3EFC2-0E02-D547-EB56-43797D374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D00287A-11C3-2DAD-3717-FDE0A3A95F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61" t="19216" r="21514" b="26667"/>
          <a:stretch>
            <a:fillRect/>
          </a:stretch>
        </p:blipFill>
        <p:spPr>
          <a:xfrm>
            <a:off x="8135065" y="864776"/>
            <a:ext cx="3158837" cy="5128448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8D962B3-26C4-2C7A-E7FB-2DFC39FCBAC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DB3FE7B-6CF2-A2CD-FA5B-6CF014A60FF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C52F4D-7254-A7E2-C25F-86A399169552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34FCC-70B6-4659-7AA4-410871E7D969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 편성 절차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79B5F00-1A84-B67B-9A9D-D95433824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4DCF604-0ABF-6054-4C61-7DA688CC1AC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2461E0AE-0929-B960-4A57-BF55D0681A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756" t="36161" r="21515" b="11043"/>
          <a:stretch>
            <a:fillRect/>
          </a:stretch>
        </p:blipFill>
        <p:spPr>
          <a:xfrm>
            <a:off x="1233054" y="1457734"/>
            <a:ext cx="2823883" cy="441911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C42F974-5595-086C-6CA4-BBF1C5BAAA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109" t="32727" r="22218" b="14307"/>
          <a:stretch>
            <a:fillRect/>
          </a:stretch>
        </p:blipFill>
        <p:spPr>
          <a:xfrm>
            <a:off x="4621682" y="1246045"/>
            <a:ext cx="3032513" cy="484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112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38512-394E-6E29-0079-B4033BC11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7B263AB-7B11-3ACA-A38D-33731BAD935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3FFE183-95B5-F0DE-6425-8D723F666A6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B70752-1B94-DCA3-406E-DC5C5DF173C1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091A06-9464-6E69-D7BF-1E7D48AC2B31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 편성 절차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FE37FC-5AB0-C8AB-72AE-0C1E63816C90}"/>
              </a:ext>
            </a:extLst>
          </p:cNvPr>
          <p:cNvSpPr txBox="1"/>
          <p:nvPr/>
        </p:nvSpPr>
        <p:spPr>
          <a:xfrm>
            <a:off x="1080000" y="1671815"/>
            <a:ext cx="10266873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예산편성지침은 재정운용의 여건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재정운용의 방향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예산편성 지침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예산편성의 기준 등이 포함되어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기금운용계획안 작성지침의 경우에도 내용은 이와 유사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기재부장관은 예산편성지침을 국회 예산결산특별위원회에 보고해야 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기재부장관은 국가재정 운용계획과 예산편성을 연계하기 위하여 예산편성지침에 중앙관서별 지출한도를 포함하여 통보할 수 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29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257799D-782B-AFCD-844B-B1537860E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3C3C83F-0452-B0B2-3C76-FDD1DE6BA79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236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AE59C-0205-0D00-113E-7BB2A48D7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2627EE2-AFCF-EA8F-8ADE-0DB2929E381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8F9314D-CC60-CC98-DC60-D829EAC73CE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1995FE-9BB7-F7B6-E287-B998132427F2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B61A94-29DF-F451-4DB5-EC240A525050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 편성 절차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10CDFE-4FA6-5A29-C9E2-14A80D547265}"/>
              </a:ext>
            </a:extLst>
          </p:cNvPr>
          <p:cNvSpPr txBox="1"/>
          <p:nvPr/>
        </p:nvSpPr>
        <p:spPr>
          <a:xfrm>
            <a:off x="1080000" y="1671815"/>
            <a:ext cx="10266873" cy="453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 중앙관서는 예산편성지침과 지출한도액을 통보 받으면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예산편성 지침에 따라 그 소관에 속하는 다음연도의 세입세출예산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계속비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명시이월비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및 국고채무부담행위 요구서를 작성하여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일까지 기재부 장관에게 제출해야 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 부서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소관사업계획과 소요예산을 작성해 예산총괄부서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기조실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 송부 → 예산 총괄부서에서는 각 부서의 요구액을 조정한 다음 세입세출예산 요구서안을 작성 → 장관 또는 차관 주재의 회의를 통해 당해 예산요구서를 확정 → 최종안을 기재부에 제출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97C052B-22F9-A928-0D4A-D008879B5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5353DE7-767A-0EF1-5E5E-6EBF60BC308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535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7914A-8285-A431-62CD-7968CD623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20A28D1-FF2A-F00C-9A60-E526E8B1FE9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12877B-ABB7-DEC4-5278-65BE76D8E7C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C1A9C0-3E89-668B-6FB6-A36C71AFA43E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DFA1E5-AA5E-DC39-F557-8DF876C1E7F7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 편성 절차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(6)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2D9094-EEF3-B39C-B49C-606A6097B4B4}"/>
              </a:ext>
            </a:extLst>
          </p:cNvPr>
          <p:cNvSpPr txBox="1"/>
          <p:nvPr/>
        </p:nvSpPr>
        <p:spPr>
          <a:xfrm>
            <a:off x="1080000" y="1671815"/>
            <a:ext cx="10266873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 중앙관서의 예산요구서가 기재부에 송부되면 예산사정 작업이 시작됨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월에서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월까지 지속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예산사정이란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여러가지 분석과 정보를 사용해 예산요구서를 검토하는 것을 의미하며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과정에서 사업의 타당성과 우선순위가 검토됨 → 대통령의 정책의지가 반영되며 다양한 이해관계자들의 이해관계가 반영됨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예산요구액은 과다한 경우가 많으므로 사정작업은 주로 예산을 삭감하는데 주력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예산정보 비대칭 → 기재부 공무원들과 각 부처 공무원들의 많은 소통이 필요함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C33F9B8-41BF-FBF2-0267-2C3D15282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7008588-28C0-6F20-EDF2-39C341E39BC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3621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0857B-FCD8-6486-053D-F598956C6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71D0E54-E852-26E9-F9FB-8363CEE7B92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045960A-5FA3-8D6C-A643-7506B5A4E58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66B55E-F50A-6C7A-4CA4-8FA0D9F2FBB9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109952-1934-50C3-044C-98CCA03EAC87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 편성 절차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(7)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6A7A7D-F760-4429-D191-3C905137BE55}"/>
              </a:ext>
            </a:extLst>
          </p:cNvPr>
          <p:cNvSpPr txBox="1"/>
          <p:nvPr/>
        </p:nvSpPr>
        <p:spPr>
          <a:xfrm>
            <a:off x="1080000" y="1671815"/>
            <a:ext cx="5523389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기재부에서 예산안이 편성되면 국무회의 심의를 거쳐 대통령의 재가를 받아 정부예산안이 최종적으로 확정됨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헌법기관의 세출예산 요구액을 감액할 때는 국무회의에서 해당 기관장의 의견을 들어야 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해당 의견을 국회에 제출해야 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3A885C1-5EFD-1526-A8E1-2A7AD3F92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67606CF-6B52-CCDB-314F-3A9F65A55AD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8" name="Picture 4">
            <a:extLst>
              <a:ext uri="{FF2B5EF4-FFF2-40B4-BE49-F238E27FC236}">
                <a16:creationId xmlns:a16="http://schemas.microsoft.com/office/drawing/2014/main" id="{7FEC142B-F83F-2DA6-9F59-003AEF231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431" y="1525172"/>
            <a:ext cx="5220569" cy="427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3234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055DA-9D0D-086D-DD40-C6591CF02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C10872E-09FA-7C1A-BF32-DF2C4D7DE22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4B0ACA8-850D-855C-5591-DF22E9815C7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5D48B1-E127-F068-D7C9-4812B59E38C2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A38F6C-27FF-846C-16C2-4BC2FE362AAB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 편성 절차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(8)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A02055-B38D-1AB7-0FEE-39C0ED430B83}"/>
              </a:ext>
            </a:extLst>
          </p:cNvPr>
          <p:cNvSpPr txBox="1"/>
          <p:nvPr/>
        </p:nvSpPr>
        <p:spPr>
          <a:xfrm>
            <a:off x="1080000" y="1671815"/>
            <a:ext cx="10266873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헌법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항은 확정된 정부예산안을 회계연도 개시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90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전까지 국회에 제출하도록 되어있으나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2013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이후 국가재정법 개정을 통해 회계연도 개시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120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전까지 국회에 제출하도록 변경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국회의 심의 기간을 늘리기 위한 조치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예산안의 의회제출 기한은 매우 다양하게 나타나는데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미국은 법률로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개월 이전으로 규정하고 있음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반면 독일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덴마크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노르웨이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우리나라 등은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개월이고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프랑스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스페인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일본 등은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개월 등으로 규정하고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3349B4C-F009-5E4D-1CA3-EE433CEE4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C39462D-7257-5296-A738-1E08A9C60CB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920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1405</Words>
  <Application>Microsoft Office PowerPoint</Application>
  <PresentationFormat>와이드스크린</PresentationFormat>
  <Paragraphs>157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589</cp:revision>
  <dcterms:created xsi:type="dcterms:W3CDTF">2025-03-10T02:54:00Z</dcterms:created>
  <dcterms:modified xsi:type="dcterms:W3CDTF">2025-10-05T02:05:01Z</dcterms:modified>
</cp:coreProperties>
</file>